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3" r:id="rId16"/>
    <p:sldId id="27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6"/>
  </p:normalViewPr>
  <p:slideViewPr>
    <p:cSldViewPr snapToGrid="0">
      <p:cViewPr varScale="1">
        <p:scale>
          <a:sx n="115" d="100"/>
          <a:sy n="115" d="100"/>
        </p:scale>
        <p:origin x="496"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21/04/26</a:t>
            </a:fld>
            <a:endParaRPr lang="en-IN"/>
          </a:p>
        </p:txBody>
      </p:sp>
      <p:sp>
        <p:nvSpPr>
          <p:cNvPr id="5" name="Footer Placeholder 4"/>
          <p:cNvSpPr>
            <a:spLocks noGrp="1"/>
          </p:cNvSpPr>
          <p:nvPr>
            <p:ph type="ftr" sz="quarter" idx="11"/>
          </p:nvPr>
        </p:nvSpPr>
        <p:spPr>
          <a:xfrm>
            <a:off x="2493105" y="329307"/>
            <a:ext cx="4897310"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2A0CF367-FD27-4A30-ADDC-32A3677390D1}" type="slidenum">
              <a:rPr lang="en-IN" smtClean="0"/>
              <a:t>‹#›</a:t>
            </a:fld>
            <a:endParaRPr lang="en-IN"/>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21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21/04/26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13427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A2325F-546B-49D5-B2A3-127B5E17E6E3}" type="datetimeFigureOut">
              <a:rPr lang="en-IN" smtClean="0"/>
              <a:t>21/04/26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0925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A2325F-546B-49D5-B2A3-127B5E17E6E3}" type="datetimeFigureOut">
              <a:rPr lang="en-IN" smtClean="0"/>
              <a:t>21/04/26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CF367-FD27-4A30-ADDC-32A3677390D1}" type="slidenum">
              <a:rPr lang="en-IN" smtClean="0"/>
              <a:t>‹#›</a:t>
            </a:fld>
            <a:endParaRPr lang="en-IN"/>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60504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A2325F-546B-49D5-B2A3-127B5E17E6E3}" type="datetimeFigureOut">
              <a:rPr lang="en-IN" smtClean="0"/>
              <a:t>21/04/26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CF367-FD27-4A30-ADDC-32A3677390D1}" type="slidenum">
              <a:rPr lang="en-IN" smtClean="0"/>
              <a:t>‹#›</a:t>
            </a:fld>
            <a:endParaRPr lang="en-IN"/>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3085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A2325F-546B-49D5-B2A3-127B5E17E6E3}" type="datetimeFigureOut">
              <a:rPr lang="en-IN" smtClean="0"/>
              <a:t>21/04/26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CF367-FD27-4A30-ADDC-32A3677390D1}" type="slidenum">
              <a:rPr lang="en-IN" smtClean="0"/>
              <a:t>‹#›</a:t>
            </a:fld>
            <a:endParaRPr lang="en-IN"/>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3175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A2325F-546B-49D5-B2A3-127B5E17E6E3}" type="datetimeFigureOut">
              <a:rPr lang="en-IN" smtClean="0"/>
              <a:t>21/04/26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CF367-FD27-4A30-ADDC-32A3677390D1}" type="slidenum">
              <a:rPr lang="en-IN" smtClean="0"/>
              <a:t>‹#›</a:t>
            </a:fld>
            <a:endParaRPr lang="en-IN"/>
          </a:p>
        </p:txBody>
      </p:sp>
    </p:spTree>
    <p:extLst>
      <p:ext uri="{BB962C8B-B14F-4D97-AF65-F5344CB8AC3E}">
        <p14:creationId xmlns:p14="http://schemas.microsoft.com/office/powerpoint/2010/main" val="1061551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A2325F-546B-49D5-B2A3-127B5E17E6E3}" type="datetimeFigureOut">
              <a:rPr lang="en-IN" smtClean="0"/>
              <a:t>21/04/26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CF367-FD27-4A30-ADDC-32A3677390D1}" type="slidenum">
              <a:rPr lang="en-IN" smtClean="0"/>
              <a:t>‹#›</a:t>
            </a:fld>
            <a:endParaRPr lang="en-IN"/>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4474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25A2325F-546B-49D5-B2A3-127B5E17E6E3}" type="datetimeFigureOut">
              <a:rPr lang="en-IN" smtClean="0"/>
              <a:t>21/04/26</a:t>
            </a:fld>
            <a:endParaRPr lang="en-IN"/>
          </a:p>
        </p:txBody>
      </p:sp>
      <p:sp>
        <p:nvSpPr>
          <p:cNvPr id="6" name="Footer Placeholder 5"/>
          <p:cNvSpPr>
            <a:spLocks noGrp="1"/>
          </p:cNvSpPr>
          <p:nvPr>
            <p:ph type="ftr" sz="quarter" idx="11"/>
          </p:nvPr>
        </p:nvSpPr>
        <p:spPr>
          <a:xfrm>
            <a:off x="1534910" y="318640"/>
            <a:ext cx="5453475" cy="320931"/>
          </a:xfrm>
        </p:spPr>
        <p:txBody>
          <a:bodyPr/>
          <a:lstStyle/>
          <a:p>
            <a:endParaRPr lang="en-IN"/>
          </a:p>
        </p:txBody>
      </p:sp>
      <p:sp>
        <p:nvSpPr>
          <p:cNvPr id="7" name="Slide Number Placeholder 6"/>
          <p:cNvSpPr>
            <a:spLocks noGrp="1"/>
          </p:cNvSpPr>
          <p:nvPr>
            <p:ph type="sldNum" sz="quarter" idx="12"/>
          </p:nvPr>
        </p:nvSpPr>
        <p:spPr/>
        <p:txBody>
          <a:bodyPr/>
          <a:lstStyle/>
          <a:p>
            <a:fld id="{2A0CF367-FD27-4A30-ADDC-32A3677390D1}" type="slidenum">
              <a:rPr lang="en-IN" smtClean="0"/>
              <a:t>‹#›</a:t>
            </a:fld>
            <a:endParaRPr lang="en-IN"/>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5092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21/04/26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603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A2325F-546B-49D5-B2A3-127B5E17E6E3}" type="datetimeFigureOut">
              <a:rPr lang="en-IN" smtClean="0"/>
              <a:t>21/04/26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CF367-FD27-4A30-ADDC-32A3677390D1}" type="slidenum">
              <a:rPr lang="en-IN" smtClean="0"/>
              <a:t>‹#›</a:t>
            </a:fld>
            <a:endParaRPr lang="en-IN"/>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8634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5A2325F-546B-49D5-B2A3-127B5E17E6E3}" type="datetimeFigureOut">
              <a:rPr lang="en-IN" smtClean="0"/>
              <a:t>21/04/26</a:t>
            </a:fld>
            <a:endParaRPr lang="en-IN"/>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A0CF367-FD27-4A30-ADDC-32A3677390D1}" type="slidenum">
              <a:rPr lang="en-IN" smtClean="0"/>
              <a:t>‹#›</a:t>
            </a:fld>
            <a:endParaRPr lang="en-IN"/>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13059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B0529-667D-4386-BEB9-04AA8165AA55}"/>
              </a:ext>
            </a:extLst>
          </p:cNvPr>
          <p:cNvSpPr>
            <a:spLocks noGrp="1"/>
          </p:cNvSpPr>
          <p:nvPr>
            <p:ph type="ctrTitle"/>
          </p:nvPr>
        </p:nvSpPr>
        <p:spPr/>
        <p:txBody>
          <a:bodyPr>
            <a:normAutofit/>
          </a:bodyPr>
          <a:lstStyle/>
          <a:p>
            <a:pPr algn="ctr"/>
            <a:r>
              <a:rPr lang="en-US" sz="3600" b="1" dirty="0"/>
              <a:t>Business Letters</a:t>
            </a:r>
            <a:endParaRPr lang="en-IN" sz="3600" b="1" dirty="0"/>
          </a:p>
        </p:txBody>
      </p:sp>
      <p:sp>
        <p:nvSpPr>
          <p:cNvPr id="3" name="Subtitle 2">
            <a:extLst>
              <a:ext uri="{FF2B5EF4-FFF2-40B4-BE49-F238E27FC236}">
                <a16:creationId xmlns:a16="http://schemas.microsoft.com/office/drawing/2014/main" id="{7D751753-212F-4D5E-B32A-5EE7A191F3F3}"/>
              </a:ext>
            </a:extLst>
          </p:cNvPr>
          <p:cNvSpPr>
            <a:spLocks noGrp="1"/>
          </p:cNvSpPr>
          <p:nvPr>
            <p:ph type="subTitle" idx="1"/>
          </p:nvPr>
        </p:nvSpPr>
        <p:spPr/>
        <p:txBody>
          <a:bodyPr/>
          <a:lstStyle/>
          <a:p>
            <a:r>
              <a:rPr lang="en-US" dirty="0"/>
              <a:t>SALES letter, order letter, inquiry letter and memo</a:t>
            </a:r>
            <a:endParaRPr lang="en-IN" dirty="0"/>
          </a:p>
        </p:txBody>
      </p:sp>
    </p:spTree>
    <p:extLst>
      <p:ext uri="{BB962C8B-B14F-4D97-AF65-F5344CB8AC3E}">
        <p14:creationId xmlns:p14="http://schemas.microsoft.com/office/powerpoint/2010/main" val="3587646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76923-798D-410F-93C1-7A467411FD30}"/>
              </a:ext>
            </a:extLst>
          </p:cNvPr>
          <p:cNvSpPr>
            <a:spLocks noGrp="1"/>
          </p:cNvSpPr>
          <p:nvPr>
            <p:ph type="title"/>
          </p:nvPr>
        </p:nvSpPr>
        <p:spPr/>
        <p:txBody>
          <a:bodyPr/>
          <a:lstStyle/>
          <a:p>
            <a:r>
              <a:rPr lang="en-IN" dirty="0"/>
              <a:t>Business Letters</a:t>
            </a:r>
            <a:br>
              <a:rPr lang="en-IN" dirty="0"/>
            </a:br>
            <a:endParaRPr dirty="0"/>
          </a:p>
        </p:txBody>
      </p:sp>
      <p:sp>
        <p:nvSpPr>
          <p:cNvPr id="3" name="Content Placeholder 2">
            <a:extLst>
              <a:ext uri="{FF2B5EF4-FFF2-40B4-BE49-F238E27FC236}">
                <a16:creationId xmlns:a16="http://schemas.microsoft.com/office/drawing/2014/main" id="{086378C0-D234-4997-B145-62DAFA22F630}"/>
              </a:ext>
            </a:extLst>
          </p:cNvPr>
          <p:cNvSpPr>
            <a:spLocks noGrp="1"/>
          </p:cNvSpPr>
          <p:nvPr>
            <p:ph idx="1"/>
          </p:nvPr>
        </p:nvSpPr>
        <p:spPr/>
        <p:txBody>
          <a:bodyPr>
            <a:normAutofit fontScale="92500" lnSpcReduction="20000"/>
          </a:bodyPr>
          <a:lstStyle/>
          <a:p>
            <a:endParaRPr dirty="0"/>
          </a:p>
          <a:p>
            <a:pPr algn="just"/>
            <a:r>
              <a:rPr sz="3200" dirty="0">
                <a:latin typeface="Times New Roman" panose="02020603050405020304" pitchFamily="18" charset="0"/>
                <a:cs typeface="Times New Roman" panose="02020603050405020304" pitchFamily="18" charset="0"/>
              </a:rPr>
              <a:t>Business letters are formal written means of communication used in professional and commercial contexts. They help convey information clearly, maintain records, and build professional relationships. Effective business letters follow a structured format and use precise, courteous language.</a:t>
            </a:r>
          </a:p>
        </p:txBody>
      </p:sp>
    </p:spTree>
    <p:extLst>
      <p:ext uri="{BB962C8B-B14F-4D97-AF65-F5344CB8AC3E}">
        <p14:creationId xmlns:p14="http://schemas.microsoft.com/office/powerpoint/2010/main" val="425941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29E4F-909C-4D19-9761-A20498E56780}"/>
              </a:ext>
            </a:extLst>
          </p:cNvPr>
          <p:cNvSpPr>
            <a:spLocks noGrp="1"/>
          </p:cNvSpPr>
          <p:nvPr>
            <p:ph type="title"/>
          </p:nvPr>
        </p:nvSpPr>
        <p:spPr>
          <a:xfrm>
            <a:off x="1534696" y="804520"/>
            <a:ext cx="9520158" cy="423780"/>
          </a:xfrm>
        </p:spPr>
        <p:txBody>
          <a:bodyPr>
            <a:normAutofit fontScale="90000"/>
          </a:bodyPr>
          <a:lstStyle/>
          <a:p>
            <a:r>
              <a:rPr lang="en-IN" dirty="0"/>
              <a:t>LAYOUT OF BUSINESS LETTER</a:t>
            </a:r>
          </a:p>
        </p:txBody>
      </p:sp>
      <p:sp>
        <p:nvSpPr>
          <p:cNvPr id="3" name="Content Placeholder 2">
            <a:extLst>
              <a:ext uri="{FF2B5EF4-FFF2-40B4-BE49-F238E27FC236}">
                <a16:creationId xmlns:a16="http://schemas.microsoft.com/office/drawing/2014/main" id="{76262EC8-2C85-4ECF-B916-A5F8EA054A2D}"/>
              </a:ext>
            </a:extLst>
          </p:cNvPr>
          <p:cNvSpPr>
            <a:spLocks noGrp="1"/>
          </p:cNvSpPr>
          <p:nvPr>
            <p:ph idx="1"/>
          </p:nvPr>
        </p:nvSpPr>
        <p:spPr>
          <a:xfrm>
            <a:off x="1534696" y="1624084"/>
            <a:ext cx="10379800" cy="4121623"/>
          </a:xfrm>
        </p:spPr>
        <p:txBody>
          <a:bodyPr>
            <a:normAutofit/>
          </a:bodyPr>
          <a:lstStyle/>
          <a:p>
            <a:pPr algn="just"/>
            <a:r>
              <a:rPr lang="en-US" b="1" dirty="0">
                <a:latin typeface="Times New Roman" panose="02020603050405020304" pitchFamily="18" charset="0"/>
                <a:cs typeface="Times New Roman" panose="02020603050405020304" pitchFamily="18" charset="0"/>
              </a:rPr>
              <a:t>Suitable and correct layout enhances the overall effectiveness of any letter. </a:t>
            </a:r>
          </a:p>
          <a:p>
            <a:pPr algn="just"/>
            <a:r>
              <a:rPr lang="en-US" b="1" dirty="0">
                <a:latin typeface="Times New Roman" panose="02020603050405020304" pitchFamily="18" charset="0"/>
                <a:cs typeface="Times New Roman" panose="02020603050405020304" pitchFamily="18" charset="0"/>
              </a:rPr>
              <a:t>The layout helps to arrange all the elements of a formal letter in an organized manner. </a:t>
            </a:r>
          </a:p>
          <a:p>
            <a:pPr algn="just"/>
            <a:r>
              <a:rPr lang="en-US" b="1" dirty="0">
                <a:latin typeface="Times New Roman" panose="02020603050405020304" pitchFamily="18" charset="0"/>
                <a:cs typeface="Times New Roman" panose="02020603050405020304" pitchFamily="18" charset="0"/>
              </a:rPr>
              <a:t>Although the basic parts of a letter have remained the same for centuries, the layouts have changed to quite an extent. </a:t>
            </a:r>
          </a:p>
          <a:p>
            <a:pPr algn="just"/>
            <a:r>
              <a:rPr lang="en-US" b="1" dirty="0">
                <a:latin typeface="Times New Roman" panose="02020603050405020304" pitchFamily="18" charset="0"/>
                <a:cs typeface="Times New Roman" panose="02020603050405020304" pitchFamily="18" charset="0"/>
              </a:rPr>
              <a:t>Sometimes an organization adopts a certain format as its policy; sometimes the individual letter writer is allowed to choose the format most appropriate for a given letter or to settle on a personal preference. In general, two major letter layouts are widely used.</a:t>
            </a:r>
          </a:p>
          <a:p>
            <a:endParaRPr lang="en-IN" b="1" dirty="0"/>
          </a:p>
        </p:txBody>
      </p:sp>
    </p:spTree>
    <p:extLst>
      <p:ext uri="{BB962C8B-B14F-4D97-AF65-F5344CB8AC3E}">
        <p14:creationId xmlns:p14="http://schemas.microsoft.com/office/powerpoint/2010/main" val="302553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5F247-4B4B-46AD-99EB-E0DE2BC9AC44}"/>
              </a:ext>
            </a:extLst>
          </p:cNvPr>
          <p:cNvSpPr>
            <a:spLocks noGrp="1"/>
          </p:cNvSpPr>
          <p:nvPr>
            <p:ph type="title"/>
          </p:nvPr>
        </p:nvSpPr>
        <p:spPr/>
        <p:txBody>
          <a:bodyPr/>
          <a:lstStyle/>
          <a:p>
            <a:r>
              <a:rPr lang="en-IN" dirty="0"/>
              <a:t>Block layout</a:t>
            </a:r>
            <a:br>
              <a:rPr lang="en-IN" dirty="0"/>
            </a:br>
            <a:endParaRPr lang="en-IN" dirty="0"/>
          </a:p>
        </p:txBody>
      </p:sp>
      <p:sp>
        <p:nvSpPr>
          <p:cNvPr id="3" name="Content Placeholder 2">
            <a:extLst>
              <a:ext uri="{FF2B5EF4-FFF2-40B4-BE49-F238E27FC236}">
                <a16:creationId xmlns:a16="http://schemas.microsoft.com/office/drawing/2014/main" id="{6E769506-AD31-44F0-AF97-14B4AA68B2CB}"/>
              </a:ext>
            </a:extLst>
          </p:cNvPr>
          <p:cNvSpPr>
            <a:spLocks noGrp="1"/>
          </p:cNvSpPr>
          <p:nvPr>
            <p:ph idx="1"/>
          </p:nvPr>
        </p:nvSpPr>
        <p:spPr/>
        <p:txBody>
          <a:bodyPr/>
          <a:lstStyle/>
          <a:p>
            <a:pPr algn="just"/>
            <a:r>
              <a:rPr lang="en-US" sz="2400" b="1" dirty="0">
                <a:latin typeface="Times New Roman" panose="02020603050405020304" pitchFamily="18" charset="0"/>
                <a:cs typeface="Times New Roman" panose="02020603050405020304" pitchFamily="18" charset="0"/>
              </a:rPr>
              <a:t>The block layout, also known as the complete block layout is extremely popular as it makes the letter look attractive, elegant, and efficient. </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The main characteristic of this layout is that all elements except the letterhead heading are aligned to the left margin</a:t>
            </a:r>
          </a:p>
          <a:p>
            <a:pPr algn="just"/>
            <a:endParaRPr lang="en-IN" dirty="0"/>
          </a:p>
        </p:txBody>
      </p:sp>
    </p:spTree>
    <p:extLst>
      <p:ext uri="{BB962C8B-B14F-4D97-AF65-F5344CB8AC3E}">
        <p14:creationId xmlns:p14="http://schemas.microsoft.com/office/powerpoint/2010/main" val="644464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A3B529DB-2F09-4D88-940E-0A67CD8E4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1815" y="0"/>
            <a:ext cx="577300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850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5D17-BFD3-45C9-A654-B497D4785EFF}"/>
              </a:ext>
            </a:extLst>
          </p:cNvPr>
          <p:cNvSpPr>
            <a:spLocks noGrp="1"/>
          </p:cNvSpPr>
          <p:nvPr>
            <p:ph type="title"/>
          </p:nvPr>
        </p:nvSpPr>
        <p:spPr/>
        <p:txBody>
          <a:bodyPr/>
          <a:lstStyle/>
          <a:p>
            <a:r>
              <a:rPr lang="en-IN" dirty="0"/>
              <a:t>Modified Block layout</a:t>
            </a:r>
          </a:p>
        </p:txBody>
      </p:sp>
      <p:sp>
        <p:nvSpPr>
          <p:cNvPr id="3" name="Content Placeholder 2">
            <a:extLst>
              <a:ext uri="{FF2B5EF4-FFF2-40B4-BE49-F238E27FC236}">
                <a16:creationId xmlns:a16="http://schemas.microsoft.com/office/drawing/2014/main" id="{F74DA47A-02E6-4B79-B1A0-DF4F56CF80B0}"/>
              </a:ext>
            </a:extLst>
          </p:cNvPr>
          <p:cNvSpPr>
            <a:spLocks noGrp="1"/>
          </p:cNvSpPr>
          <p:nvPr>
            <p:ph idx="1"/>
          </p:nvPr>
        </p:nvSpPr>
        <p:spPr>
          <a:xfrm>
            <a:off x="1534696" y="1853754"/>
            <a:ext cx="9520158" cy="3612591"/>
          </a:xfrm>
        </p:spPr>
        <p:txBody>
          <a:bodyPr/>
          <a:lstStyle/>
          <a:p>
            <a:pPr algn="just"/>
            <a:r>
              <a:rPr lang="en-US" b="1" dirty="0">
                <a:latin typeface="Times New Roman" panose="02020603050405020304" pitchFamily="18" charset="0"/>
                <a:cs typeface="Times New Roman" panose="02020603050405020304" pitchFamily="18" charset="0"/>
              </a:rPr>
              <a:t>The modified block format differs from the block format in the positioning of certain elements: </a:t>
            </a:r>
          </a:p>
          <a:p>
            <a:pPr algn="just"/>
            <a:r>
              <a:rPr lang="en-US" b="1" dirty="0">
                <a:latin typeface="Times New Roman" panose="02020603050405020304" pitchFamily="18" charset="0"/>
                <a:cs typeface="Times New Roman" panose="02020603050405020304" pitchFamily="18" charset="0"/>
              </a:rPr>
              <a:t>The heading is center aligned whereas the dateline, complimentary close, and signature block are right-aligned. </a:t>
            </a:r>
          </a:p>
          <a:p>
            <a:pPr algn="just"/>
            <a:r>
              <a:rPr lang="en-US" b="1" dirty="0">
                <a:latin typeface="Times New Roman" panose="02020603050405020304" pitchFamily="18" charset="0"/>
                <a:cs typeface="Times New Roman" panose="02020603050405020304" pitchFamily="18" charset="0"/>
              </a:rPr>
              <a:t>Although organizations seem to prefer the full block format, the modified block is also acceptable. The modified block’s appearance is often considered to be more balanced and traditional.</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4202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0075" y="3175"/>
            <a:ext cx="5907088" cy="6520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6726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Sales Letter</a:t>
            </a:r>
            <a:endParaRPr lang="en-IN" dirty="0"/>
          </a:p>
        </p:txBody>
      </p:sp>
      <p:sp>
        <p:nvSpPr>
          <p:cNvPr id="5" name="Content Placeholder 4"/>
          <p:cNvSpPr>
            <a:spLocks noGrp="1"/>
          </p:cNvSpPr>
          <p:nvPr>
            <p:ph idx="1"/>
          </p:nvPr>
        </p:nvSpPr>
        <p:spPr/>
        <p:txBody>
          <a:bodyPr>
            <a:normAutofit lnSpcReduction="10000"/>
          </a:bodyPr>
          <a:lstStyle/>
          <a:p>
            <a:pPr algn="just"/>
            <a:r>
              <a:rPr lang="en-US" sz="1800" dirty="0"/>
              <a:t>These letters are meant to present a new product or service to the company’s client or customer.</a:t>
            </a:r>
          </a:p>
          <a:p>
            <a:pPr algn="just"/>
            <a:r>
              <a:rPr lang="en-US" sz="1800" dirty="0"/>
              <a:t>Sales personnel use these letters to contact prospective buyers and also to strengthen their terms with long-term clients.</a:t>
            </a:r>
          </a:p>
          <a:p>
            <a:r>
              <a:rPr lang="en-IN" sz="1600" dirty="0"/>
              <a:t>It:</a:t>
            </a:r>
          </a:p>
          <a:p>
            <a:pPr marL="0" indent="0">
              <a:buNone/>
            </a:pPr>
            <a:r>
              <a:rPr lang="en-IN" sz="1600" dirty="0"/>
              <a:t>           tells about a product or service </a:t>
            </a:r>
          </a:p>
          <a:p>
            <a:pPr marL="0" indent="0">
              <a:buNone/>
            </a:pPr>
            <a:r>
              <a:rPr lang="en-IN" sz="1600" dirty="0"/>
              <a:t>           explains why it is useful </a:t>
            </a:r>
          </a:p>
          <a:p>
            <a:pPr marL="0" indent="0">
              <a:buNone/>
            </a:pPr>
            <a:r>
              <a:rPr lang="en-IN" sz="1600" dirty="0"/>
              <a:t>           asks the reader to take action (like buy or contact) </a:t>
            </a:r>
          </a:p>
          <a:p>
            <a:r>
              <a:rPr lang="en-IN" sz="1600" b="1" dirty="0"/>
              <a:t>In short:</a:t>
            </a:r>
            <a:r>
              <a:rPr lang="en-IN" sz="1600" dirty="0"/>
              <a:t> it is a letter used to </a:t>
            </a:r>
            <a:r>
              <a:rPr lang="en-IN" sz="1600" b="1" dirty="0"/>
              <a:t>sell something.</a:t>
            </a:r>
            <a:endParaRPr lang="en-IN" sz="1600" dirty="0"/>
          </a:p>
          <a:p>
            <a:pPr algn="just"/>
            <a:endParaRPr lang="en-IN" sz="1800" dirty="0"/>
          </a:p>
        </p:txBody>
      </p:sp>
    </p:spTree>
    <p:extLst>
      <p:ext uri="{BB962C8B-B14F-4D97-AF65-F5344CB8AC3E}">
        <p14:creationId xmlns:p14="http://schemas.microsoft.com/office/powerpoint/2010/main" val="2073461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184D5A-E285-4586-780A-0D63012D62F0}"/>
              </a:ext>
            </a:extLst>
          </p:cNvPr>
          <p:cNvSpPr txBox="1"/>
          <p:nvPr/>
        </p:nvSpPr>
        <p:spPr>
          <a:xfrm>
            <a:off x="501806" y="-1591996"/>
            <a:ext cx="11374244" cy="7848302"/>
          </a:xfrm>
          <a:prstGeom prst="rect">
            <a:avLst/>
          </a:prstGeom>
          <a:noFill/>
        </p:spPr>
        <p:txBody>
          <a:bodyPr wrap="square">
            <a:spAutoFit/>
          </a:bodyPr>
          <a:lstStyle/>
          <a:p>
            <a:endParaRPr lang="en-IN" b="1" dirty="0"/>
          </a:p>
          <a:p>
            <a:endParaRPr lang="en-IN" b="1" dirty="0"/>
          </a:p>
          <a:p>
            <a:endParaRPr lang="en-IN" b="1" dirty="0"/>
          </a:p>
          <a:p>
            <a:endParaRPr lang="en-IN" b="1" dirty="0"/>
          </a:p>
          <a:p>
            <a:endParaRPr lang="en-IN" b="1" dirty="0"/>
          </a:p>
          <a:p>
            <a:endParaRPr lang="en-IN" b="1" dirty="0"/>
          </a:p>
          <a:p>
            <a:endParaRPr lang="en-IN" b="1" dirty="0"/>
          </a:p>
          <a:p>
            <a:pPr algn="ctr"/>
            <a:r>
              <a:rPr lang="en-IN" b="1" dirty="0"/>
              <a:t>ABC Electronics </a:t>
            </a:r>
            <a:r>
              <a:rPr lang="en-IN" b="1" dirty="0" err="1"/>
              <a:t>Pvt.</a:t>
            </a:r>
            <a:r>
              <a:rPr lang="en-IN" b="1" dirty="0"/>
              <a:t> Ltd.</a:t>
            </a:r>
            <a:br>
              <a:rPr lang="en-IN" dirty="0"/>
            </a:br>
            <a:r>
              <a:rPr lang="en-IN" dirty="0"/>
              <a:t>MG Road, Panaji, Goa – 40300</a:t>
            </a:r>
          </a:p>
          <a:p>
            <a:pPr algn="ctr"/>
            <a:r>
              <a:rPr lang="en-IN" dirty="0"/>
              <a:t>                                                                                                                                           Date: 13 April 2026</a:t>
            </a:r>
          </a:p>
          <a:p>
            <a:r>
              <a:rPr lang="en-IN" b="1" dirty="0"/>
              <a:t>To,</a:t>
            </a:r>
            <a:br>
              <a:rPr lang="en-IN" dirty="0"/>
            </a:br>
            <a:r>
              <a:rPr lang="en-IN" dirty="0"/>
              <a:t>The Purchase Manager</a:t>
            </a:r>
            <a:br>
              <a:rPr lang="en-IN" dirty="0"/>
            </a:br>
            <a:r>
              <a:rPr lang="en-IN" dirty="0"/>
              <a:t>XYZ Enterprises</a:t>
            </a:r>
            <a:br>
              <a:rPr lang="en-IN" dirty="0"/>
            </a:br>
            <a:r>
              <a:rPr lang="en-IN" dirty="0" err="1"/>
              <a:t>Margao</a:t>
            </a:r>
            <a:r>
              <a:rPr lang="en-IN" dirty="0"/>
              <a:t>, Goa – 403601</a:t>
            </a:r>
          </a:p>
          <a:p>
            <a:r>
              <a:rPr lang="en-IN" b="1" dirty="0"/>
              <a:t>Subject: Introduction of Our New Smart Home Devices</a:t>
            </a:r>
            <a:endParaRPr lang="en-IN" dirty="0"/>
          </a:p>
          <a:p>
            <a:r>
              <a:rPr lang="en-IN" dirty="0"/>
              <a:t>Dear Sir/Madam,</a:t>
            </a:r>
          </a:p>
          <a:p>
            <a:r>
              <a:rPr lang="en-IN" dirty="0"/>
              <a:t>We are pleased to introduce our new range of smart home devices, including lighting systems, security cameras, and voice-controlled assistants. These products are user-friendly, efficient, and competitively priced.</a:t>
            </a:r>
          </a:p>
          <a:p>
            <a:r>
              <a:rPr lang="en-IN" dirty="0"/>
              <a:t>We are offering a </a:t>
            </a:r>
            <a:r>
              <a:rPr lang="en-IN" b="1" dirty="0"/>
              <a:t>15% discount</a:t>
            </a:r>
            <a:r>
              <a:rPr lang="en-IN" dirty="0"/>
              <a:t> on bulk orders placed before 30 April 2026. We would be happy to share more details or arrange a demonstration.</a:t>
            </a:r>
          </a:p>
          <a:p>
            <a:r>
              <a:rPr lang="en-IN" dirty="0"/>
              <a:t>We look forward to your response.</a:t>
            </a:r>
          </a:p>
          <a:p>
            <a:r>
              <a:rPr lang="en-IN" dirty="0"/>
              <a:t>                                                                                                                                                      Yours sincerely, </a:t>
            </a:r>
          </a:p>
          <a:p>
            <a:r>
              <a:rPr lang="en-IN" b="1" dirty="0"/>
              <a:t>                                                                                                                                                       Rahul Mehta</a:t>
            </a:r>
            <a:br>
              <a:rPr lang="en-IN" dirty="0"/>
            </a:br>
            <a:r>
              <a:rPr lang="en-IN" dirty="0"/>
              <a:t>                                                                                                                                                       Sales Manager</a:t>
            </a:r>
            <a:br>
              <a:rPr lang="en-IN" dirty="0"/>
            </a:br>
            <a:r>
              <a:rPr lang="en-IN" dirty="0"/>
              <a:t>                                                                                                                                           ABC Electronics </a:t>
            </a:r>
            <a:r>
              <a:rPr lang="en-IN" dirty="0" err="1"/>
              <a:t>Pvt.</a:t>
            </a:r>
            <a:r>
              <a:rPr lang="en-IN" dirty="0"/>
              <a:t> Ltd.</a:t>
            </a:r>
            <a:br>
              <a:rPr lang="en-IN" dirty="0"/>
            </a:br>
            <a:r>
              <a:rPr lang="en-IN" dirty="0"/>
              <a:t>                                                                                                                                          Contact: +91 XXXXX XXXXX </a:t>
            </a:r>
          </a:p>
          <a:p>
            <a:br>
              <a:rPr lang="en-IN" dirty="0"/>
            </a:br>
            <a:r>
              <a:rPr lang="en-IN" dirty="0"/>
              <a:t> </a:t>
            </a:r>
          </a:p>
        </p:txBody>
      </p:sp>
    </p:spTree>
    <p:extLst>
      <p:ext uri="{BB962C8B-B14F-4D97-AF65-F5344CB8AC3E}">
        <p14:creationId xmlns:p14="http://schemas.microsoft.com/office/powerpoint/2010/main" val="3912479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Inquiry Letter</a:t>
            </a:r>
            <a:endParaRPr lang="en-IN" dirty="0"/>
          </a:p>
        </p:txBody>
      </p:sp>
      <p:sp>
        <p:nvSpPr>
          <p:cNvPr id="3" name="Content Placeholder 2"/>
          <p:cNvSpPr>
            <a:spLocks noGrp="1"/>
          </p:cNvSpPr>
          <p:nvPr>
            <p:ph idx="1"/>
          </p:nvPr>
        </p:nvSpPr>
        <p:spPr/>
        <p:txBody>
          <a:bodyPr>
            <a:normAutofit lnSpcReduction="10000"/>
          </a:bodyPr>
          <a:lstStyle/>
          <a:p>
            <a:pPr algn="just"/>
            <a:r>
              <a:rPr lang="en-US" sz="3200" dirty="0"/>
              <a:t>Generally, a client or customer writes this letter and sends it to the organization to ask for details or seek clarifications about the goods.</a:t>
            </a:r>
          </a:p>
          <a:p>
            <a:pPr algn="just"/>
            <a:r>
              <a:rPr lang="en-US" sz="3200" dirty="0"/>
              <a:t>This will include their quality, quantity, rates, size, delivery charges, discount rates, packing, time of delivery and other terms and conditions</a:t>
            </a:r>
            <a:r>
              <a:rPr lang="en-US" dirty="0"/>
              <a:t>.</a:t>
            </a:r>
            <a:endParaRPr lang="en-IN" dirty="0"/>
          </a:p>
        </p:txBody>
      </p:sp>
    </p:spTree>
    <p:extLst>
      <p:ext uri="{BB962C8B-B14F-4D97-AF65-F5344CB8AC3E}">
        <p14:creationId xmlns:p14="http://schemas.microsoft.com/office/powerpoint/2010/main" val="4065852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7388" y="150125"/>
            <a:ext cx="5730875" cy="6509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1583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letter</a:t>
            </a:r>
            <a:endParaRPr lang="en-IN" dirty="0"/>
          </a:p>
        </p:txBody>
      </p:sp>
      <p:sp>
        <p:nvSpPr>
          <p:cNvPr id="3" name="Content Placeholder 2"/>
          <p:cNvSpPr>
            <a:spLocks noGrp="1"/>
          </p:cNvSpPr>
          <p:nvPr>
            <p:ph idx="1"/>
          </p:nvPr>
        </p:nvSpPr>
        <p:spPr/>
        <p:txBody>
          <a:bodyPr>
            <a:normAutofit fontScale="92500" lnSpcReduction="10000"/>
          </a:bodyPr>
          <a:lstStyle/>
          <a:p>
            <a:r>
              <a:rPr lang="en-IN" sz="2400" dirty="0"/>
              <a:t>An </a:t>
            </a:r>
            <a:r>
              <a:rPr lang="en-IN" sz="2400" b="1" dirty="0"/>
              <a:t>order letter</a:t>
            </a:r>
            <a:r>
              <a:rPr lang="en-IN" sz="2400" dirty="0"/>
              <a:t> is a letter written to </a:t>
            </a:r>
            <a:r>
              <a:rPr lang="en-IN" sz="2400" b="1" dirty="0"/>
              <a:t>request or place an order for goods or services</a:t>
            </a:r>
            <a:r>
              <a:rPr lang="en-IN" sz="2400" dirty="0"/>
              <a:t>.</a:t>
            </a:r>
          </a:p>
          <a:p>
            <a:r>
              <a:rPr lang="en-IN" sz="2400" dirty="0"/>
              <a:t>It:</a:t>
            </a:r>
          </a:p>
          <a:p>
            <a:pPr marL="0" indent="0">
              <a:buNone/>
            </a:pPr>
            <a:r>
              <a:rPr lang="en-IN" sz="2400" dirty="0"/>
              <a:t>        tells what you want to buy </a:t>
            </a:r>
          </a:p>
          <a:p>
            <a:pPr marL="0" indent="0">
              <a:buNone/>
            </a:pPr>
            <a:r>
              <a:rPr lang="en-IN" sz="2400" dirty="0"/>
              <a:t>        mentions quantity and details </a:t>
            </a:r>
          </a:p>
          <a:p>
            <a:pPr marL="0" indent="0">
              <a:buNone/>
            </a:pPr>
            <a:r>
              <a:rPr lang="en-IN" sz="2400" dirty="0"/>
              <a:t>        may include delivery and payment instructions </a:t>
            </a:r>
          </a:p>
          <a:p>
            <a:r>
              <a:rPr lang="en-IN" sz="2400" b="1" dirty="0"/>
              <a:t>In short:</a:t>
            </a:r>
            <a:r>
              <a:rPr lang="en-IN" sz="2400" dirty="0"/>
              <a:t> it is a letter used to </a:t>
            </a:r>
            <a:r>
              <a:rPr lang="en-IN" sz="2400" b="1" dirty="0"/>
              <a:t>order something.</a:t>
            </a:r>
            <a:endParaRPr lang="en-IN" sz="2400" dirty="0"/>
          </a:p>
        </p:txBody>
      </p:sp>
    </p:spTree>
    <p:extLst>
      <p:ext uri="{BB962C8B-B14F-4D97-AF65-F5344CB8AC3E}">
        <p14:creationId xmlns:p14="http://schemas.microsoft.com/office/powerpoint/2010/main" val="794798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273050"/>
            <a:ext cx="8083550" cy="631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1519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a:t>
            </a:r>
            <a:endParaRPr lang="en-IN" dirty="0"/>
          </a:p>
        </p:txBody>
      </p:sp>
      <p:sp>
        <p:nvSpPr>
          <p:cNvPr id="3" name="Content Placeholder 2"/>
          <p:cNvSpPr>
            <a:spLocks noGrp="1"/>
          </p:cNvSpPr>
          <p:nvPr>
            <p:ph idx="1"/>
          </p:nvPr>
        </p:nvSpPr>
        <p:spPr>
          <a:xfrm>
            <a:off x="1534696" y="2015732"/>
            <a:ext cx="10216026" cy="4139408"/>
          </a:xfrm>
        </p:spPr>
        <p:txBody>
          <a:bodyPr>
            <a:noAutofit/>
          </a:bodyPr>
          <a:lstStyle/>
          <a:p>
            <a:pPr algn="just"/>
            <a:r>
              <a:rPr lang="en-US" sz="2400" dirty="0"/>
              <a:t>There are many types and tools for official communication each suited to specific situations. One such popular form of communication is a memo.</a:t>
            </a:r>
          </a:p>
          <a:p>
            <a:pPr algn="just"/>
            <a:r>
              <a:rPr lang="en-US" sz="2400" dirty="0"/>
              <a:t>A memo is actually short for Memorandum. </a:t>
            </a:r>
          </a:p>
          <a:p>
            <a:pPr algn="just"/>
            <a:r>
              <a:rPr lang="en-US" sz="2400" dirty="0"/>
              <a:t>It is one of the most used means of official communication in the business world. Its main purpose is to serve as a reminder or to give some instructions. </a:t>
            </a:r>
          </a:p>
        </p:txBody>
      </p:sp>
    </p:spTree>
    <p:extLst>
      <p:ext uri="{BB962C8B-B14F-4D97-AF65-F5344CB8AC3E}">
        <p14:creationId xmlns:p14="http://schemas.microsoft.com/office/powerpoint/2010/main" val="2331917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Letters Versus Memos</a:t>
            </a:r>
          </a:p>
        </p:txBody>
      </p:sp>
      <p:sp>
        <p:nvSpPr>
          <p:cNvPr id="3" name="Content Placeholder 2"/>
          <p:cNvSpPr>
            <a:spLocks noGrp="1"/>
          </p:cNvSpPr>
          <p:nvPr>
            <p:ph idx="1"/>
          </p:nvPr>
        </p:nvSpPr>
        <p:spPr>
          <a:xfrm>
            <a:off x="1534696" y="2015732"/>
            <a:ext cx="10216026" cy="4344125"/>
          </a:xfrm>
        </p:spPr>
        <p:txBody>
          <a:bodyPr>
            <a:normAutofit fontScale="92500"/>
          </a:bodyPr>
          <a:lstStyle/>
          <a:p>
            <a:pPr algn="just"/>
            <a:r>
              <a:rPr lang="en-US" sz="2400" dirty="0"/>
              <a:t>Unlike letters, which are used as a means to reach out to people outside an </a:t>
            </a:r>
            <a:r>
              <a:rPr lang="en-US" sz="2400" dirty="0" err="1"/>
              <a:t>organisation</a:t>
            </a:r>
            <a:r>
              <a:rPr lang="en-US" sz="2400" dirty="0"/>
              <a:t>, memos are used to send information inside an </a:t>
            </a:r>
            <a:r>
              <a:rPr lang="en-US" sz="2400" dirty="0" err="1"/>
              <a:t>organisation</a:t>
            </a:r>
            <a:r>
              <a:rPr lang="en-US" sz="2400" dirty="0"/>
              <a:t>.</a:t>
            </a:r>
          </a:p>
          <a:p>
            <a:pPr algn="just"/>
            <a:r>
              <a:rPr lang="en-US" sz="2400" dirty="0"/>
              <a:t>A memo is written in a specific format, which is different from the letter format.</a:t>
            </a:r>
          </a:p>
          <a:p>
            <a:pPr algn="just"/>
            <a:r>
              <a:rPr lang="en-US" sz="2400" dirty="0"/>
              <a:t>Memos are less formal than letters. </a:t>
            </a:r>
          </a:p>
          <a:p>
            <a:pPr algn="just"/>
            <a:r>
              <a:rPr lang="en-US" sz="2400" dirty="0"/>
              <a:t>Memos are less structured than letters. </a:t>
            </a:r>
          </a:p>
          <a:p>
            <a:pPr algn="just"/>
            <a:r>
              <a:rPr lang="en-US" sz="2400" dirty="0"/>
              <a:t>The tone of memo is more conversational than that of a letter. </a:t>
            </a:r>
          </a:p>
          <a:p>
            <a:pPr algn="just"/>
            <a:r>
              <a:rPr lang="en-US" sz="2400" dirty="0"/>
              <a:t>Memos contain less background explanation and information than letters.</a:t>
            </a:r>
          </a:p>
          <a:p>
            <a:pPr algn="just"/>
            <a:endParaRPr lang="en-IN" dirty="0"/>
          </a:p>
        </p:txBody>
      </p:sp>
    </p:spTree>
    <p:extLst>
      <p:ext uri="{BB962C8B-B14F-4D97-AF65-F5344CB8AC3E}">
        <p14:creationId xmlns:p14="http://schemas.microsoft.com/office/powerpoint/2010/main" val="2532713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7999" y="612845"/>
            <a:ext cx="7529015" cy="5355312"/>
          </a:xfrm>
          <a:prstGeom prst="rect">
            <a:avLst/>
          </a:prstGeom>
        </p:spPr>
        <p:txBody>
          <a:bodyPr wrap="square">
            <a:spAutoFit/>
          </a:bodyPr>
          <a:lstStyle/>
          <a:p>
            <a:pPr algn="ctr"/>
            <a:r>
              <a:rPr lang="en-US" dirty="0"/>
              <a:t>MEMORANDUM</a:t>
            </a:r>
          </a:p>
          <a:p>
            <a:endParaRPr lang="en-US" dirty="0"/>
          </a:p>
          <a:p>
            <a:r>
              <a:rPr lang="en-US" dirty="0"/>
              <a:t>To: All Employees of the Accounting Department</a:t>
            </a:r>
          </a:p>
          <a:p>
            <a:endParaRPr lang="en-US" dirty="0"/>
          </a:p>
          <a:p>
            <a:r>
              <a:rPr lang="en-US" dirty="0"/>
              <a:t>From: Mr. XYZ, Head of Accounts</a:t>
            </a:r>
          </a:p>
          <a:p>
            <a:endParaRPr lang="en-US" dirty="0"/>
          </a:p>
          <a:p>
            <a:r>
              <a:rPr lang="en-US" dirty="0"/>
              <a:t>CC: Ms. ABC, HR Department</a:t>
            </a:r>
          </a:p>
          <a:p>
            <a:endParaRPr lang="en-US" dirty="0"/>
          </a:p>
          <a:p>
            <a:r>
              <a:rPr lang="en-US" dirty="0"/>
              <a:t>Date: 25 October 2018</a:t>
            </a:r>
          </a:p>
          <a:p>
            <a:endParaRPr lang="en-US" dirty="0"/>
          </a:p>
          <a:p>
            <a:r>
              <a:rPr lang="en-US" dirty="0"/>
              <a:t>Subject: Compulsory Training about the New Software</a:t>
            </a:r>
          </a:p>
          <a:p>
            <a:endParaRPr lang="en-US" dirty="0"/>
          </a:p>
          <a:p>
            <a:pPr algn="just"/>
            <a:r>
              <a:rPr lang="en-US" dirty="0"/>
              <a:t>As you are all aware, we have recently adopted new accounting software at the company. The decision was taken to improve our accounting procedure and make it more time and cost efficient. A training seminar will be held on 5th November 2018 at 9 am to familiarize the staff with the new software. This is done to make the transition between the software as easy as possible. All employees of the department are required to attend.</a:t>
            </a:r>
            <a:endParaRPr lang="en-IN" dirty="0"/>
          </a:p>
        </p:txBody>
      </p:sp>
    </p:spTree>
    <p:extLst>
      <p:ext uri="{BB962C8B-B14F-4D97-AF65-F5344CB8AC3E}">
        <p14:creationId xmlns:p14="http://schemas.microsoft.com/office/powerpoint/2010/main" val="100277674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Gallery</Template>
  <TotalTime>144</TotalTime>
  <Words>889</Words>
  <Application>Microsoft Macintosh PowerPoint</Application>
  <PresentationFormat>Widescreen</PresentationFormat>
  <Paragraphs>78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Palatino Linotype</vt:lpstr>
      <vt:lpstr>Times New Roman</vt:lpstr>
      <vt:lpstr>Gallery</vt:lpstr>
      <vt:lpstr>Business Letters</vt:lpstr>
      <vt:lpstr>Business Letters </vt:lpstr>
      <vt:lpstr>LAYOUT OF BUSINESS LETTER</vt:lpstr>
      <vt:lpstr>Block layout </vt:lpstr>
      <vt:lpstr>PowerPoint Presentation</vt:lpstr>
      <vt:lpstr>Modified Block layout</vt:lpstr>
      <vt:lpstr>PowerPoint Presentation</vt:lpstr>
      <vt:lpstr>Sales Letter</vt:lpstr>
      <vt:lpstr>PowerPoint Presentation</vt:lpstr>
      <vt:lpstr>Inquiry Letter</vt:lpstr>
      <vt:lpstr>PowerPoint Presentation</vt:lpstr>
      <vt:lpstr>Order letter</vt:lpstr>
      <vt:lpstr>PowerPoint Presentation</vt:lpstr>
      <vt:lpstr>Memo</vt:lpstr>
      <vt:lpstr>Letters Versus Memos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of a business letter</dc:title>
  <dc:creator>unais kt</dc:creator>
  <cp:lastModifiedBy>Microsoft Office User</cp:lastModifiedBy>
  <cp:revision>23</cp:revision>
  <dcterms:created xsi:type="dcterms:W3CDTF">2023-06-13T08:13:42Z</dcterms:created>
  <dcterms:modified xsi:type="dcterms:W3CDTF">2026-04-21T11:52:41Z</dcterms:modified>
</cp:coreProperties>
</file>