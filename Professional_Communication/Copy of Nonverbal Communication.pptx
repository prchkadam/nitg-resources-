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  <p:sldMasterId id="2147483723" r:id="rId2"/>
  </p:sldMasterIdLst>
  <p:notesMasterIdLst>
    <p:notesMasterId r:id="rId28"/>
  </p:notesMasterIdLst>
  <p:sldIdLst>
    <p:sldId id="256" r:id="rId3"/>
    <p:sldId id="280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9144000"/>
  <p:embeddedFontLst>
    <p:embeddedFont>
      <p:font typeface="Lato" charset="0"/>
      <p:regular r:id="rId29"/>
      <p:bold r:id="rId30"/>
      <p:italic r:id="rId31"/>
      <p:boldItalic r:id="rId32"/>
    </p:embeddedFont>
    <p:embeddedFont>
      <p:font typeface="Calibri" pitchFamily="34" charset="0"/>
      <p:regular r:id="rId33"/>
      <p:bold r:id="rId34"/>
      <p:italic r:id="rId35"/>
      <p:boldItalic r:id="rId36"/>
    </p:embeddedFont>
    <p:embeddedFont>
      <p:font typeface="Century Gothic" pitchFamily="34" charset="0"/>
      <p:regular r:id="rId37"/>
      <p:bold r:id="rId38"/>
      <p:italic r:id="rId39"/>
      <p:boldItalic r:id="rId40"/>
    </p:embeddedFont>
    <p:embeddedFont>
      <p:font typeface="Raleway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jHGT4GjXGG0SXowDVgFlXugd1e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720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1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1.fntdata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2" y="1"/>
            <a:ext cx="3076575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139" y="1"/>
            <a:ext cx="3076575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0600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2" y="9720264"/>
            <a:ext cx="3076575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139" y="9720264"/>
            <a:ext cx="3076575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534788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27ad66855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35" name="Google Shape;235;g127ad66855b_0_2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200" cy="46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" name="Google Shape;236;g127ad66855b_0_2:notes"/>
          <p:cNvSpPr txBox="1">
            <a:spLocks noGrp="1"/>
          </p:cNvSpPr>
          <p:nvPr>
            <p:ph type="sldNum" idx="12"/>
          </p:nvPr>
        </p:nvSpPr>
        <p:spPr>
          <a:xfrm>
            <a:off x="4021139" y="9720264"/>
            <a:ext cx="30765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27ad66855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7" name="Google Shape;247;g127ad66855b_0_7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200" cy="46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8" name="Google Shape;248;g127ad66855b_0_7:notes"/>
          <p:cNvSpPr txBox="1">
            <a:spLocks noGrp="1"/>
          </p:cNvSpPr>
          <p:nvPr>
            <p:ph type="sldNum" idx="12"/>
          </p:nvPr>
        </p:nvSpPr>
        <p:spPr>
          <a:xfrm>
            <a:off x="4021139" y="9720264"/>
            <a:ext cx="30765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3" name="Google Shape;2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0" name="Google Shape;2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7" name="Google Shape;2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4" name="Google Shape;2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1" name="Google Shape;28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27ad66855b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88" name="Google Shape;288;g127ad66855b_0_24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200" cy="46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9" name="Google Shape;289;g127ad66855b_0_24:notes"/>
          <p:cNvSpPr txBox="1">
            <a:spLocks noGrp="1"/>
          </p:cNvSpPr>
          <p:nvPr>
            <p:ph type="sldNum" idx="12"/>
          </p:nvPr>
        </p:nvSpPr>
        <p:spPr>
          <a:xfrm>
            <a:off x="4021139" y="9720264"/>
            <a:ext cx="30765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2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4" name="Google Shape;29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27ad66855b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01" name="Google Shape;301;g127ad66855b_0_69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200" cy="46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2" name="Google Shape;302;g127ad66855b_0_69:notes"/>
          <p:cNvSpPr txBox="1">
            <a:spLocks noGrp="1"/>
          </p:cNvSpPr>
          <p:nvPr>
            <p:ph type="sldNum" idx="12"/>
          </p:nvPr>
        </p:nvSpPr>
        <p:spPr>
          <a:xfrm>
            <a:off x="4021139" y="9720264"/>
            <a:ext cx="30765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3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7" name="Google Shape;3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27ad66855b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3" name="Google Shape;313;g127ad66855b_0_99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200" cy="46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4" name="Google Shape;314;g127ad66855b_0_99:notes"/>
          <p:cNvSpPr txBox="1">
            <a:spLocks noGrp="1"/>
          </p:cNvSpPr>
          <p:nvPr>
            <p:ph type="sldNum" idx="12"/>
          </p:nvPr>
        </p:nvSpPr>
        <p:spPr>
          <a:xfrm>
            <a:off x="4021139" y="9720264"/>
            <a:ext cx="30765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4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9" name="Google Shape;31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6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5" name="Google Shape;32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8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1" name="Google Shape;33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7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7" name="Google Shape;33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9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9" name="Google Shape;34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0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5" name="Google Shape;35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1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1" name="Google Shape;36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2:notes"/>
          <p:cNvSpPr txBox="1">
            <a:spLocks noGrp="1"/>
          </p:cNvSpPr>
          <p:nvPr>
            <p:ph type="body" idx="1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7" name="Google Shape;36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2f2eefdec6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73" name="Google Shape;373;g12f2eefdec6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25" rIns="9147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2f2eefdec6_0_113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155;g12f2eefdec6_0_113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56" name="Google Shape;156;g12f2eefdec6_0_1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g12f2eefdec6_0_1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8" name="Google Shape;158;g12f2eefdec6_0_113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159" name="Google Shape;159;g12f2eefdec6_0_113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60" name="Google Shape;160;g12f2eefdec6_0_113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2f2eefdec6_0_99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" name="Google Shape;163;g12f2eefdec6_0_99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64" name="Google Shape;164;g12f2eefdec6_0_9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g12f2eefdec6_0_9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6" name="Google Shape;166;g12f2eefdec6_0_99"/>
          <p:cNvSpPr txBox="1">
            <a:spLocks noGrp="1"/>
          </p:cNvSpPr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67" name="Google Shape;167;g12f2eefdec6_0_99"/>
          <p:cNvSpPr txBox="1">
            <a:spLocks noGrp="1"/>
          </p:cNvSpPr>
          <p:nvPr>
            <p:ph type="subTitle" idx="1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8" name="Google Shape;168;g12f2eefdec6_0_99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g12f2eefdec6_0_107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71" name="Google Shape;171;g12f2eefdec6_0_10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g12f2eefdec6_0_10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3" name="Google Shape;173;g12f2eefdec6_0_107"/>
          <p:cNvSpPr txBox="1">
            <a:spLocks noGrp="1"/>
          </p:cNvSpPr>
          <p:nvPr>
            <p:ph type="title"/>
          </p:nvPr>
        </p:nvSpPr>
        <p:spPr>
          <a:xfrm>
            <a:off x="972600" y="1763267"/>
            <a:ext cx="10251300" cy="20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4" name="Google Shape;174;g12f2eefdec6_0_107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2f2eefdec6_0_121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7" name="Google Shape;177;g12f2eefdec6_0_121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78" name="Google Shape;178;g12f2eefdec6_0_1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g12f2eefdec6_0_1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" name="Google Shape;180;g12f2eefdec6_0_121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181" name="Google Shape;181;g12f2eefdec6_0_121"/>
          <p:cNvSpPr txBox="1">
            <a:spLocks noGrp="1"/>
          </p:cNvSpPr>
          <p:nvPr>
            <p:ph type="body" idx="1"/>
          </p:nvPr>
        </p:nvSpPr>
        <p:spPr>
          <a:xfrm>
            <a:off x="972434" y="2771833"/>
            <a:ext cx="5032500" cy="30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g12f2eefdec6_0_121"/>
          <p:cNvSpPr txBox="1">
            <a:spLocks noGrp="1"/>
          </p:cNvSpPr>
          <p:nvPr>
            <p:ph type="body" idx="2"/>
          </p:nvPr>
        </p:nvSpPr>
        <p:spPr>
          <a:xfrm>
            <a:off x="6191471" y="2771833"/>
            <a:ext cx="5032500" cy="30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83" name="Google Shape;183;g12f2eefdec6_0_121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2f2eefdec6_0_130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6" name="Google Shape;186;g12f2eefdec6_0_130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87" name="Google Shape;187;g12f2eefdec6_0_13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g12f2eefdec6_0_13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9" name="Google Shape;189;g12f2eefdec6_0_130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190" name="Google Shape;190;g12f2eefdec6_0_130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2f2eefdec6_0_137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3" name="Google Shape;193;g12f2eefdec6_0_137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94" name="Google Shape;194;g12f2eefdec6_0_1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g12f2eefdec6_0_1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6" name="Google Shape;196;g12f2eefdec6_0_137"/>
          <p:cNvSpPr txBox="1">
            <a:spLocks noGrp="1"/>
          </p:cNvSpPr>
          <p:nvPr>
            <p:ph type="title"/>
          </p:nvPr>
        </p:nvSpPr>
        <p:spPr>
          <a:xfrm>
            <a:off x="973333" y="1758200"/>
            <a:ext cx="4401300" cy="18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197" name="Google Shape;197;g12f2eefdec6_0_137"/>
          <p:cNvSpPr txBox="1">
            <a:spLocks noGrp="1"/>
          </p:cNvSpPr>
          <p:nvPr>
            <p:ph type="body" idx="1"/>
          </p:nvPr>
        </p:nvSpPr>
        <p:spPr>
          <a:xfrm>
            <a:off x="961633" y="3708967"/>
            <a:ext cx="4401300" cy="21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98" name="Google Shape;198;g12f2eefdec6_0_137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g12f2eefdec6_0_145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201" name="Google Shape;201;g12f2eefdec6_0_14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g12f2eefdec6_0_14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3" name="Google Shape;203;g12f2eefdec6_0_145"/>
          <p:cNvSpPr txBox="1">
            <a:spLocks noGrp="1"/>
          </p:cNvSpPr>
          <p:nvPr>
            <p:ph type="title"/>
          </p:nvPr>
        </p:nvSpPr>
        <p:spPr>
          <a:xfrm>
            <a:off x="972600" y="1152400"/>
            <a:ext cx="9361500" cy="3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g12f2eefdec6_0_145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2f2eefdec6_0_15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7" name="Google Shape;207;g12f2eefdec6_0_151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208" name="Google Shape;208;g12f2eefdec6_0_15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g12f2eefdec6_0_15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0" name="Google Shape;210;g12f2eefdec6_0_151"/>
          <p:cNvSpPr txBox="1">
            <a:spLocks noGrp="1"/>
          </p:cNvSpPr>
          <p:nvPr>
            <p:ph type="title"/>
          </p:nvPr>
        </p:nvSpPr>
        <p:spPr>
          <a:xfrm>
            <a:off x="973333" y="1758200"/>
            <a:ext cx="4401300" cy="22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211" name="Google Shape;211;g12f2eefdec6_0_151"/>
          <p:cNvSpPr txBox="1">
            <a:spLocks noGrp="1"/>
          </p:cNvSpPr>
          <p:nvPr>
            <p:ph type="subTitle" idx="1"/>
          </p:nvPr>
        </p:nvSpPr>
        <p:spPr>
          <a:xfrm>
            <a:off x="966600" y="4215367"/>
            <a:ext cx="4401300" cy="10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12" name="Google Shape;212;g12f2eefdec6_0_151"/>
          <p:cNvSpPr txBox="1">
            <a:spLocks noGrp="1"/>
          </p:cNvSpPr>
          <p:nvPr>
            <p:ph type="body" idx="2"/>
          </p:nvPr>
        </p:nvSpPr>
        <p:spPr>
          <a:xfrm>
            <a:off x="6898967" y="1803500"/>
            <a:ext cx="4499100" cy="40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213" name="Google Shape;213;g12f2eefdec6_0_151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2f2eefdec6_0_160"/>
          <p:cNvSpPr txBox="1">
            <a:spLocks noGrp="1"/>
          </p:cNvSpPr>
          <p:nvPr>
            <p:ph type="body" idx="1"/>
          </p:nvPr>
        </p:nvSpPr>
        <p:spPr>
          <a:xfrm>
            <a:off x="966600" y="5830068"/>
            <a:ext cx="10263300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>
            <a:endParaRPr/>
          </a:p>
        </p:txBody>
      </p:sp>
      <p:sp>
        <p:nvSpPr>
          <p:cNvPr id="216" name="Google Shape;216;g12f2eefdec6_0_160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g12f2eefdec6_0_163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219" name="Google Shape;219;g12f2eefdec6_0_16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g12f2eefdec6_0_16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" name="Google Shape;221;g12f2eefdec6_0_163"/>
          <p:cNvSpPr txBox="1">
            <a:spLocks noGrp="1"/>
          </p:cNvSpPr>
          <p:nvPr>
            <p:ph type="title" hasCustomPrompt="1"/>
          </p:nvPr>
        </p:nvSpPr>
        <p:spPr>
          <a:xfrm>
            <a:off x="972600" y="978600"/>
            <a:ext cx="10251300" cy="16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2" name="Google Shape;222;g12f2eefdec6_0_163"/>
          <p:cNvSpPr txBox="1">
            <a:spLocks noGrp="1"/>
          </p:cNvSpPr>
          <p:nvPr>
            <p:ph type="body" idx="1"/>
          </p:nvPr>
        </p:nvSpPr>
        <p:spPr>
          <a:xfrm>
            <a:off x="972600" y="3030517"/>
            <a:ext cx="10251300" cy="21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3" name="Google Shape;223;g12f2eefdec6_0_163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2f2eefdec6_0_170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33832" y="0"/>
            <a:ext cx="3058168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1200" y="3581400"/>
            <a:ext cx="5283200" cy="2133600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3251200" y="1447800"/>
            <a:ext cx="5283200" cy="2133600"/>
          </a:xfrm>
        </p:spPr>
        <p:txBody>
          <a:bodyPr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4777318" y="6426202"/>
            <a:ext cx="3759199" cy="126999"/>
          </a:xfrm>
        </p:spPr>
        <p:txBody>
          <a:bodyPr/>
          <a:lstStyle/>
          <a:p>
            <a:endParaRPr lang="en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>
          <a:xfrm>
            <a:off x="8553301" y="6400800"/>
            <a:ext cx="609600" cy="152400"/>
          </a:xfrm>
        </p:spPr>
        <p:txBody>
          <a:bodyPr/>
          <a:lstStyle>
            <a:lvl1pPr algn="r"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>
          <a:xfrm>
            <a:off x="4775201" y="6296248"/>
            <a:ext cx="3761316" cy="152400"/>
          </a:xfr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1"/>
            <a:ext cx="4876800" cy="5714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3058168" cy="6858000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1119718" y="6426202"/>
            <a:ext cx="3759199" cy="126999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5488517" y="6400800"/>
            <a:ext cx="711200" cy="1524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117601" y="6296248"/>
            <a:ext cx="3761316" cy="15240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609600" y="1828800"/>
            <a:ext cx="4267200" cy="1752600"/>
          </a:xfrm>
        </p:spPr>
        <p:txBody>
          <a:bodyPr anchor="b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09601" y="3578225"/>
            <a:ext cx="4267527" cy="1459767"/>
          </a:xfrm>
        </p:spPr>
        <p:txBody>
          <a:bodyPr anchor="t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3429000"/>
            <a:ext cx="41656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457200"/>
            <a:ext cx="41656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502400" y="457201"/>
            <a:ext cx="3759200" cy="57149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75238"/>
            <a:ext cx="47752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675288"/>
            <a:ext cx="4775200" cy="2525112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 baseline="0"/>
            </a:lvl4pPr>
            <a:lvl5pPr>
              <a:buFont typeface="Wingdings" pitchFamily="2" charset="2"/>
              <a:buChar char="§"/>
              <a:defRPr sz="1400"/>
            </a:lvl5pPr>
            <a:lvl6pPr>
              <a:buFont typeface="Wingdings" pitchFamily="2" charset="2"/>
              <a:buChar char="§"/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599" y="3429000"/>
            <a:ext cx="47752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599" y="3840162"/>
            <a:ext cx="4775200" cy="2515198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502400" y="457201"/>
            <a:ext cx="3759200" cy="57149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8400" y="457200"/>
            <a:ext cx="5283200" cy="571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8800" y="1676401"/>
            <a:ext cx="3352800" cy="1874837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676400"/>
            <a:ext cx="6266688" cy="3505200"/>
          </a:xfrm>
        </p:spPr>
        <p:txBody>
          <a:bodyPr>
            <a:normAutofit/>
          </a:bodyPr>
          <a:lstStyle>
            <a:lvl1pPr marL="228600" indent="-18288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00" y="3552372"/>
            <a:ext cx="29464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6401" y="1676400"/>
            <a:ext cx="6262623" cy="3505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908800" y="1676400"/>
            <a:ext cx="3352800" cy="1875972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00" y="3552372"/>
            <a:ext cx="29464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2f2eefdec6_0_9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sz="37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1" name="Google Shape;151;g12f2eefdec6_0_9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52" name="Google Shape;152;g12f2eefdec6_0_95"/>
          <p:cNvSpPr txBox="1">
            <a:spLocks noGrp="1"/>
          </p:cNvSpPr>
          <p:nvPr>
            <p:ph type="sldNum" idx="12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phere2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1764925" y="0"/>
            <a:ext cx="427076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02400" y="457200"/>
            <a:ext cx="3759200" cy="571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57201"/>
            <a:ext cx="4876800" cy="571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0363200" y="6400800"/>
            <a:ext cx="7112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6502402" y="6426202"/>
            <a:ext cx="3759199" cy="12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34BB6B48-E8B6-492E-B5F2-B7A73A7469AD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6500285" y="6296248"/>
            <a:ext cx="3761316" cy="152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r" defTabSz="914400" rtl="0" eaLnBrk="1" latinLnBrk="0" hangingPunct="1">
        <a:spcBef>
          <a:spcPct val="0"/>
        </a:spcBef>
        <a:buNone/>
        <a:defRPr sz="2800" kern="1200">
          <a:gradFill>
            <a:gsLst>
              <a:gs pos="0">
                <a:schemeClr val="tx1">
                  <a:lumMod val="50000"/>
                </a:schemeClr>
              </a:gs>
              <a:gs pos="61000">
                <a:schemeClr val="tx1"/>
              </a:gs>
            </a:gsLst>
            <a:lin ang="5400000" scaled="0"/>
          </a:gradFill>
          <a:effectLst/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77724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96012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14300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32588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9164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LaslONQAKM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youtube.com/watch?v=W3P3rT0j2gQ" TargetMode="External"/><Relationship Id="rId4" Type="http://schemas.openxmlformats.org/officeDocument/2006/relationships/hyperlink" Target="https://www.youtube.com/watch?v=4jwUXV4QaT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"/>
          <p:cNvSpPr txBox="1">
            <a:spLocks noGrp="1"/>
          </p:cNvSpPr>
          <p:nvPr>
            <p:ph type="title"/>
          </p:nvPr>
        </p:nvSpPr>
        <p:spPr>
          <a:xfrm>
            <a:off x="2423625" y="620688"/>
            <a:ext cx="8745600" cy="302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</a:pPr>
            <a:r>
              <a:rPr lang="en-US" sz="6600" b="1" i="1" dirty="0" smtClean="0">
                <a:solidFill>
                  <a:srgbClr val="FF9900"/>
                </a:solidFill>
              </a:rPr>
              <a:t>Non-Verbal </a:t>
            </a:r>
            <a:r>
              <a:rPr lang="en-US" sz="6600" b="1" i="1" dirty="0">
                <a:solidFill>
                  <a:srgbClr val="FF9900"/>
                </a:solidFill>
              </a:rPr>
              <a:t>Communication</a:t>
            </a:r>
            <a:endParaRPr sz="6600" b="1" i="1" dirty="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"/>
          <p:cNvSpPr txBox="1">
            <a:spLocks noGrp="1"/>
          </p:cNvSpPr>
          <p:nvPr>
            <p:ph type="title"/>
          </p:nvPr>
        </p:nvSpPr>
        <p:spPr>
          <a:xfrm>
            <a:off x="2423625" y="269275"/>
            <a:ext cx="8745600" cy="9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</a:pPr>
            <a:r>
              <a:rPr lang="en-US" sz="4200" b="1" i="1">
                <a:solidFill>
                  <a:srgbClr val="FF9900"/>
                </a:solidFill>
              </a:rPr>
              <a:t>Non-verbal Communication</a:t>
            </a:r>
            <a:endParaRPr sz="4200" b="1" i="1">
              <a:solidFill>
                <a:srgbClr val="FF9900"/>
              </a:solidFill>
            </a:endParaRPr>
          </a:p>
        </p:txBody>
      </p:sp>
      <p:pic>
        <p:nvPicPr>
          <p:cNvPr id="231" name="Google Shape;23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1700" y="1472125"/>
            <a:ext cx="8967476" cy="509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74975" y="4685700"/>
            <a:ext cx="915600" cy="628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0581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g127ad66855b_0_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6900" y="1103900"/>
            <a:ext cx="6755390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"/>
          <p:cNvSpPr txBox="1">
            <a:spLocks noGrp="1"/>
          </p:cNvSpPr>
          <p:nvPr>
            <p:ph idx="1"/>
          </p:nvPr>
        </p:nvSpPr>
        <p:spPr>
          <a:xfrm>
            <a:off x="1487488" y="1412776"/>
            <a:ext cx="10017112" cy="476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000" dirty="0"/>
              <a:t>Non-verbal com­munication refers to all communication that occurs without the use of words, spoken or written.</a:t>
            </a:r>
            <a:endParaRPr sz="2000" dirty="0"/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dirty="0"/>
          </a:p>
          <a:p>
            <a:pPr marL="45720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2000" dirty="0"/>
              <a:t>Non-verbal cues, however, </a:t>
            </a:r>
            <a:r>
              <a:rPr lang="en-US" sz="2000" dirty="0">
                <a:solidFill>
                  <a:srgbClr val="0000FF"/>
                </a:solidFill>
              </a:rPr>
              <a:t>speak louder than words</a:t>
            </a:r>
            <a:r>
              <a:rPr lang="en-US" sz="2000" dirty="0"/>
              <a:t>, as even though speech can be made up, bodily expressions can rarely be masked well enough to hide one’s true feelings and emotions.</a:t>
            </a:r>
            <a:endParaRPr sz="2000" dirty="0"/>
          </a:p>
          <a:p>
            <a:pPr marL="45720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000" dirty="0"/>
          </a:p>
          <a:p>
            <a:pPr marL="45720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2000" dirty="0">
                <a:solidFill>
                  <a:srgbClr val="0000FF"/>
                </a:solidFill>
              </a:rPr>
              <a:t>It is difficult to </a:t>
            </a:r>
            <a:r>
              <a:rPr lang="en-US" sz="2000" dirty="0" err="1">
                <a:solidFill>
                  <a:srgbClr val="0000FF"/>
                </a:solidFill>
              </a:rPr>
              <a:t>analyse</a:t>
            </a:r>
            <a:r>
              <a:rPr lang="en-US" sz="2000" dirty="0">
                <a:solidFill>
                  <a:srgbClr val="0000FF"/>
                </a:solidFill>
              </a:rPr>
              <a:t> them accurately</a:t>
            </a:r>
            <a:r>
              <a:rPr lang="en-US" sz="2000" dirty="0"/>
              <a:t>. This is because the interpretation of non-verbal cues is a very subjective concept, varying </a:t>
            </a:r>
            <a:r>
              <a:rPr lang="en-US" sz="2000" dirty="0">
                <a:solidFill>
                  <a:srgbClr val="0000FF"/>
                </a:solidFill>
              </a:rPr>
              <a:t>based on people’s varied backgrounds.</a:t>
            </a:r>
            <a:endParaRPr sz="2000" dirty="0">
              <a:solidFill>
                <a:srgbClr val="0000FF"/>
              </a:solidFill>
            </a:endParaRPr>
          </a:p>
        </p:txBody>
      </p:sp>
      <p:sp>
        <p:nvSpPr>
          <p:cNvPr id="243" name="Google Shape;243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b="1" dirty="0">
                <a:solidFill>
                  <a:srgbClr val="FF9900"/>
                </a:solidFill>
              </a:rPr>
              <a:t>Meaning</a:t>
            </a:r>
            <a:endParaRPr b="1" dirty="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g127ad66855b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26700" y="861750"/>
            <a:ext cx="7165325" cy="543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"/>
          <p:cNvSpPr txBox="1">
            <a:spLocks noGrp="1"/>
          </p:cNvSpPr>
          <p:nvPr>
            <p:ph idx="1"/>
          </p:nvPr>
        </p:nvSpPr>
        <p:spPr>
          <a:xfrm>
            <a:off x="2589212" y="2133600"/>
            <a:ext cx="3506788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87"/>
              <a:buFont typeface="Century Gothic"/>
              <a:buAutoNum type="arabicPeriod"/>
            </a:pPr>
            <a:r>
              <a:rPr lang="en-US" dirty="0"/>
              <a:t>KINESICS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Century Gothic"/>
              <a:buAutoNum type="arabicPeriod"/>
            </a:pPr>
            <a:r>
              <a:rPr lang="en-US" sz="1800" dirty="0"/>
              <a:t>Personal appearance</a:t>
            </a:r>
            <a:endParaRPr sz="1800" dirty="0"/>
          </a:p>
          <a:p>
            <a:pPr marL="74295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Century Gothic"/>
              <a:buAutoNum type="arabicPeriod"/>
            </a:pPr>
            <a:r>
              <a:rPr lang="en-US" sz="1800" dirty="0"/>
              <a:t>Posture </a:t>
            </a:r>
            <a:endParaRPr sz="1800" dirty="0"/>
          </a:p>
          <a:p>
            <a:pPr marL="74295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Century Gothic"/>
              <a:buAutoNum type="arabicPeriod"/>
            </a:pPr>
            <a:r>
              <a:rPr lang="en-US" sz="1800" dirty="0"/>
              <a:t>Gesture</a:t>
            </a:r>
            <a:endParaRPr sz="1800" dirty="0"/>
          </a:p>
          <a:p>
            <a:pPr marL="74295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Century Gothic"/>
              <a:buAutoNum type="arabicPeriod"/>
            </a:pPr>
            <a:r>
              <a:rPr lang="en-US" sz="1800" dirty="0"/>
              <a:t>Facial expression</a:t>
            </a:r>
            <a:endParaRPr sz="1800" dirty="0"/>
          </a:p>
          <a:p>
            <a:pPr marL="40005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87"/>
              <a:buFont typeface="Century Gothic"/>
              <a:buAutoNum type="arabicPeriod"/>
            </a:pPr>
            <a:r>
              <a:rPr lang="en-US" dirty="0" smtClean="0"/>
              <a:t>PROXEMICS</a:t>
            </a:r>
            <a:endParaRPr lang="en-US" dirty="0"/>
          </a:p>
          <a:p>
            <a:pPr marL="40005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87"/>
              <a:buFont typeface="Century Gothic"/>
              <a:buAutoNum type="arabicPeriod"/>
            </a:pPr>
            <a:r>
              <a:rPr lang="en-US" dirty="0" smtClean="0"/>
              <a:t>CHRONEMICS</a:t>
            </a:r>
          </a:p>
          <a:p>
            <a:pPr marL="5715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87"/>
              <a:buNone/>
            </a:pPr>
            <a:endParaRPr dirty="0"/>
          </a:p>
        </p:txBody>
      </p:sp>
      <p:sp>
        <p:nvSpPr>
          <p:cNvPr id="255" name="Google Shape;255;p3"/>
          <p:cNvSpPr txBox="1">
            <a:spLocks noGrp="1"/>
          </p:cNvSpPr>
          <p:nvPr>
            <p:ph type="title"/>
          </p:nvPr>
        </p:nvSpPr>
        <p:spPr>
          <a:xfrm>
            <a:off x="2477500" y="624100"/>
            <a:ext cx="92637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b="1" dirty="0">
                <a:solidFill>
                  <a:srgbClr val="FF9900"/>
                </a:solidFill>
              </a:rPr>
              <a:t>Types/Elements of Non-verbal </a:t>
            </a:r>
            <a:r>
              <a:rPr lang="en-US" b="1" dirty="0" smtClean="0">
                <a:solidFill>
                  <a:srgbClr val="FF9900"/>
                </a:solidFill>
              </a:rPr>
              <a:t>Communication.</a:t>
            </a:r>
            <a:endParaRPr b="1" dirty="0">
              <a:solidFill>
                <a:srgbClr val="FF9900"/>
              </a:solidFill>
            </a:endParaRPr>
          </a:p>
        </p:txBody>
      </p:sp>
      <p:sp>
        <p:nvSpPr>
          <p:cNvPr id="257" name="Google Shape;257;p3"/>
          <p:cNvSpPr txBox="1"/>
          <p:nvPr/>
        </p:nvSpPr>
        <p:spPr>
          <a:xfrm>
            <a:off x="7849394" y="2050256"/>
            <a:ext cx="3506788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Noto Sans Symbols"/>
              <a:buAutoNum type="arabicPeriod" startAt="4"/>
            </a:pPr>
            <a:r>
              <a:rPr lang="en-US" sz="1800" b="0" i="0" u="none" strike="noStrike" cap="none" dirty="0" err="1" smtClean="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Haptics</a:t>
            </a:r>
            <a:r>
              <a:rPr lang="en-US" sz="1800" b="0" i="0" u="none" strike="noStrike" cap="none" dirty="0" smtClean="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lang="en-US" sz="1800" dirty="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Noto Sans Symbols"/>
              <a:buAutoNum type="arabicPeriod" startAt="4"/>
            </a:pPr>
            <a:r>
              <a:rPr lang="en-US" sz="1800" b="0" i="0" u="none" strike="noStrike" cap="none" dirty="0" err="1" smtClean="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Olfactics</a:t>
            </a:r>
            <a:r>
              <a:rPr lang="en-US" sz="1800" b="0" i="0" u="none" strike="noStrike" cap="none" dirty="0" smtClean="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lang="en-US" sz="1800" dirty="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Noto Sans Symbols"/>
              <a:buAutoNum type="arabicPeriod" startAt="4"/>
            </a:pPr>
            <a:r>
              <a:rPr lang="en-US" sz="1800" b="0" i="0" u="none" strike="noStrike" cap="none" dirty="0" smtClean="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Chromatics</a:t>
            </a:r>
            <a:endParaRPr lang="en-US" sz="1600" dirty="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Noto Sans Symbols"/>
              <a:buAutoNum type="arabicPeriod" startAt="4"/>
            </a:pPr>
            <a:r>
              <a:rPr lang="en-US" sz="1800" b="0" i="0" u="none" strike="noStrike" cap="none" dirty="0" smtClean="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Silence</a:t>
            </a:r>
            <a:endParaRPr lang="en-US" sz="1800" dirty="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Noto Sans Symbols"/>
              <a:buAutoNum type="arabicPeriod" startAt="4"/>
            </a:pPr>
            <a:r>
              <a:rPr lang="en-US" sz="1800" b="0" i="0" u="none" strike="noStrike" cap="none" dirty="0" smtClean="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Sign language</a:t>
            </a:r>
            <a:endParaRPr lang="en-US" sz="1800" dirty="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Noto Sans Symbols"/>
              <a:buAutoNum type="arabicPeriod" startAt="4"/>
            </a:pPr>
            <a:r>
              <a:rPr lang="en-US" sz="1800" b="0" i="0" u="none" strike="noStrike" cap="none" dirty="0" smtClean="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Artifacts</a:t>
            </a:r>
            <a:endParaRPr lang="en-US" sz="1800" dirty="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Noto Sans Symbols"/>
              <a:buAutoNum type="arabicPeriod" startAt="4"/>
            </a:pPr>
            <a:r>
              <a:rPr lang="en-US" sz="1800" dirty="0" smtClean="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Paralanguage</a:t>
            </a:r>
            <a:endParaRPr sz="1800" b="0" i="0" u="none" strike="noStrike" cap="none" dirty="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"/>
          <p:cNvSpPr txBox="1">
            <a:spLocks noGrp="1"/>
          </p:cNvSpPr>
          <p:nvPr>
            <p:ph idx="1"/>
          </p:nvPr>
        </p:nvSpPr>
        <p:spPr>
          <a:xfrm>
            <a:off x="983432" y="1669625"/>
            <a:ext cx="10204068" cy="50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34327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65"/>
              <a:buChar char="●"/>
            </a:pPr>
            <a:r>
              <a:rPr lang="en-US" dirty="0"/>
              <a:t>Kinesics is the study of the body’s physical movements. It is the way the body communicates without words, i.e., through the various movements of its parts.</a:t>
            </a:r>
            <a:endParaRPr dirty="0"/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endParaRPr dirty="0"/>
          </a:p>
          <a:p>
            <a:pPr marL="342900" lvl="0" indent="-334327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65"/>
              <a:buChar char="●"/>
            </a:pPr>
            <a:r>
              <a:rPr lang="en-US" dirty="0"/>
              <a:t>On paper, words remain static; however, punctuation marks are used to convey pauses, expressions, emotions, etc. But in face-to-face communication, the message is conveyed on two levels simultaneously.</a:t>
            </a:r>
            <a:endParaRPr dirty="0"/>
          </a:p>
          <a:p>
            <a:pPr marL="45720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018"/>
              <a:buNone/>
            </a:pPr>
            <a:endParaRPr dirty="0"/>
          </a:p>
          <a:p>
            <a:pPr marL="342900" lvl="0" indent="-334327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65"/>
              <a:buChar char="●"/>
            </a:pPr>
            <a:r>
              <a:rPr lang="en-US" dirty="0">
                <a:solidFill>
                  <a:srgbClr val="0000FF"/>
                </a:solidFill>
              </a:rPr>
              <a:t>For example</a:t>
            </a:r>
            <a:r>
              <a:rPr lang="en-US" dirty="0"/>
              <a:t>, suppose you are congratulating two of your friends on their successful interviews. If you extend your hand to them with a big smile on your face along with the utterance, ‘</a:t>
            </a:r>
            <a:r>
              <a:rPr lang="en-US" dirty="0">
                <a:solidFill>
                  <a:srgbClr val="0000FF"/>
                </a:solidFill>
              </a:rPr>
              <a:t>Congrats</a:t>
            </a:r>
            <a:r>
              <a:rPr lang="en-US" dirty="0"/>
              <a:t>’, your appreciation has more impact on them than the word in isolation. Your smile and the handshake are kinesics. </a:t>
            </a:r>
            <a:endParaRPr dirty="0"/>
          </a:p>
          <a:p>
            <a:pPr marL="45720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018"/>
              <a:buNone/>
            </a:pPr>
            <a:endParaRPr dirty="0"/>
          </a:p>
        </p:txBody>
      </p:sp>
      <p:sp>
        <p:nvSpPr>
          <p:cNvPr id="262" name="Google Shape;262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b="1" i="1">
                <a:solidFill>
                  <a:srgbClr val="FF9900"/>
                </a:solidFill>
              </a:rPr>
              <a:t>KINESICS</a:t>
            </a:r>
            <a:endParaRPr b="1" i="1">
              <a:solidFill>
                <a:srgbClr val="FF9900"/>
              </a:solidFill>
            </a:endParaRPr>
          </a:p>
        </p:txBody>
      </p:sp>
      <p:pic>
        <p:nvPicPr>
          <p:cNvPr id="264" name="Google Shape;26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52325" y="125738"/>
            <a:ext cx="4114800" cy="14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"/>
          <p:cNvSpPr txBox="1">
            <a:spLocks noGrp="1"/>
          </p:cNvSpPr>
          <p:nvPr>
            <p:ph sz="half" idx="1"/>
          </p:nvPr>
        </p:nvSpPr>
        <p:spPr>
          <a:xfrm>
            <a:off x="5447928" y="2133600"/>
            <a:ext cx="4824536" cy="42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/>
              <a:t>People see before they hear. Just like we adapt our language to the audience, we should also dress appropriately.</a:t>
            </a:r>
            <a:endParaRPr sz="1800" dirty="0"/>
          </a:p>
          <a:p>
            <a:pPr marL="34290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/>
              <a:t>Today, the purpose of clothing has altered from fulﬁlling a basic need to expressing oneself. </a:t>
            </a:r>
            <a:endParaRPr sz="1800" dirty="0"/>
          </a:p>
          <a:p>
            <a:pPr marL="34290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/>
              <a:t>Appearance includes clothes, hair, accessories, cosmetics, and so on.</a:t>
            </a:r>
            <a:endParaRPr sz="1800" dirty="0"/>
          </a:p>
        </p:txBody>
      </p:sp>
      <p:pic>
        <p:nvPicPr>
          <p:cNvPr id="271" name="Google Shape;271;p6"/>
          <p:cNvPicPr preferRelativeResize="0">
            <a:picLocks noGrp="1"/>
          </p:cNvPicPr>
          <p:nvPr>
            <p:ph sz="half" idx="2"/>
          </p:nvPr>
        </p:nvPicPr>
        <p:blipFill rotWithShape="1">
          <a:blip r:embed="rId3">
            <a:alphaModFix/>
          </a:blip>
          <a:stretch/>
        </p:blipFill>
        <p:spPr>
          <a:xfrm>
            <a:off x="695400" y="457200"/>
            <a:ext cx="4248472" cy="4267944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b="1" i="1">
                <a:solidFill>
                  <a:srgbClr val="FF9900"/>
                </a:solidFill>
              </a:rPr>
              <a:t>Personal appearance</a:t>
            </a:r>
            <a:endParaRPr b="1" i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7"/>
          <p:cNvSpPr txBox="1">
            <a:spLocks noGrp="1"/>
          </p:cNvSpPr>
          <p:nvPr>
            <p:ph sz="half" idx="1"/>
          </p:nvPr>
        </p:nvSpPr>
        <p:spPr>
          <a:xfrm>
            <a:off x="3935759" y="1751675"/>
            <a:ext cx="6840761" cy="4485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/>
              <a:t>Posture generally refers to the way we hold ourselves when we stand, sit, or walk. </a:t>
            </a:r>
            <a:endParaRPr sz="1800" dirty="0"/>
          </a:p>
          <a:p>
            <a:pPr marL="34290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/>
              <a:t>One’s posture changes according to the situation.</a:t>
            </a:r>
            <a:endParaRPr sz="1800" dirty="0"/>
          </a:p>
          <a:p>
            <a:pPr marL="34290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/>
              <a:t>The way one sits, stands, or walks reveals a lot.</a:t>
            </a:r>
            <a:endParaRPr sz="1800" dirty="0"/>
          </a:p>
          <a:p>
            <a:pPr marL="34290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/>
              <a:t>For instance, during an oral presentation, stiff positions, such as standing akimbo (with hands on hips and elbows pointing away from the body), send the message of defiance or aggression.</a:t>
            </a:r>
            <a:endParaRPr sz="1800" dirty="0"/>
          </a:p>
        </p:txBody>
      </p:sp>
      <p:pic>
        <p:nvPicPr>
          <p:cNvPr id="278" name="Google Shape;278;p7"/>
          <p:cNvPicPr preferRelativeResize="0">
            <a:picLocks noGrp="1"/>
          </p:cNvPicPr>
          <p:nvPr>
            <p:ph sz="half" idx="2"/>
          </p:nvPr>
        </p:nvPicPr>
        <p:blipFill rotWithShape="1">
          <a:blip r:embed="rId3">
            <a:alphaModFix/>
          </a:blip>
          <a:stretch/>
        </p:blipFill>
        <p:spPr>
          <a:xfrm>
            <a:off x="839416" y="457200"/>
            <a:ext cx="2814867" cy="405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7"/>
          <p:cNvSpPr txBox="1">
            <a:spLocks noGrp="1"/>
          </p:cNvSpPr>
          <p:nvPr>
            <p:ph type="title"/>
          </p:nvPr>
        </p:nvSpPr>
        <p:spPr>
          <a:xfrm>
            <a:off x="3935760" y="624100"/>
            <a:ext cx="6408712" cy="716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b="1" i="1" dirty="0">
                <a:solidFill>
                  <a:srgbClr val="FF9900"/>
                </a:solidFill>
              </a:rPr>
              <a:t>Posture</a:t>
            </a:r>
            <a:endParaRPr b="1" i="1" dirty="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"/>
          <p:cNvSpPr txBox="1">
            <a:spLocks noGrp="1"/>
          </p:cNvSpPr>
          <p:nvPr>
            <p:ph idx="1"/>
          </p:nvPr>
        </p:nvSpPr>
        <p:spPr>
          <a:xfrm>
            <a:off x="1343472" y="1768200"/>
            <a:ext cx="9695653" cy="26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Gesture is the movement made by hands, head, or face. Skillful and appropriate gestures can add to the impact of verbal communication.</a:t>
            </a:r>
            <a:endParaRPr dirty="0"/>
          </a:p>
          <a:p>
            <a:pPr marL="342900" lvl="0" indent="-3429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An awkward gesture (like playing with a key chain or button) can mar the effectiveness of the message.</a:t>
            </a:r>
            <a:endParaRPr dirty="0"/>
          </a:p>
          <a:p>
            <a:pPr marL="342900" lvl="0" indent="-3429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It has been observed that there are as many as 700,000 varied hand gestures alone (</a:t>
            </a:r>
            <a:r>
              <a:rPr lang="en-US" dirty="0" err="1"/>
              <a:t>Birdwhistell</a:t>
            </a:r>
            <a:r>
              <a:rPr lang="en-US" dirty="0"/>
              <a:t> 1952), and the meanings derived from them may vary from individual to individual.</a:t>
            </a:r>
            <a:endParaRPr dirty="0"/>
          </a:p>
        </p:txBody>
      </p:sp>
      <p:sp>
        <p:nvSpPr>
          <p:cNvPr id="283" name="Google Shape;283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b="1" i="1">
                <a:solidFill>
                  <a:srgbClr val="FF9900"/>
                </a:solidFill>
              </a:rPr>
              <a:t>Gesture </a:t>
            </a:r>
            <a:endParaRPr b="1" i="1">
              <a:solidFill>
                <a:srgbClr val="FF9900"/>
              </a:solidFill>
            </a:endParaRPr>
          </a:p>
        </p:txBody>
      </p:sp>
      <p:pic>
        <p:nvPicPr>
          <p:cNvPr id="285" name="Google Shape;285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2912" y="4472359"/>
            <a:ext cx="8128000" cy="2385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g127ad66855b_0_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7163" y="942325"/>
            <a:ext cx="6562725" cy="47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"/>
          <p:cNvSpPr txBox="1">
            <a:spLocks noGrp="1"/>
          </p:cNvSpPr>
          <p:nvPr>
            <p:ph idx="1"/>
          </p:nvPr>
        </p:nvSpPr>
        <p:spPr>
          <a:xfrm>
            <a:off x="1271464" y="1651675"/>
            <a:ext cx="10233136" cy="5101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The face is the most expressive part of our body. </a:t>
            </a:r>
            <a:endParaRPr sz="2000"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A smile stands for friendliness, a frown for discontent, raised eyebrows for disbelief, tightened jaw muscles for antagonism, etc.</a:t>
            </a:r>
            <a:endParaRPr sz="2000"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People tend to hide their true feelings, and project expressions that are appropriate according to the circumstances. </a:t>
            </a:r>
            <a:endParaRPr sz="2000"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The six basic facial expressions are:</a:t>
            </a:r>
            <a:endParaRPr dirty="0"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Happiness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Surprise</a:t>
            </a:r>
            <a:endParaRPr sz="2000"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Disgust</a:t>
            </a:r>
            <a:endParaRPr sz="2000"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Fear</a:t>
            </a:r>
            <a:endParaRPr sz="2000"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Anger</a:t>
            </a:r>
            <a:endParaRPr sz="2000"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/>
              <a:t>Sadness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 </a:t>
            </a:r>
            <a:br>
              <a:rPr lang="en-US" dirty="0"/>
            </a:br>
            <a:endParaRPr dirty="0"/>
          </a:p>
        </p:txBody>
      </p:sp>
      <p:sp>
        <p:nvSpPr>
          <p:cNvPr id="296" name="Google Shape;296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b="1" i="1">
                <a:solidFill>
                  <a:srgbClr val="FF9900"/>
                </a:solidFill>
              </a:rPr>
              <a:t>Facial expression </a:t>
            </a:r>
            <a:endParaRPr b="1" i="1">
              <a:solidFill>
                <a:srgbClr val="FF9900"/>
              </a:solidFill>
            </a:endParaRPr>
          </a:p>
        </p:txBody>
      </p:sp>
      <p:pic>
        <p:nvPicPr>
          <p:cNvPr id="298" name="Google Shape;298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74375" y="3519900"/>
            <a:ext cx="4649624" cy="3233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g127ad66855b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40125" y="1057275"/>
            <a:ext cx="6781800" cy="47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"/>
          <p:cNvSpPr txBox="1">
            <a:spLocks noGrp="1"/>
          </p:cNvSpPr>
          <p:nvPr>
            <p:ph idx="1"/>
          </p:nvPr>
        </p:nvSpPr>
        <p:spPr>
          <a:xfrm>
            <a:off x="1871003" y="2133600"/>
            <a:ext cx="9217497" cy="3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400" b="1"/>
              <a:t>Eyes are considered to be the windows of the soul. </a:t>
            </a:r>
            <a:endParaRPr sz="2400" b="1"/>
          </a:p>
          <a:p>
            <a:pPr marL="342900" lvl="0" indent="-3429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2400" b="1"/>
              <a:t>We look at the eyes of a speaker to find out the truthfulness of his/her words, intelligence, attitudes, and feelings.</a:t>
            </a:r>
            <a:endParaRPr sz="2400" b="1"/>
          </a:p>
          <a:p>
            <a:pPr marL="342900" lvl="0" indent="-3429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2400" b="1"/>
              <a:t>Eyes are also a rich source of feedback. </a:t>
            </a:r>
            <a:endParaRPr sz="2400" b="1"/>
          </a:p>
          <a:p>
            <a:pPr marL="342900" lvl="0" indent="-3429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2400" b="1"/>
              <a:t>Prolonging the eye contact for three to five seconds (without, however, giving the impression of staring) tells the audience that the presenter is sincere in what he/she says and that he/she wants us to pay attention. </a:t>
            </a:r>
            <a:endParaRPr sz="2400" b="1"/>
          </a:p>
        </p:txBody>
      </p:sp>
      <p:sp>
        <p:nvSpPr>
          <p:cNvPr id="309" name="Google Shape;309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b="1" i="1">
                <a:solidFill>
                  <a:srgbClr val="FF9900"/>
                </a:solidFill>
              </a:rPr>
              <a:t>Eye contact (Oculesics)</a:t>
            </a:r>
            <a:endParaRPr b="1" i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g127ad66855b_0_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27225" y="1265475"/>
            <a:ext cx="6858000" cy="47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 i="1" dirty="0">
                <a:solidFill>
                  <a:srgbClr val="FF9900"/>
                </a:solidFill>
              </a:rPr>
              <a:t>Proxemics </a:t>
            </a:r>
            <a:r>
              <a:rPr lang="en-US" b="1" i="1" dirty="0" smtClean="0">
                <a:solidFill>
                  <a:srgbClr val="FF9900"/>
                </a:solidFill>
              </a:rPr>
              <a:t>(Physical Space)</a:t>
            </a:r>
            <a:r>
              <a:rPr lang="en-US" b="1" i="1" dirty="0">
                <a:solidFill>
                  <a:srgbClr val="FF9900"/>
                </a:solidFill>
              </a:rPr>
              <a:t/>
            </a:r>
            <a:br>
              <a:rPr lang="en-US" b="1" i="1" dirty="0">
                <a:solidFill>
                  <a:srgbClr val="FF9900"/>
                </a:solidFill>
              </a:rPr>
            </a:br>
            <a:endParaRPr b="1" i="1" dirty="0">
              <a:solidFill>
                <a:srgbClr val="FF9900"/>
              </a:solidFill>
            </a:endParaRPr>
          </a:p>
        </p:txBody>
      </p:sp>
      <p:sp>
        <p:nvSpPr>
          <p:cNvPr id="322" name="Google Shape;322;p14"/>
          <p:cNvSpPr txBox="1">
            <a:spLocks noGrp="1"/>
          </p:cNvSpPr>
          <p:nvPr>
            <p:ph type="body" idx="4294967295"/>
          </p:nvPr>
        </p:nvSpPr>
        <p:spPr>
          <a:xfrm>
            <a:off x="3276600" y="2133600"/>
            <a:ext cx="7931968" cy="410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000" dirty="0"/>
              <a:t>Proxemics is the study of physical space in interpersonal relations. </a:t>
            </a:r>
            <a:endParaRPr sz="2000" dirty="0"/>
          </a:p>
          <a:p>
            <a:pPr marL="3429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2000" dirty="0"/>
              <a:t>In a professional setting, space is used to signal power and status. </a:t>
            </a:r>
            <a:endParaRPr sz="2000" dirty="0"/>
          </a:p>
          <a:p>
            <a:pPr marL="3429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2000" dirty="0"/>
              <a:t>Gestures should be in accordance with the space available. </a:t>
            </a:r>
            <a:endParaRPr sz="2000" dirty="0"/>
          </a:p>
          <a:p>
            <a:pPr marL="3429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2000" dirty="0"/>
              <a:t>Interestingly, like kinesics, proxemics also has cultural variations. </a:t>
            </a:r>
            <a:br>
              <a:rPr lang="en-US" sz="2000" dirty="0"/>
            </a:br>
            <a:r>
              <a:rPr lang="en-US" dirty="0"/>
              <a:t> 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6"/>
          <p:cNvSpPr txBox="1">
            <a:spLocks noGrp="1"/>
          </p:cNvSpPr>
          <p:nvPr>
            <p:ph idx="1"/>
          </p:nvPr>
        </p:nvSpPr>
        <p:spPr>
          <a:xfrm>
            <a:off x="1127448" y="1723475"/>
            <a:ext cx="10588927" cy="48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32105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30"/>
              <a:buChar char="●"/>
            </a:pPr>
            <a:r>
              <a:rPr lang="en-US" sz="2000" dirty="0" err="1"/>
              <a:t>Chronemics</a:t>
            </a:r>
            <a:r>
              <a:rPr lang="en-US" sz="2000" dirty="0"/>
              <a:t> is the study of how human beings communicate through their use of time. </a:t>
            </a:r>
            <a:endParaRPr sz="2000" dirty="0"/>
          </a:p>
          <a:p>
            <a:pPr marL="342900" lvl="0" indent="-332105" algn="just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630"/>
              <a:buChar char="●"/>
            </a:pPr>
            <a:r>
              <a:rPr lang="en-US" sz="2000" dirty="0"/>
              <a:t>When we are late for an appointment, people react negatively.  If we arrive early, we are considered either over-eager or aggressive. So, we should always be on time.</a:t>
            </a:r>
            <a:endParaRPr sz="2000" dirty="0"/>
          </a:p>
          <a:p>
            <a:pPr marL="342900" lvl="0" indent="-332105" algn="just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630"/>
              <a:buChar char="●"/>
            </a:pPr>
            <a:r>
              <a:rPr lang="en-US" sz="2000" dirty="0"/>
              <a:t>People have their own time language. To one person who wakes up at 8:00 a.m., 6:30 a.m. may be early.</a:t>
            </a:r>
            <a:endParaRPr sz="2000" dirty="0"/>
          </a:p>
          <a:p>
            <a:pPr marL="342900" lvl="0" indent="-332105" algn="just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630"/>
              <a:buChar char="●"/>
            </a:pPr>
            <a:r>
              <a:rPr lang="en-US" sz="2000" dirty="0"/>
              <a:t>Time language also varies from culture to culture. In Latin countries, meetings usually begin well after their appointed time.</a:t>
            </a:r>
            <a:endParaRPr sz="2000" dirty="0"/>
          </a:p>
          <a:p>
            <a:pPr marL="342900" lvl="0" indent="-332105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630"/>
              <a:buChar char="●"/>
            </a:pPr>
            <a:r>
              <a:rPr lang="en-US" sz="2000" dirty="0"/>
              <a:t>In India, time language varies according to the occasion. Punctuality is expected for a professional meeting, but it is not insisted upon for a party. People in India are generally liberal with time. </a:t>
            </a:r>
            <a:br>
              <a:rPr lang="en-US" sz="2000" dirty="0"/>
            </a:br>
            <a:r>
              <a:rPr lang="en-US" sz="1629" dirty="0"/>
              <a:t/>
            </a:r>
            <a:br>
              <a:rPr lang="en-US" sz="1629" dirty="0"/>
            </a:br>
            <a:r>
              <a:rPr lang="en-US" sz="1629" dirty="0"/>
              <a:t/>
            </a:r>
            <a:br>
              <a:rPr lang="en-US" sz="1629" dirty="0"/>
            </a:br>
            <a:r>
              <a:rPr lang="en-US" sz="1629" dirty="0"/>
              <a:t/>
            </a:r>
            <a:br>
              <a:rPr lang="en-US" sz="1629" dirty="0"/>
            </a:br>
            <a:endParaRPr sz="1629" dirty="0"/>
          </a:p>
        </p:txBody>
      </p:sp>
      <p:sp>
        <p:nvSpPr>
          <p:cNvPr id="327" name="Google Shape;327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b="1" i="1" dirty="0" smtClean="0">
                <a:solidFill>
                  <a:srgbClr val="FF9900"/>
                </a:solidFill>
              </a:rPr>
              <a:t>CHRONEMICS (Time)</a:t>
            </a:r>
            <a:endParaRPr b="1" i="1" dirty="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8"/>
          <p:cNvSpPr txBox="1">
            <a:spLocks noGrp="1"/>
          </p:cNvSpPr>
          <p:nvPr>
            <p:ph idx="1"/>
          </p:nvPr>
        </p:nvSpPr>
        <p:spPr>
          <a:xfrm>
            <a:off x="2589200" y="2133600"/>
            <a:ext cx="8475352" cy="34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000" dirty="0"/>
              <a:t>The study of sense of smell</a:t>
            </a:r>
            <a:endParaRPr sz="2000" dirty="0"/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000" dirty="0"/>
              <a:t>Someone’s smell can have a positive or negative effect on the oral message.</a:t>
            </a:r>
            <a:endParaRPr sz="2000" dirty="0"/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000" dirty="0"/>
              <a:t>Although people of the U.S. respond negatively to body odors, Arabs are comfortable with natural body odors.</a:t>
            </a:r>
            <a:endParaRPr sz="2000" dirty="0"/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000" dirty="0"/>
              <a:t>Other cultures in which smell plays an important role including the Japanese and Samoans.</a:t>
            </a:r>
            <a:endParaRPr sz="2000" dirty="0"/>
          </a:p>
        </p:txBody>
      </p:sp>
      <p:sp>
        <p:nvSpPr>
          <p:cNvPr id="333" name="Google Shape;333;p18"/>
          <p:cNvSpPr txBox="1">
            <a:spLocks noGrp="1"/>
          </p:cNvSpPr>
          <p:nvPr>
            <p:ph type="title"/>
          </p:nvPr>
        </p:nvSpPr>
        <p:spPr>
          <a:xfrm>
            <a:off x="2024869" y="648655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b="1" i="1" dirty="0" err="1" smtClean="0">
                <a:solidFill>
                  <a:srgbClr val="FF9900"/>
                </a:solidFill>
              </a:rPr>
              <a:t>Olfactics</a:t>
            </a:r>
            <a:r>
              <a:rPr lang="en-US" b="1" i="1" dirty="0" smtClean="0">
                <a:solidFill>
                  <a:srgbClr val="FF9900"/>
                </a:solidFill>
              </a:rPr>
              <a:t> (Smell)</a:t>
            </a:r>
            <a:endParaRPr b="1" i="1" dirty="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7"/>
          <p:cNvSpPr txBox="1">
            <a:spLocks noGrp="1"/>
          </p:cNvSpPr>
          <p:nvPr>
            <p:ph idx="1"/>
          </p:nvPr>
        </p:nvSpPr>
        <p:spPr>
          <a:xfrm>
            <a:off x="609600" y="1844824"/>
            <a:ext cx="8150696" cy="432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400" dirty="0"/>
              <a:t>Refers to communicating through the use of bodily contact.</a:t>
            </a:r>
            <a:endParaRPr sz="2400" dirty="0"/>
          </a:p>
          <a:p>
            <a:pPr marL="34290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2400" dirty="0"/>
              <a:t>Touch, when used properly, may create feelings of warmth and trust; when used improperly, touch may cause annoyance and betray trust.</a:t>
            </a:r>
            <a:endParaRPr sz="2400" dirty="0"/>
          </a:p>
        </p:txBody>
      </p:sp>
      <p:sp>
        <p:nvSpPr>
          <p:cNvPr id="339" name="Google Shape;339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b="1" i="1" dirty="0" err="1" smtClean="0">
                <a:solidFill>
                  <a:srgbClr val="FF9900"/>
                </a:solidFill>
              </a:rPr>
              <a:t>Haptics</a:t>
            </a:r>
            <a:r>
              <a:rPr lang="en-US" b="1" i="1" dirty="0" smtClean="0">
                <a:solidFill>
                  <a:srgbClr val="FF9900"/>
                </a:solidFill>
              </a:rPr>
              <a:t> (Touch)</a:t>
            </a:r>
            <a:endParaRPr b="1" i="1" dirty="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0"/>
          <p:cNvSpPr txBox="1">
            <a:spLocks noGrp="1"/>
          </p:cNvSpPr>
          <p:nvPr>
            <p:ph idx="1"/>
          </p:nvPr>
        </p:nvSpPr>
        <p:spPr>
          <a:xfrm>
            <a:off x="1322363" y="1617785"/>
            <a:ext cx="10182249" cy="4293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 sz="2400" dirty="0"/>
              <a:t>Paralanguage is used to describe a wide range of vocal characteristics which help to express and reflect the speaker’s attitude. </a:t>
            </a:r>
            <a:endParaRPr dirty="0"/>
          </a:p>
          <a:p>
            <a:pPr marL="45720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 sz="2400" dirty="0"/>
              <a:t>Paralanguage is non-verbal in nature and depends on voice, intonation, pitch, pause, volume, stress, gestures, and signals. </a:t>
            </a:r>
            <a:endParaRPr dirty="0"/>
          </a:p>
          <a:p>
            <a:pPr marL="45720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 sz="2400" dirty="0"/>
              <a:t>Through these, one’s voice can convey enthusiasm, confidence, anxiety and the speaker’s mental state and temperament. 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None/>
            </a:pPr>
            <a:endParaRPr dirty="0"/>
          </a:p>
        </p:txBody>
      </p:sp>
      <p:sp>
        <p:nvSpPr>
          <p:cNvPr id="345" name="Google Shape;345;p40"/>
          <p:cNvSpPr txBox="1">
            <a:spLocks noGrp="1"/>
          </p:cNvSpPr>
          <p:nvPr>
            <p:ph type="title"/>
          </p:nvPr>
        </p:nvSpPr>
        <p:spPr>
          <a:xfrm>
            <a:off x="1730327" y="624110"/>
            <a:ext cx="9774286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 dirty="0">
                <a:solidFill>
                  <a:srgbClr val="FFC000"/>
                </a:solidFill>
              </a:rPr>
              <a:t>Paralanguage</a:t>
            </a: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9"/>
          <p:cNvSpPr txBox="1">
            <a:spLocks noGrp="1"/>
          </p:cNvSpPr>
          <p:nvPr>
            <p:ph idx="1"/>
          </p:nvPr>
        </p:nvSpPr>
        <p:spPr>
          <a:xfrm>
            <a:off x="609600" y="1844824"/>
            <a:ext cx="9950896" cy="432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400" dirty="0"/>
              <a:t>Communication of messages through colors.</a:t>
            </a:r>
            <a:endParaRPr sz="2400" dirty="0"/>
          </a:p>
          <a:p>
            <a:pPr marL="3429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2400" dirty="0"/>
              <a:t>It is a scientific movement which explores the physical properties of </a:t>
            </a:r>
            <a:r>
              <a:rPr lang="en-US" sz="2400" dirty="0" err="1"/>
              <a:t>colour</a:t>
            </a:r>
            <a:r>
              <a:rPr lang="en-US" sz="2400" dirty="0"/>
              <a:t> and the effect of color on humans.</a:t>
            </a:r>
            <a:endParaRPr sz="2400" dirty="0"/>
          </a:p>
          <a:p>
            <a:pPr marL="3429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2400" dirty="0"/>
              <a:t>The connotations colors have may be positive or negative depending on the culture.</a:t>
            </a:r>
            <a:endParaRPr sz="2400" dirty="0"/>
          </a:p>
          <a:p>
            <a:pPr marL="3429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2400" dirty="0"/>
              <a:t>In Us, it’s common to wear black when mourning, in India people prefer white.</a:t>
            </a:r>
            <a:endParaRPr sz="2400" dirty="0"/>
          </a:p>
        </p:txBody>
      </p:sp>
      <p:sp>
        <p:nvSpPr>
          <p:cNvPr id="351" name="Google Shape;351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b="1" i="1" dirty="0" smtClean="0">
                <a:solidFill>
                  <a:srgbClr val="FF9900"/>
                </a:solidFill>
              </a:rPr>
              <a:t>Chromatics (</a:t>
            </a:r>
            <a:r>
              <a:rPr lang="en-US" b="1" i="1" dirty="0" err="1" smtClean="0">
                <a:solidFill>
                  <a:srgbClr val="FF9900"/>
                </a:solidFill>
              </a:rPr>
              <a:t>Colour</a:t>
            </a:r>
            <a:r>
              <a:rPr lang="en-US" b="1" i="1" dirty="0" smtClean="0">
                <a:solidFill>
                  <a:srgbClr val="FF9900"/>
                </a:solidFill>
              </a:rPr>
              <a:t>)</a:t>
            </a:r>
            <a:endParaRPr b="1" i="1" dirty="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0"/>
          <p:cNvSpPr txBox="1">
            <a:spLocks noGrp="1"/>
          </p:cNvSpPr>
          <p:nvPr>
            <p:ph idx="1"/>
          </p:nvPr>
        </p:nvSpPr>
        <p:spPr>
          <a:xfrm>
            <a:off x="609600" y="1484784"/>
            <a:ext cx="9302824" cy="4687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000" dirty="0"/>
              <a:t>Another important aspect in communication.</a:t>
            </a:r>
            <a:endParaRPr sz="2000" dirty="0"/>
          </a:p>
          <a:p>
            <a:pPr marL="34290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2000" dirty="0"/>
              <a:t>When we are silent, we are also communicating! What we communicate depends on what kind of silence it is.</a:t>
            </a:r>
            <a:endParaRPr sz="2000" dirty="0"/>
          </a:p>
          <a:p>
            <a:pPr marL="34290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2000" dirty="0"/>
              <a:t>Mostly subject of conversation plays major role in this.</a:t>
            </a:r>
            <a:endParaRPr sz="2000" dirty="0"/>
          </a:p>
          <a:p>
            <a:pPr marL="34290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2000" dirty="0"/>
              <a:t>The more emotionally loaded subject is, the more silence we need.</a:t>
            </a:r>
            <a:endParaRPr sz="2000" dirty="0"/>
          </a:p>
          <a:p>
            <a:pPr marL="34290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2000" dirty="0"/>
              <a:t>Silence in group conversations are difficult to be handled for lot of people.</a:t>
            </a:r>
            <a:endParaRPr sz="2000" dirty="0"/>
          </a:p>
        </p:txBody>
      </p:sp>
      <p:sp>
        <p:nvSpPr>
          <p:cNvPr id="357" name="Google Shape;357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b="1" i="1">
                <a:solidFill>
                  <a:srgbClr val="FF9900"/>
                </a:solidFill>
              </a:rPr>
              <a:t>Silence</a:t>
            </a:r>
            <a:endParaRPr b="1" i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1"/>
          <p:cNvSpPr txBox="1">
            <a:spLocks noGrp="1"/>
          </p:cNvSpPr>
          <p:nvPr>
            <p:ph idx="1"/>
          </p:nvPr>
        </p:nvSpPr>
        <p:spPr>
          <a:xfrm>
            <a:off x="1271464" y="1412776"/>
            <a:ext cx="10233136" cy="511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lvl="1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?"/>
            </a:pPr>
            <a:r>
              <a:rPr lang="en-US" sz="1800" dirty="0"/>
              <a:t>Visual Sign</a:t>
            </a:r>
            <a:endParaRPr sz="1800" dirty="0"/>
          </a:p>
          <a:p>
            <a:pPr marL="742950" lvl="1" indent="-279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US" sz="1800" dirty="0"/>
              <a:t>Crossed bones under a skull as a danger signal.</a:t>
            </a:r>
            <a:endParaRPr sz="1800" dirty="0"/>
          </a:p>
          <a:p>
            <a:pPr marL="742950" lvl="1" indent="-279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US" sz="1800" dirty="0"/>
              <a:t>Cross over a cigarette as warning against smoking.</a:t>
            </a:r>
            <a:endParaRPr sz="1800" dirty="0"/>
          </a:p>
          <a:p>
            <a:pPr marL="742950" lvl="1" indent="-279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US" sz="1800" dirty="0"/>
              <a:t>Lights-green or red at traffic points, railway stations, outside operation theatre of hospital, revolving light on  the top of VIP vehicle/ambulance.</a:t>
            </a:r>
            <a:br>
              <a:rPr lang="en-US" sz="1800" dirty="0"/>
            </a:br>
            <a:endParaRPr sz="1800" dirty="0"/>
          </a:p>
          <a:p>
            <a:pPr marL="742950" lvl="1" indent="-279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?"/>
            </a:pPr>
            <a:r>
              <a:rPr lang="en-US" sz="1800" dirty="0"/>
              <a:t>Audio Signs</a:t>
            </a:r>
            <a:endParaRPr sz="1800" dirty="0"/>
          </a:p>
          <a:p>
            <a:pPr marL="742950" lvl="1" indent="-279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US" sz="1800" dirty="0"/>
              <a:t>Alarm signals</a:t>
            </a:r>
            <a:endParaRPr sz="1800" dirty="0"/>
          </a:p>
          <a:p>
            <a:pPr marL="742950" lvl="1" indent="-279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US" sz="1800" dirty="0"/>
              <a:t>Blowing a horn</a:t>
            </a:r>
            <a:endParaRPr sz="1800" dirty="0"/>
          </a:p>
          <a:p>
            <a:pPr marL="742950" lvl="1" indent="-279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US" sz="1800" dirty="0"/>
              <a:t>Buzzer, bells</a:t>
            </a:r>
            <a:br>
              <a:rPr lang="en-US" sz="1800" dirty="0"/>
            </a:br>
            <a:endParaRPr sz="1800" dirty="0"/>
          </a:p>
        </p:txBody>
      </p:sp>
      <p:sp>
        <p:nvSpPr>
          <p:cNvPr id="363" name="Google Shape;363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b="1" i="1">
                <a:solidFill>
                  <a:srgbClr val="FF9900"/>
                </a:solidFill>
              </a:rPr>
              <a:t>Sign language</a:t>
            </a:r>
            <a:endParaRPr b="1" i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2"/>
          <p:cNvSpPr txBox="1">
            <a:spLocks noGrp="1"/>
          </p:cNvSpPr>
          <p:nvPr>
            <p:ph idx="1"/>
          </p:nvPr>
        </p:nvSpPr>
        <p:spPr>
          <a:xfrm>
            <a:off x="1415480" y="2133600"/>
            <a:ext cx="9821820" cy="37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Artifacts are forms of decorative ornamentation that are chosen to represent self-concept. They can include rings and tattoos, but may also include brand names and logos. </a:t>
            </a:r>
            <a:endParaRPr dirty="0"/>
          </a:p>
          <a:p>
            <a:pPr marL="34290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From clothes to cars, watches, briefcases, purses, and even eyeglasses, what we choose to surround ourselves with communicates something about our sense of self. </a:t>
            </a:r>
            <a:endParaRPr dirty="0"/>
          </a:p>
          <a:p>
            <a:pPr marL="342900" lvl="0" indent="-3429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They may project gender, role or position, class or status, personality, and group membership or affiliation. </a:t>
            </a:r>
            <a:endParaRPr dirty="0"/>
          </a:p>
        </p:txBody>
      </p:sp>
      <p:sp>
        <p:nvSpPr>
          <p:cNvPr id="369" name="Google Shape;369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b="1" i="1" dirty="0">
                <a:solidFill>
                  <a:srgbClr val="FF9900"/>
                </a:solidFill>
              </a:rPr>
              <a:t>Clothing &amp; </a:t>
            </a:r>
            <a:r>
              <a:rPr lang="en-US" b="1" i="1" dirty="0" smtClean="0">
                <a:solidFill>
                  <a:srgbClr val="FF9900"/>
                </a:solidFill>
              </a:rPr>
              <a:t>Other </a:t>
            </a:r>
            <a:r>
              <a:rPr lang="en-US" b="1" i="1" dirty="0">
                <a:solidFill>
                  <a:srgbClr val="FF9900"/>
                </a:solidFill>
              </a:rPr>
              <a:t>A</a:t>
            </a:r>
            <a:r>
              <a:rPr lang="en-US" b="1" i="1" dirty="0" smtClean="0">
                <a:solidFill>
                  <a:srgbClr val="FF9900"/>
                </a:solidFill>
              </a:rPr>
              <a:t>rtifacts </a:t>
            </a:r>
            <a:endParaRPr b="1" i="1" dirty="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12f2eefdec6_0_90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Nonverbal communication ( Video resources)</a:t>
            </a:r>
            <a:endParaRPr/>
          </a:p>
        </p:txBody>
      </p:sp>
      <p:sp>
        <p:nvSpPr>
          <p:cNvPr id="376" name="Google Shape;376;g12f2eefdec6_0_90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https://www.youtube.com/watch?v=fLaslONQAKM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700"/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https://www.youtube.com/watch?v=4jwUXV4QaTw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700"/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https://www.youtube.com/watch?v=W3P3rT0j2gQ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7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mposite">
  <a:themeElements>
    <a:clrScheme name="Composite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Composit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mpos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5000"/>
                <a:satMod val="300000"/>
              </a:schemeClr>
            </a:gs>
            <a:gs pos="12000">
              <a:schemeClr val="phClr">
                <a:tint val="50000"/>
                <a:shade val="90000"/>
                <a:satMod val="250000"/>
              </a:schemeClr>
            </a:gs>
            <a:gs pos="100000">
              <a:schemeClr val="phClr">
                <a:tint val="85000"/>
                <a:shade val="7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5000"/>
                <a:shade val="95000"/>
                <a:satMod val="175000"/>
              </a:schemeClr>
            </a:gs>
            <a:gs pos="12000">
              <a:schemeClr val="phClr">
                <a:tint val="90000"/>
                <a:shade val="90000"/>
                <a:satMod val="150000"/>
              </a:schemeClr>
            </a:gs>
            <a:gs pos="100000">
              <a:schemeClr val="phClr">
                <a:tint val="100000"/>
                <a:shade val="75000"/>
                <a:satMod val="1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freezing" dir="t">
              <a:rot lat="0" lon="0" rev="6000000"/>
            </a:lightRig>
          </a:scene3d>
          <a:sp3d contourW="12700" prstMaterial="dkEdge">
            <a:bevelT w="44450" h="254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10000"/>
                <a:lumMod val="80000"/>
              </a:schemeClr>
            </a:gs>
            <a:gs pos="79000">
              <a:schemeClr val="phClr">
                <a:tint val="100000"/>
                <a:shade val="90000"/>
                <a:satMod val="105000"/>
                <a:lumMod val="10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hade val="100000"/>
                <a:satMod val="100000"/>
                <a:lumMod val="110000"/>
              </a:schemeClr>
            </a:gs>
            <a:gs pos="83000">
              <a:schemeClr val="phClr">
                <a:shade val="75000"/>
                <a:satMod val="200000"/>
              </a:schemeClr>
            </a:gs>
            <a:gs pos="100000">
              <a:schemeClr val="phClr">
                <a:shade val="90000"/>
                <a:satMod val="200000"/>
              </a:schemeClr>
            </a:gs>
          </a:gsLst>
          <a:path path="circle">
            <a:fillToRect l="75000" t="100000" b="3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991</Words>
  <Application>Microsoft Office PowerPoint</Application>
  <PresentationFormat>Custom</PresentationFormat>
  <Paragraphs>115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Noto Sans Symbols</vt:lpstr>
      <vt:lpstr>Lato</vt:lpstr>
      <vt:lpstr>Calibri</vt:lpstr>
      <vt:lpstr>Century Gothic</vt:lpstr>
      <vt:lpstr>Wingdings</vt:lpstr>
      <vt:lpstr>Raleway</vt:lpstr>
      <vt:lpstr>Streamline</vt:lpstr>
      <vt:lpstr>Composite</vt:lpstr>
      <vt:lpstr>Non-Verbal Communication</vt:lpstr>
      <vt:lpstr>Non-verbal Communication</vt:lpstr>
      <vt:lpstr>PowerPoint Presentation</vt:lpstr>
      <vt:lpstr>Meaning</vt:lpstr>
      <vt:lpstr>PowerPoint Presentation</vt:lpstr>
      <vt:lpstr>Types/Elements of Non-verbal Communication.</vt:lpstr>
      <vt:lpstr>KINESICS</vt:lpstr>
      <vt:lpstr>Personal appearance</vt:lpstr>
      <vt:lpstr>Posture</vt:lpstr>
      <vt:lpstr>Gesture </vt:lpstr>
      <vt:lpstr>PowerPoint Presentation</vt:lpstr>
      <vt:lpstr>Facial expression </vt:lpstr>
      <vt:lpstr>PowerPoint Presentation</vt:lpstr>
      <vt:lpstr>Eye contact (Oculesics)</vt:lpstr>
      <vt:lpstr>PowerPoint Presentation</vt:lpstr>
      <vt:lpstr>Proxemics (Physical Space) </vt:lpstr>
      <vt:lpstr>CHRONEMICS (Time)</vt:lpstr>
      <vt:lpstr>Olfactics (Smell)</vt:lpstr>
      <vt:lpstr>Haptics (Touch)</vt:lpstr>
      <vt:lpstr>Paralanguage </vt:lpstr>
      <vt:lpstr>Chromatics (Colour)</vt:lpstr>
      <vt:lpstr>Silence</vt:lpstr>
      <vt:lpstr>Sign language</vt:lpstr>
      <vt:lpstr>Clothing &amp; Other Artifacts </vt:lpstr>
      <vt:lpstr>Nonverbal communication ( Video resources)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Non-verbal Communication</dc:title>
  <dc:creator>Bhagirath Khuman</dc:creator>
  <cp:lastModifiedBy>unais kt</cp:lastModifiedBy>
  <cp:revision>15</cp:revision>
  <dcterms:created xsi:type="dcterms:W3CDTF">2020-12-06T17:05:09Z</dcterms:created>
  <dcterms:modified xsi:type="dcterms:W3CDTF">2025-09-18T04:33:06Z</dcterms:modified>
</cp:coreProperties>
</file>