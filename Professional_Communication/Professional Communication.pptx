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8" r:id="rId1"/>
  </p:sldMasterIdLst>
  <p:notesMasterIdLst>
    <p:notesMasterId r:id="rId36"/>
  </p:notesMasterIdLst>
  <p:sldIdLst>
    <p:sldId id="256" r:id="rId2"/>
    <p:sldId id="258" r:id="rId3"/>
    <p:sldId id="259" r:id="rId4"/>
    <p:sldId id="260" r:id="rId5"/>
    <p:sldId id="261" r:id="rId6"/>
    <p:sldId id="263" r:id="rId7"/>
    <p:sldId id="264" r:id="rId8"/>
    <p:sldId id="265" r:id="rId9"/>
    <p:sldId id="266" r:id="rId10"/>
    <p:sldId id="267" r:id="rId11"/>
    <p:sldId id="269" r:id="rId12"/>
    <p:sldId id="271" r:id="rId13"/>
    <p:sldId id="295" r:id="rId14"/>
    <p:sldId id="296" r:id="rId15"/>
    <p:sldId id="279" r:id="rId16"/>
    <p:sldId id="278" r:id="rId17"/>
    <p:sldId id="280" r:id="rId18"/>
    <p:sldId id="281" r:id="rId19"/>
    <p:sldId id="257" r:id="rId20"/>
    <p:sldId id="282" r:id="rId21"/>
    <p:sldId id="283" r:id="rId22"/>
    <p:sldId id="284" r:id="rId23"/>
    <p:sldId id="262" r:id="rId24"/>
    <p:sldId id="286" r:id="rId25"/>
    <p:sldId id="287" r:id="rId26"/>
    <p:sldId id="289" r:id="rId27"/>
    <p:sldId id="268" r:id="rId28"/>
    <p:sldId id="291" r:id="rId29"/>
    <p:sldId id="293" r:id="rId30"/>
    <p:sldId id="272" r:id="rId31"/>
    <p:sldId id="273" r:id="rId32"/>
    <p:sldId id="274" r:id="rId33"/>
    <p:sldId id="275" r:id="rId34"/>
    <p:sldId id="294" r:id="rId35"/>
  </p:sldIdLst>
  <p:sldSz cx="9144000" cy="5143500" type="screen16x9"/>
  <p:notesSz cx="6858000" cy="9144000"/>
  <p:embeddedFontLst>
    <p:embeddedFont>
      <p:font typeface="Roboto" charset="0"/>
      <p:regular r:id="rId37"/>
      <p:bold r:id="rId38"/>
      <p:italic r:id="rId39"/>
      <p:boldItalic r:id="rId40"/>
    </p:embeddedFont>
    <p:embeddedFont>
      <p:font typeface="Franklin Gothic Medium" pitchFamily="34" charset="0"/>
      <p:regular r:id="rId41"/>
      <p:italic r:id="rId42"/>
    </p:embeddedFont>
    <p:embeddedFont>
      <p:font typeface="Franklin Gothic Book" pitchFamily="34" charset="0"/>
      <p:regular r:id="rId43"/>
      <p:italic r:id="rId4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620">
          <p15:clr>
            <a:srgbClr val="000000"/>
          </p15:clr>
        </p15:guide>
        <p15:guide id="2" pos="2880">
          <p15:clr>
            <a:srgbClr val="000000"/>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ge1dMCIEg9l8ISzqSIvhm3PrhiX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394" autoAdjust="0"/>
  </p:normalViewPr>
  <p:slideViewPr>
    <p:cSldViewPr snapToGrid="0">
      <p:cViewPr varScale="1">
        <p:scale>
          <a:sx n="94" d="100"/>
          <a:sy n="94" d="100"/>
        </p:scale>
        <p:origin x="-696" y="-10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1pPr>
            <a:lvl2pPr marL="914400" marR="0" lvl="1"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2pPr>
            <a:lvl3pPr marL="1371600" marR="0" lvl="2"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3pPr>
            <a:lvl4pPr marL="1828800" marR="0" lvl="3"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4pPr>
            <a:lvl5pPr marL="2286000" marR="0" lvl="4"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5pPr>
            <a:lvl6pPr marL="2743200" marR="0" lvl="5"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6pPr>
            <a:lvl7pPr marL="3200400" marR="0" lvl="6"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7pPr>
            <a:lvl8pPr marL="3657600" marR="0" lvl="7"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8pPr>
            <a:lvl9pPr marL="4114800" marR="0" lvl="8"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99048478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1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1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124bcd55b69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3" name="Google Shape;133;g124bcd55b69_0_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124bcd55b6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g124bcd55b69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124bcd55b69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3" name="Google Shape;143;g124bcd55b69_0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124bcd55b69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 name="Google Shape;153;g124bcd55b69_0_1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124bcd55b69_0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8" name="Google Shape;158;g124bcd55b69_0_1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124bcd55b69_0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g124bcd55b69_0_1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124bcd55b69_0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9" name="Google Shape;169;g124bcd55b69_0_1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24bcd55b69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4" name="Google Shape;174;g124bcd55b69_0_1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5" name="Google Shape;185;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1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6" name="Google Shape;19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1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4" name="Google Shape;264;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1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1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 name="Google Shape;12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1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7" name="Google Shape;137;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1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 name="Google Shape;151;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1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8" name="Google Shape;158;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1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1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1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1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7" name="Google Shape;197;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1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9" name="Google Shape;209;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1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3" name="Google Shape;223;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sz="11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0" name="Google Shape;230;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ight Triangle 6"/>
          <p:cNvSpPr/>
          <p:nvPr/>
        </p:nvSpPr>
        <p:spPr>
          <a:xfrm>
            <a:off x="1" y="1985962"/>
            <a:ext cx="3571875" cy="3157538"/>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694"/>
            <a:ext cx="9146380" cy="5144194"/>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rot="19140000">
            <a:off x="817113" y="1297802"/>
            <a:ext cx="5648623" cy="903230"/>
          </a:xfrm>
        </p:spPr>
        <p:txBody>
          <a:bodyPr bIns="9144" anchor="b"/>
          <a:lstStyle>
            <a:lvl1pPr>
              <a:defRPr sz="3200"/>
            </a:lvl1pPr>
          </a:lstStyle>
          <a:p>
            <a:r>
              <a:rPr lang="en-US" smtClean="0"/>
              <a:t>Click to edit Master title style</a:t>
            </a:r>
            <a:endParaRPr lang="en-US" dirty="0"/>
          </a:p>
        </p:txBody>
      </p:sp>
      <p:sp>
        <p:nvSpPr>
          <p:cNvPr id="3" name="Subtitle 2"/>
          <p:cNvSpPr>
            <a:spLocks noGrp="1"/>
          </p:cNvSpPr>
          <p:nvPr>
            <p:ph type="subTitle" idx="1"/>
          </p:nvPr>
        </p:nvSpPr>
        <p:spPr>
          <a:xfrm rot="19140000">
            <a:off x="1212278" y="1853194"/>
            <a:ext cx="6511131" cy="246944"/>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B27BC82-C612-494C-9B3B-987147AACF1B}" type="datetimeFigureOut">
              <a:rPr lang="en-IN" smtClean="0"/>
              <a:t>03-09-2025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latin typeface="Arial"/>
              <a:ea typeface="Arial"/>
              <a:cs typeface="Arial"/>
              <a:sym typeface="Arial"/>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Freeform 7"/>
          <p:cNvSpPr/>
          <p:nvPr/>
        </p:nvSpPr>
        <p:spPr>
          <a:xfrm>
            <a:off x="-2380" y="-694"/>
            <a:ext cx="9146380" cy="5144194"/>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1" y="1985962"/>
            <a:ext cx="3571875" cy="315753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295053"/>
            <a:ext cx="5650992" cy="905632"/>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US" dirty="0"/>
          </a:p>
        </p:txBody>
      </p:sp>
      <p:sp>
        <p:nvSpPr>
          <p:cNvPr id="3" name="Text Placeholder 2"/>
          <p:cNvSpPr>
            <a:spLocks noGrp="1"/>
          </p:cNvSpPr>
          <p:nvPr>
            <p:ph type="body" idx="1"/>
          </p:nvPr>
        </p:nvSpPr>
        <p:spPr>
          <a:xfrm rot="19140000">
            <a:off x="1216152" y="1851228"/>
            <a:ext cx="6510528" cy="246888"/>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smtClean="0"/>
              <a:t>Click to edit Master text styles</a:t>
            </a:r>
          </a:p>
        </p:txBody>
      </p:sp>
      <p:sp>
        <p:nvSpPr>
          <p:cNvPr id="4" name="Date Placeholder 3"/>
          <p:cNvSpPr>
            <a:spLocks noGrp="1"/>
          </p:cNvSpPr>
          <p:nvPr>
            <p:ph type="dt" sz="half" idx="10"/>
          </p:nvPr>
        </p:nvSpPr>
        <p:spPr/>
        <p:txBody>
          <a:bodyPr/>
          <a:lstStyle/>
          <a:p>
            <a:fld id="{BB27BC82-C612-494C-9B3B-987147AACF1B}" type="datetimeFigureOut">
              <a:rPr lang="en-IN" smtClean="0"/>
              <a:t>03-09-2025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latin typeface="Arial"/>
              <a:ea typeface="Arial"/>
              <a:cs typeface="Arial"/>
              <a:sym typeface="Arial"/>
            </a:endParaRPr>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822960"/>
            <a:ext cx="3200400" cy="278434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00016" y="822960"/>
            <a:ext cx="3200400" cy="278434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B27BC82-C612-494C-9B3B-987147AACF1B}" type="datetimeFigureOut">
              <a:rPr lang="en-IN" smtClean="0"/>
              <a:t>03-09-2025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latin typeface="Arial"/>
              <a:ea typeface="Arial"/>
              <a:cs typeface="Arial"/>
              <a:sym typeface="Arial"/>
            </a:endParaRPr>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822960" y="822960"/>
            <a:ext cx="3200400" cy="41148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4" name="Content Placeholder 3"/>
          <p:cNvSpPr>
            <a:spLocks noGrp="1"/>
          </p:cNvSpPr>
          <p:nvPr>
            <p:ph sz="half" idx="2"/>
          </p:nvPr>
        </p:nvSpPr>
        <p:spPr>
          <a:xfrm>
            <a:off x="819150" y="1276386"/>
            <a:ext cx="3200400" cy="233172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00016" y="822960"/>
            <a:ext cx="3200400" cy="41148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6" name="Content Placeholder 5"/>
          <p:cNvSpPr>
            <a:spLocks noGrp="1"/>
          </p:cNvSpPr>
          <p:nvPr>
            <p:ph sz="quarter" idx="4"/>
          </p:nvPr>
        </p:nvSpPr>
        <p:spPr>
          <a:xfrm>
            <a:off x="4700016" y="1276386"/>
            <a:ext cx="3200400" cy="233172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B27BC82-C612-494C-9B3B-987147AACF1B}" type="datetimeFigureOut">
              <a:rPr lang="en-IN" smtClean="0"/>
              <a:t>03-09-2025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latin typeface="Arial"/>
              <a:ea typeface="Arial"/>
              <a:cs typeface="Arial"/>
              <a:sym typeface="Arial"/>
            </a:endParaRPr>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B27BC82-C612-494C-9B3B-987147AACF1B}" type="datetimeFigureOut">
              <a:rPr lang="en-IN" smtClean="0"/>
              <a:t>03-09-2025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latin typeface="Arial"/>
              <a:ea typeface="Arial"/>
              <a:cs typeface="Arial"/>
              <a:sym typeface="Arial"/>
            </a:endParaRPr>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27BC82-C612-494C-9B3B-987147AACF1B}" type="datetimeFigureOut">
              <a:rPr lang="en-IN" smtClean="0"/>
              <a:t>03-09-2025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Right Triangle 16"/>
          <p:cNvSpPr/>
          <p:nvPr/>
        </p:nvSpPr>
        <p:spPr>
          <a:xfrm>
            <a:off x="1" y="1985962"/>
            <a:ext cx="3571875" cy="3157538"/>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1290639" y="-1290638"/>
            <a:ext cx="51435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182078"/>
            <a:ext cx="5212080" cy="817070"/>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US" dirty="0"/>
          </a:p>
        </p:txBody>
      </p:sp>
      <p:sp>
        <p:nvSpPr>
          <p:cNvPr id="3" name="Content Placeholder 2"/>
          <p:cNvSpPr>
            <a:spLocks noGrp="1"/>
          </p:cNvSpPr>
          <p:nvPr>
            <p:ph idx="1"/>
          </p:nvPr>
        </p:nvSpPr>
        <p:spPr>
          <a:xfrm>
            <a:off x="4749553" y="1964184"/>
            <a:ext cx="3807779" cy="249351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rot="19140000">
            <a:off x="1297954" y="1690039"/>
            <a:ext cx="5794760" cy="467486"/>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en-US" smtClean="0"/>
              <a:t>Click to edit Master text styles</a:t>
            </a:r>
          </a:p>
        </p:txBody>
      </p:sp>
      <p:sp>
        <p:nvSpPr>
          <p:cNvPr id="5" name="Date Placeholder 4"/>
          <p:cNvSpPr>
            <a:spLocks noGrp="1"/>
          </p:cNvSpPr>
          <p:nvPr>
            <p:ph type="dt" sz="half" idx="10"/>
          </p:nvPr>
        </p:nvSpPr>
        <p:spPr/>
        <p:txBody>
          <a:bodyPr/>
          <a:lstStyle/>
          <a:p>
            <a:fld id="{BB27BC82-C612-494C-9B3B-987147AACF1B}" type="datetimeFigureOut">
              <a:rPr lang="en-IN" smtClean="0"/>
              <a:t>03-09-2025</a:t>
            </a:fld>
            <a:endParaRPr lang="en-IN"/>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IN"/>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US" smtClean="0"/>
              <a:t>‹#›</a:t>
            </a:fld>
            <a:endParaRPr lang="en-US" sz="1400">
              <a:solidFill>
                <a:srgbClr val="000000"/>
              </a:solidFill>
              <a:latin typeface="Arial"/>
              <a:ea typeface="Arial"/>
              <a:cs typeface="Arial"/>
              <a:sym typeface="Arial"/>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6" y="0"/>
            <a:ext cx="7115175" cy="51435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en-US" smtClean="0"/>
              <a:t>Click icon to add picture</a:t>
            </a:r>
            <a:endParaRPr lang="en-US" dirty="0"/>
          </a:p>
        </p:txBody>
      </p:sp>
      <p:sp>
        <p:nvSpPr>
          <p:cNvPr id="9" name="Right Triangle 8"/>
          <p:cNvSpPr/>
          <p:nvPr/>
        </p:nvSpPr>
        <p:spPr>
          <a:xfrm>
            <a:off x="1" y="1985962"/>
            <a:ext cx="3571875" cy="3157538"/>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1" y="3786187"/>
            <a:ext cx="3571875" cy="1357313"/>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288126"/>
            <a:ext cx="5486400" cy="650583"/>
          </a:xfrm>
        </p:spPr>
        <p:txBody>
          <a:bodyPr anchor="b"/>
          <a:lstStyle>
            <a:lvl1pPr algn="l">
              <a:defRPr sz="2800" b="0">
                <a:latin typeface="+mj-lt"/>
              </a:defRPr>
            </a:lvl1pPr>
          </a:lstStyle>
          <a:p>
            <a:r>
              <a:rPr lang="en-US" smtClean="0"/>
              <a:t>Click to edit Master title style</a:t>
            </a:r>
            <a:endParaRPr lang="en-US" dirty="0"/>
          </a:p>
        </p:txBody>
      </p:sp>
      <p:sp>
        <p:nvSpPr>
          <p:cNvPr id="4" name="Text Placeholder 3"/>
          <p:cNvSpPr>
            <a:spLocks noGrp="1"/>
          </p:cNvSpPr>
          <p:nvPr>
            <p:ph type="body" sz="half" idx="2"/>
          </p:nvPr>
        </p:nvSpPr>
        <p:spPr>
          <a:xfrm rot="19140000">
            <a:off x="1143480" y="1635397"/>
            <a:ext cx="6096545" cy="555498"/>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B27BC82-C612-494C-9B3B-987147AACF1B}" type="datetimeFigureOut">
              <a:rPr lang="en-IN" smtClean="0"/>
              <a:t>03-09-2025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latin typeface="Arial"/>
              <a:ea typeface="Arial"/>
              <a:cs typeface="Arial"/>
              <a:sym typeface="Arial"/>
            </a:endParaRPr>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B27BC82-C612-494C-9B3B-987147AACF1B}" type="datetimeFigureOut">
              <a:rPr lang="en-IN" smtClean="0"/>
              <a:t>03-09-2025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latin typeface="Arial"/>
              <a:ea typeface="Arial"/>
              <a:cs typeface="Arial"/>
              <a:sym typeface="Arial"/>
            </a:endParaRPr>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350877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05979"/>
            <a:ext cx="6019800" cy="350877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B27BC82-C612-494C-9B3B-987147AACF1B}" type="datetimeFigureOut">
              <a:rPr lang="en-IN" smtClean="0"/>
              <a:t>03-09-2025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sz="1400">
              <a:solidFill>
                <a:srgbClr val="000000"/>
              </a:solidFill>
              <a:latin typeface="Arial"/>
              <a:ea typeface="Arial"/>
              <a:cs typeface="Arial"/>
              <a:sym typeface="Arial"/>
            </a:endParaRPr>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22"/>
        <p:cNvGrpSpPr/>
        <p:nvPr/>
      </p:nvGrpSpPr>
      <p:grpSpPr>
        <a:xfrm>
          <a:off x="0" y="0"/>
          <a:ext cx="0" cy="0"/>
          <a:chOff x="0" y="0"/>
          <a:chExt cx="0" cy="0"/>
        </a:xfrm>
      </p:grpSpPr>
      <p:sp>
        <p:nvSpPr>
          <p:cNvPr id="23" name="Google Shape;23;p17"/>
          <p:cNvSpPr txBox="1">
            <a:spLocks noGrp="1"/>
          </p:cNvSpPr>
          <p:nvPr>
            <p:ph type="title"/>
          </p:nvPr>
        </p:nvSpPr>
        <p:spPr>
          <a:xfrm>
            <a:off x="460950" y="2065350"/>
            <a:ext cx="8222100" cy="1012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24" name="Google Shape;24;p17"/>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solidFill>
                <a:schemeClr val="lt2"/>
              </a:solidFill>
            </a:endParaRPr>
          </a:p>
        </p:txBody>
      </p:sp>
    </p:spTree>
    <p:extLst>
      <p:ext uri="{BB962C8B-B14F-4D97-AF65-F5344CB8AC3E}">
        <p14:creationId xmlns:p14="http://schemas.microsoft.com/office/powerpoint/2010/main" val="5397689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32"/>
        <p:cNvGrpSpPr/>
        <p:nvPr/>
      </p:nvGrpSpPr>
      <p:grpSpPr>
        <a:xfrm>
          <a:off x="0" y="0"/>
          <a:ext cx="0" cy="0"/>
          <a:chOff x="0" y="0"/>
          <a:chExt cx="0" cy="0"/>
        </a:xfrm>
      </p:grpSpPr>
      <p:sp>
        <p:nvSpPr>
          <p:cNvPr id="35" name="Google Shape;35;p18"/>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36" name="Google Shape;36;p18"/>
          <p:cNvSpPr txBox="1">
            <a:spLocks noGrp="1"/>
          </p:cNvSpPr>
          <p:nvPr>
            <p:ph type="body" idx="1"/>
          </p:nvPr>
        </p:nvSpPr>
        <p:spPr>
          <a:xfrm>
            <a:off x="471900" y="1919075"/>
            <a:ext cx="8222100" cy="27102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37" name="Google Shape;37;p18"/>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5689260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15"/>
        <p:cNvGrpSpPr/>
        <p:nvPr/>
      </p:nvGrpSpPr>
      <p:grpSpPr>
        <a:xfrm>
          <a:off x="0" y="0"/>
          <a:ext cx="0" cy="0"/>
          <a:chOff x="0" y="0"/>
          <a:chExt cx="0" cy="0"/>
        </a:xfrm>
      </p:grpSpPr>
      <p:sp>
        <p:nvSpPr>
          <p:cNvPr id="18" name="Google Shape;18;p27"/>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19" name="Google Shape;19;p27"/>
          <p:cNvSpPr txBox="1">
            <a:spLocks noGrp="1"/>
          </p:cNvSpPr>
          <p:nvPr>
            <p:ph type="body" idx="1"/>
          </p:nvPr>
        </p:nvSpPr>
        <p:spPr>
          <a:xfrm>
            <a:off x="471900" y="1919075"/>
            <a:ext cx="3999900" cy="27102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0" name="Google Shape;20;p27"/>
          <p:cNvSpPr txBox="1">
            <a:spLocks noGrp="1"/>
          </p:cNvSpPr>
          <p:nvPr>
            <p:ph type="body" idx="2"/>
          </p:nvPr>
        </p:nvSpPr>
        <p:spPr>
          <a:xfrm>
            <a:off x="4694250" y="1919075"/>
            <a:ext cx="3999900" cy="27102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1" name="Google Shape;21;p27"/>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6057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3787975"/>
            <a:ext cx="3574257" cy="1355526"/>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3788469"/>
            <a:ext cx="9146380" cy="1355032"/>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274320"/>
            <a:ext cx="7520940" cy="41148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22960" y="825471"/>
            <a:ext cx="7520940" cy="268488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19140000">
            <a:off x="201168" y="4402836"/>
            <a:ext cx="2176272" cy="150876"/>
          </a:xfrm>
          <a:prstGeom prst="rect">
            <a:avLst/>
          </a:prstGeom>
        </p:spPr>
        <p:txBody>
          <a:bodyPr vert="horz" lIns="91440" tIns="45720" rIns="91440" bIns="45720" rtlCol="0" anchor="ctr"/>
          <a:lstStyle>
            <a:lvl1pPr algn="l">
              <a:defRPr sz="1200">
                <a:solidFill>
                  <a:srgbClr val="FFFFFF"/>
                </a:solidFill>
              </a:defRPr>
            </a:lvl1pPr>
          </a:lstStyle>
          <a:p>
            <a:fld id="{BB27BC82-C612-494C-9B3B-987147AACF1B}" type="datetimeFigureOut">
              <a:rPr lang="en-IN" smtClean="0"/>
              <a:t>03-09-2025</a:t>
            </a:fld>
            <a:endParaRPr lang="en-IN"/>
          </a:p>
        </p:txBody>
      </p:sp>
      <p:sp>
        <p:nvSpPr>
          <p:cNvPr id="5" name="Footer Placeholder 4"/>
          <p:cNvSpPr>
            <a:spLocks noGrp="1"/>
          </p:cNvSpPr>
          <p:nvPr>
            <p:ph type="ftr" sz="quarter" idx="3"/>
          </p:nvPr>
        </p:nvSpPr>
        <p:spPr>
          <a:xfrm>
            <a:off x="3517514" y="4713842"/>
            <a:ext cx="4724400" cy="20574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en-IN"/>
          </a:p>
        </p:txBody>
      </p:sp>
      <p:sp>
        <p:nvSpPr>
          <p:cNvPr id="6" name="Slide Number Placeholder 5"/>
          <p:cNvSpPr>
            <a:spLocks noGrp="1"/>
          </p:cNvSpPr>
          <p:nvPr>
            <p:ph type="sldNum" sz="quarter" idx="4"/>
          </p:nvPr>
        </p:nvSpPr>
        <p:spPr>
          <a:xfrm>
            <a:off x="8401038" y="4628117"/>
            <a:ext cx="502920" cy="37719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pPr marL="0" lvl="0" indent="0" algn="r" rtl="0">
              <a:spcBef>
                <a:spcPts val="0"/>
              </a:spcBef>
              <a:spcAft>
                <a:spcPts val="0"/>
              </a:spcAft>
              <a:buNone/>
            </a:pPr>
            <a:fld id="{00000000-1234-1234-1234-123412341234}" type="slidenum">
              <a:rPr lang="en-US" smtClean="0"/>
              <a:t>‹#›</a:t>
            </a:fld>
            <a:endParaRPr lang="en-US" sz="1400">
              <a:solidFill>
                <a:srgbClr val="000000"/>
              </a:solidFill>
              <a:latin typeface="Arial"/>
              <a:ea typeface="Arial"/>
              <a:cs typeface="Arial"/>
              <a:sym typeface="Arial"/>
            </a:endParaRPr>
          </a:p>
        </p:txBody>
      </p:sp>
    </p:spTree>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Lst>
  <p:hf sldNum="0" hdr="0" ftr="0" dt="0"/>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
          <p:cNvSpPr txBox="1">
            <a:spLocks noGrp="1"/>
          </p:cNvSpPr>
          <p:nvPr>
            <p:ph type="ctrTitle"/>
          </p:nvPr>
        </p:nvSpPr>
        <p:spPr>
          <a:xfrm>
            <a:off x="866216" y="280555"/>
            <a:ext cx="6619244" cy="2213263"/>
          </a:xfrm>
          <a:prstGeom prst="rect">
            <a:avLst/>
          </a:prstGeom>
          <a:noFill/>
          <a:ln>
            <a:noFill/>
          </a:ln>
        </p:spPr>
        <p:txBody>
          <a:bodyPr spcFirstLastPara="1" wrap="square" lIns="91425" tIns="91425" rIns="91425" bIns="91425" anchor="b" anchorCtr="0">
            <a:noAutofit/>
          </a:bodyPr>
          <a:lstStyle/>
          <a:p>
            <a:pPr marL="0" lvl="0" indent="0" rtl="0">
              <a:lnSpc>
                <a:spcPct val="100000"/>
              </a:lnSpc>
              <a:spcBef>
                <a:spcPts val="0"/>
              </a:spcBef>
              <a:spcAft>
                <a:spcPts val="0"/>
              </a:spcAft>
              <a:buSzPts val="4800"/>
              <a:buNone/>
            </a:pP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endParaRPr sz="2400" dirty="0">
              <a:latin typeface="Times New Roman" panose="02020603050405020304" pitchFamily="18" charset="0"/>
              <a:cs typeface="Times New Roman" panose="02020603050405020304" pitchFamily="18" charset="0"/>
            </a:endParaRPr>
          </a:p>
        </p:txBody>
      </p:sp>
      <p:sp>
        <p:nvSpPr>
          <p:cNvPr id="119" name="Google Shape;119;p1"/>
          <p:cNvSpPr txBox="1">
            <a:spLocks noGrp="1"/>
          </p:cNvSpPr>
          <p:nvPr>
            <p:ph type="subTitle" idx="1"/>
          </p:nvPr>
        </p:nvSpPr>
        <p:spPr>
          <a:xfrm>
            <a:off x="390525" y="1610591"/>
            <a:ext cx="8306666" cy="2857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800"/>
              <a:buNone/>
            </a:pPr>
            <a:endParaRPr dirty="0"/>
          </a:p>
          <a:p>
            <a:pPr marL="0" lvl="0" indent="0" algn="l" rtl="0">
              <a:lnSpc>
                <a:spcPct val="100000"/>
              </a:lnSpc>
              <a:spcBef>
                <a:spcPts val="0"/>
              </a:spcBef>
              <a:spcAft>
                <a:spcPts val="0"/>
              </a:spcAft>
              <a:buSzPts val="1800"/>
              <a:buNone/>
            </a:pPr>
            <a:endParaRPr lang="en-US" dirty="0"/>
          </a:p>
          <a:p>
            <a:pPr marL="0" lvl="0" indent="0" algn="ctr" rtl="0">
              <a:lnSpc>
                <a:spcPct val="100000"/>
              </a:lnSpc>
              <a:spcBef>
                <a:spcPts val="0"/>
              </a:spcBef>
              <a:spcAft>
                <a:spcPts val="0"/>
              </a:spcAft>
              <a:buSzPts val="1800"/>
              <a:buNone/>
            </a:pPr>
            <a:r>
              <a:rPr lang="en-US" sz="4000" dirty="0">
                <a:latin typeface="Times New Roman" panose="02020603050405020304" pitchFamily="18" charset="0"/>
                <a:cs typeface="Times New Roman" panose="02020603050405020304" pitchFamily="18" charset="0"/>
              </a:rPr>
              <a:t>HU150: Professional Communication</a:t>
            </a:r>
          </a:p>
          <a:p>
            <a:pPr marL="0" lvl="0" indent="0" algn="ctr" rtl="0">
              <a:lnSpc>
                <a:spcPct val="100000"/>
              </a:lnSpc>
              <a:spcBef>
                <a:spcPts val="0"/>
              </a:spcBef>
              <a:spcAft>
                <a:spcPts val="0"/>
              </a:spcAft>
              <a:buSzPts val="1800"/>
              <a:buNone/>
            </a:pPr>
            <a:endParaRPr lang="en-US" sz="4000" dirty="0">
              <a:latin typeface="Times New Roman" panose="02020603050405020304" pitchFamily="18" charset="0"/>
              <a:cs typeface="Times New Roman" panose="02020603050405020304" pitchFamily="18" charset="0"/>
            </a:endParaRPr>
          </a:p>
          <a:p>
            <a:pPr marL="0" lvl="0" indent="0" algn="ctr" rtl="0">
              <a:lnSpc>
                <a:spcPct val="100000"/>
              </a:lnSpc>
              <a:spcBef>
                <a:spcPts val="0"/>
              </a:spcBef>
              <a:spcAft>
                <a:spcPts val="0"/>
              </a:spcAft>
              <a:buSzPts val="1800"/>
              <a:buNone/>
            </a:pPr>
            <a:r>
              <a:rPr lang="en-US" sz="2400" dirty="0" err="1">
                <a:latin typeface="Times New Roman" panose="02020603050405020304" pitchFamily="18" charset="0"/>
                <a:cs typeface="Times New Roman" panose="02020603050405020304" pitchFamily="18" charset="0"/>
              </a:rPr>
              <a:t>Dr.unais</a:t>
            </a:r>
            <a:r>
              <a:rPr lang="en-US" sz="2400" dirty="0">
                <a:latin typeface="Times New Roman" panose="02020603050405020304" pitchFamily="18" charset="0"/>
                <a:cs typeface="Times New Roman" panose="02020603050405020304" pitchFamily="18" charset="0"/>
              </a:rPr>
              <a:t> kt</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3"/>
          <p:cNvSpPr txBox="1">
            <a:spLocks noGrp="1"/>
          </p:cNvSpPr>
          <p:nvPr>
            <p:ph type="title"/>
          </p:nvPr>
        </p:nvSpPr>
        <p:spPr>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200"/>
              <a:buNone/>
            </a:pPr>
            <a:r>
              <a:rPr lang="en-US" dirty="0">
                <a:latin typeface="Times New Roman" panose="02020603050405020304" pitchFamily="18" charset="0"/>
                <a:cs typeface="Times New Roman" panose="02020603050405020304" pitchFamily="18" charset="0"/>
              </a:rPr>
              <a:t>Unit 1: </a:t>
            </a:r>
            <a:r>
              <a:rPr lang="en-US" sz="4400" dirty="0">
                <a:latin typeface="Times New Roman" panose="02020603050405020304" pitchFamily="18" charset="0"/>
                <a:cs typeface="Times New Roman" panose="02020603050405020304" pitchFamily="18" charset="0"/>
              </a:rPr>
              <a:t>Principals of Professional Communication</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pic>
        <p:nvPicPr>
          <p:cNvPr id="135" name="Google Shape;135;g124bcd55b69_0_21"/>
          <p:cNvPicPr preferRelativeResize="0"/>
          <p:nvPr/>
        </p:nvPicPr>
        <p:blipFill rotWithShape="1">
          <a:blip r:embed="rId3">
            <a:alphaModFix/>
          </a:blip>
          <a:srcRect/>
          <a:stretch/>
        </p:blipFill>
        <p:spPr>
          <a:xfrm>
            <a:off x="2166938" y="729850"/>
            <a:ext cx="4810125" cy="3457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g124bcd55b69_0_16"/>
          <p:cNvPicPr preferRelativeResize="0"/>
          <p:nvPr/>
        </p:nvPicPr>
        <p:blipFill rotWithShape="1">
          <a:blip r:embed="rId3">
            <a:alphaModFix/>
          </a:blip>
          <a:srcRect/>
          <a:stretch/>
        </p:blipFill>
        <p:spPr>
          <a:xfrm>
            <a:off x="1759275" y="675438"/>
            <a:ext cx="5438950" cy="392692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pic>
        <p:nvPicPr>
          <p:cNvPr id="145" name="Google Shape;145;g124bcd55b69_0_25"/>
          <p:cNvPicPr preferRelativeResize="0"/>
          <p:nvPr/>
        </p:nvPicPr>
        <p:blipFill rotWithShape="1">
          <a:blip r:embed="rId3">
            <a:alphaModFix/>
          </a:blip>
          <a:srcRect/>
          <a:stretch/>
        </p:blipFill>
        <p:spPr>
          <a:xfrm>
            <a:off x="1907000" y="703025"/>
            <a:ext cx="5546375" cy="3769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pic>
        <p:nvPicPr>
          <p:cNvPr id="155" name="Google Shape;155;g124bcd55b69_0_142"/>
          <p:cNvPicPr preferRelativeResize="0"/>
          <p:nvPr/>
        </p:nvPicPr>
        <p:blipFill rotWithShape="1">
          <a:blip r:embed="rId3">
            <a:alphaModFix/>
          </a:blip>
          <a:srcRect/>
          <a:stretch/>
        </p:blipFill>
        <p:spPr>
          <a:xfrm>
            <a:off x="2045975" y="689600"/>
            <a:ext cx="4752975" cy="34480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pic>
        <p:nvPicPr>
          <p:cNvPr id="160" name="Google Shape;160;g124bcd55b69_0_147"/>
          <p:cNvPicPr preferRelativeResize="0"/>
          <p:nvPr/>
        </p:nvPicPr>
        <p:blipFill rotWithShape="1">
          <a:blip r:embed="rId3">
            <a:alphaModFix/>
          </a:blip>
          <a:srcRect/>
          <a:stretch/>
        </p:blipFill>
        <p:spPr>
          <a:xfrm>
            <a:off x="0" y="673125"/>
            <a:ext cx="4733925" cy="3448050"/>
          </a:xfrm>
          <a:prstGeom prst="rect">
            <a:avLst/>
          </a:prstGeom>
          <a:noFill/>
          <a:ln>
            <a:noFill/>
          </a:ln>
        </p:spPr>
      </p:pic>
      <p:pic>
        <p:nvPicPr>
          <p:cNvPr id="161" name="Google Shape;161;g124bcd55b69_0_147"/>
          <p:cNvPicPr preferRelativeResize="0"/>
          <p:nvPr/>
        </p:nvPicPr>
        <p:blipFill rotWithShape="1">
          <a:blip r:embed="rId4">
            <a:alphaModFix/>
          </a:blip>
          <a:srcRect/>
          <a:stretch/>
        </p:blipFill>
        <p:spPr>
          <a:xfrm>
            <a:off x="4814500" y="814813"/>
            <a:ext cx="4105275" cy="3164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pic>
        <p:nvPicPr>
          <p:cNvPr id="166" name="Google Shape;166;g124bcd55b69_0_153"/>
          <p:cNvPicPr preferRelativeResize="0"/>
          <p:nvPr/>
        </p:nvPicPr>
        <p:blipFill rotWithShape="1">
          <a:blip r:embed="rId3">
            <a:alphaModFix/>
          </a:blip>
          <a:srcRect/>
          <a:stretch/>
        </p:blipFill>
        <p:spPr>
          <a:xfrm>
            <a:off x="1750525" y="676150"/>
            <a:ext cx="4705350" cy="34099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pic>
        <p:nvPicPr>
          <p:cNvPr id="171" name="Google Shape;171;g124bcd55b69_0_158"/>
          <p:cNvPicPr preferRelativeResize="0"/>
          <p:nvPr/>
        </p:nvPicPr>
        <p:blipFill rotWithShape="1">
          <a:blip r:embed="rId3">
            <a:alphaModFix/>
          </a:blip>
          <a:srcRect/>
          <a:stretch/>
        </p:blipFill>
        <p:spPr>
          <a:xfrm>
            <a:off x="1602775" y="635850"/>
            <a:ext cx="4810125" cy="37052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g124bcd55b69_0_163"/>
          <p:cNvPicPr preferRelativeResize="0"/>
          <p:nvPr/>
        </p:nvPicPr>
        <p:blipFill rotWithShape="1">
          <a:blip r:embed="rId3">
            <a:alphaModFix/>
          </a:blip>
          <a:srcRect/>
          <a:stretch/>
        </p:blipFill>
        <p:spPr>
          <a:xfrm>
            <a:off x="1656500" y="662725"/>
            <a:ext cx="4819650" cy="32670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5"/>
          <p:cNvSpPr txBox="1">
            <a:spLocks noGrp="1"/>
          </p:cNvSpPr>
          <p:nvPr>
            <p:ph type="title"/>
          </p:nvPr>
        </p:nvSpPr>
        <p:spPr>
          <a:xfrm>
            <a:off x="747100" y="790200"/>
            <a:ext cx="7947000" cy="6897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3200"/>
              <a:buNone/>
            </a:pPr>
            <a:r>
              <a:rPr lang="en-US" dirty="0">
                <a:highlight>
                  <a:srgbClr val="FF0000"/>
                </a:highlight>
                <a:latin typeface="Times New Roman" panose="02020603050405020304" pitchFamily="18" charset="0"/>
                <a:cs typeface="Times New Roman" panose="02020603050405020304" pitchFamily="18" charset="0"/>
              </a:rPr>
              <a:t>Origin, Definition and Meaning</a:t>
            </a:r>
            <a:endParaRPr dirty="0">
              <a:highlight>
                <a:srgbClr val="FF0000"/>
              </a:highlight>
              <a:latin typeface="Times New Roman" panose="02020603050405020304" pitchFamily="18" charset="0"/>
              <a:cs typeface="Times New Roman" panose="02020603050405020304" pitchFamily="18" charset="0"/>
            </a:endParaRPr>
          </a:p>
        </p:txBody>
      </p:sp>
      <p:sp>
        <p:nvSpPr>
          <p:cNvPr id="188" name="Google Shape;188;p5"/>
          <p:cNvSpPr txBox="1">
            <a:spLocks noGrp="1"/>
          </p:cNvSpPr>
          <p:nvPr>
            <p:ph type="body" idx="1"/>
          </p:nvPr>
        </p:nvSpPr>
        <p:spPr>
          <a:xfrm rot="8906">
            <a:off x="586147" y="1479827"/>
            <a:ext cx="8222128" cy="3455878"/>
          </a:xfrm>
          <a:prstGeom prst="rect">
            <a:avLst/>
          </a:prstGeom>
          <a:noFill/>
          <a:ln>
            <a:noFill/>
          </a:ln>
        </p:spPr>
        <p:txBody>
          <a:bodyPr spcFirstLastPara="1" wrap="square" lIns="91425" tIns="91425" rIns="91425" bIns="91425" anchor="t" anchorCtr="0">
            <a:noAutofit/>
          </a:bodyPr>
          <a:lstStyle/>
          <a:p>
            <a:pPr marL="457200" lvl="0" indent="-317500" algn="just" rtl="0">
              <a:lnSpc>
                <a:spcPct val="115000"/>
              </a:lnSpc>
              <a:spcBef>
                <a:spcPts val="0"/>
              </a:spcBef>
              <a:spcAft>
                <a:spcPts val="0"/>
              </a:spcAft>
              <a:buSzPts val="1400"/>
              <a:buChar char="●"/>
            </a:pPr>
            <a:r>
              <a:rPr lang="en-US" sz="1400" dirty="0">
                <a:latin typeface="Times New Roman" panose="02020603050405020304" pitchFamily="18" charset="0"/>
                <a:cs typeface="Times New Roman" panose="02020603050405020304" pitchFamily="18" charset="0"/>
              </a:rPr>
              <a:t>Origin- comes from the Latin word '</a:t>
            </a:r>
            <a:r>
              <a:rPr lang="en-US" sz="1400" dirty="0" err="1">
                <a:latin typeface="Times New Roman" panose="02020603050405020304" pitchFamily="18" charset="0"/>
                <a:cs typeface="Times New Roman" panose="02020603050405020304" pitchFamily="18" charset="0"/>
              </a:rPr>
              <a:t>communicare</a:t>
            </a:r>
            <a:r>
              <a:rPr lang="en-US" sz="1400" dirty="0">
                <a:latin typeface="Times New Roman" panose="02020603050405020304" pitchFamily="18" charset="0"/>
                <a:cs typeface="Times New Roman" panose="02020603050405020304" pitchFamily="18" charset="0"/>
              </a:rPr>
              <a:t>' or '</a:t>
            </a:r>
            <a:r>
              <a:rPr lang="en-US" sz="1400" dirty="0" err="1">
                <a:latin typeface="Times New Roman" panose="02020603050405020304" pitchFamily="18" charset="0"/>
                <a:cs typeface="Times New Roman" panose="02020603050405020304" pitchFamily="18" charset="0"/>
              </a:rPr>
              <a:t>communico</a:t>
            </a:r>
            <a:r>
              <a:rPr lang="en-US" sz="1400" dirty="0">
                <a:latin typeface="Times New Roman" panose="02020603050405020304" pitchFamily="18" charset="0"/>
                <a:cs typeface="Times New Roman" panose="02020603050405020304" pitchFamily="18" charset="0"/>
              </a:rPr>
              <a:t>' which means 'to share' or 'to make known '.</a:t>
            </a:r>
            <a:endParaRPr sz="1400" dirty="0">
              <a:latin typeface="Times New Roman" panose="02020603050405020304" pitchFamily="18" charset="0"/>
              <a:cs typeface="Times New Roman" panose="02020603050405020304" pitchFamily="18" charset="0"/>
            </a:endParaRPr>
          </a:p>
          <a:p>
            <a:pPr marL="457200" lvl="0" indent="0" algn="just" rtl="0">
              <a:lnSpc>
                <a:spcPct val="115000"/>
              </a:lnSpc>
              <a:spcBef>
                <a:spcPts val="0"/>
              </a:spcBef>
              <a:spcAft>
                <a:spcPts val="0"/>
              </a:spcAft>
              <a:buSzPts val="1800"/>
              <a:buNone/>
            </a:pPr>
            <a:endParaRPr sz="1400" dirty="0">
              <a:latin typeface="Times New Roman" panose="02020603050405020304" pitchFamily="18" charset="0"/>
              <a:cs typeface="Times New Roman" panose="02020603050405020304" pitchFamily="18" charset="0"/>
            </a:endParaRPr>
          </a:p>
          <a:p>
            <a:pPr marL="457200" lvl="0" indent="-317500" algn="just" rtl="0">
              <a:lnSpc>
                <a:spcPct val="115000"/>
              </a:lnSpc>
              <a:spcBef>
                <a:spcPts val="0"/>
              </a:spcBef>
              <a:spcAft>
                <a:spcPts val="0"/>
              </a:spcAft>
              <a:buSzPts val="1400"/>
              <a:buChar char="●"/>
            </a:pPr>
            <a:r>
              <a:rPr lang="en-US" sz="1400" dirty="0">
                <a:latin typeface="Times New Roman" panose="02020603050405020304" pitchFamily="18" charset="0"/>
                <a:cs typeface="Times New Roman" panose="02020603050405020304" pitchFamily="18" charset="0"/>
              </a:rPr>
              <a:t>Definition- “Communication is  an exchange of facts , ideas, opinions or emotions by two or more persons”. - </a:t>
            </a:r>
            <a:r>
              <a:rPr lang="en-US" sz="1400" i="1" dirty="0">
                <a:latin typeface="Times New Roman" panose="02020603050405020304" pitchFamily="18" charset="0"/>
                <a:cs typeface="Times New Roman" panose="02020603050405020304" pitchFamily="18" charset="0"/>
              </a:rPr>
              <a:t>William Newman &amp; Charles Summer</a:t>
            </a:r>
            <a:endParaRPr sz="1400" i="1" dirty="0">
              <a:latin typeface="Times New Roman" panose="02020603050405020304" pitchFamily="18" charset="0"/>
              <a:cs typeface="Times New Roman" panose="02020603050405020304" pitchFamily="18" charset="0"/>
            </a:endParaRPr>
          </a:p>
          <a:p>
            <a:pPr marL="457200" lvl="0" indent="0" algn="just" rtl="0">
              <a:lnSpc>
                <a:spcPct val="115000"/>
              </a:lnSpc>
              <a:spcBef>
                <a:spcPts val="0"/>
              </a:spcBef>
              <a:spcAft>
                <a:spcPts val="0"/>
              </a:spcAft>
              <a:buSzPts val="1800"/>
              <a:buNone/>
            </a:pPr>
            <a:endParaRPr sz="1400" i="1" dirty="0">
              <a:latin typeface="Times New Roman" panose="02020603050405020304" pitchFamily="18" charset="0"/>
              <a:cs typeface="Times New Roman" panose="02020603050405020304" pitchFamily="18" charset="0"/>
            </a:endParaRPr>
          </a:p>
          <a:p>
            <a:pPr marL="457200" lvl="0" indent="-317500" algn="just" rtl="0">
              <a:lnSpc>
                <a:spcPct val="115000"/>
              </a:lnSpc>
              <a:spcBef>
                <a:spcPts val="0"/>
              </a:spcBef>
              <a:spcAft>
                <a:spcPts val="0"/>
              </a:spcAft>
              <a:buSzPts val="1400"/>
              <a:buChar char="●"/>
            </a:pPr>
            <a:r>
              <a:rPr lang="en-US" sz="1400" dirty="0">
                <a:latin typeface="Times New Roman" panose="02020603050405020304" pitchFamily="18" charset="0"/>
                <a:cs typeface="Times New Roman" panose="02020603050405020304" pitchFamily="18" charset="0"/>
              </a:rPr>
              <a:t>“Communication is the process by which information is transmitted between individuals and/or </a:t>
            </a:r>
            <a:r>
              <a:rPr lang="en-US" sz="1400" dirty="0" err="1">
                <a:latin typeface="Times New Roman" panose="02020603050405020304" pitchFamily="18" charset="0"/>
                <a:cs typeface="Times New Roman" panose="02020603050405020304" pitchFamily="18" charset="0"/>
              </a:rPr>
              <a:t>organisations</a:t>
            </a:r>
            <a:r>
              <a:rPr lang="en-US" sz="1400" dirty="0">
                <a:latin typeface="Times New Roman" panose="02020603050405020304" pitchFamily="18" charset="0"/>
                <a:cs typeface="Times New Roman" panose="02020603050405020304" pitchFamily="18" charset="0"/>
              </a:rPr>
              <a:t> so that an understandable response results”. - </a:t>
            </a:r>
            <a:r>
              <a:rPr lang="en-US" sz="1400" i="1" dirty="0">
                <a:latin typeface="Times New Roman" panose="02020603050405020304" pitchFamily="18" charset="0"/>
                <a:cs typeface="Times New Roman" panose="02020603050405020304" pitchFamily="18" charset="0"/>
              </a:rPr>
              <a:t>Peter Little.</a:t>
            </a:r>
            <a:r>
              <a:rPr lang="en-US" sz="1400" dirty="0">
                <a:latin typeface="Times New Roman" panose="02020603050405020304" pitchFamily="18" charset="0"/>
                <a:cs typeface="Times New Roman" panose="02020603050405020304" pitchFamily="18" charset="0"/>
              </a:rPr>
              <a:t>  </a:t>
            </a:r>
            <a:endParaRPr sz="1400" dirty="0">
              <a:latin typeface="Times New Roman" panose="02020603050405020304" pitchFamily="18" charset="0"/>
              <a:cs typeface="Times New Roman" panose="02020603050405020304" pitchFamily="18" charset="0"/>
            </a:endParaRPr>
          </a:p>
          <a:p>
            <a:pPr marL="457200" lvl="0" indent="0" algn="just" rtl="0">
              <a:lnSpc>
                <a:spcPct val="115000"/>
              </a:lnSpc>
              <a:spcBef>
                <a:spcPts val="0"/>
              </a:spcBef>
              <a:spcAft>
                <a:spcPts val="0"/>
              </a:spcAft>
              <a:buSzPts val="1800"/>
              <a:buNone/>
            </a:pPr>
            <a:endParaRPr sz="1400" dirty="0">
              <a:latin typeface="Times New Roman" panose="02020603050405020304" pitchFamily="18" charset="0"/>
              <a:cs typeface="Times New Roman" panose="02020603050405020304" pitchFamily="18" charset="0"/>
            </a:endParaRPr>
          </a:p>
          <a:p>
            <a:pPr marL="457200" lvl="0" indent="-317500" algn="just" rtl="0">
              <a:lnSpc>
                <a:spcPct val="115000"/>
              </a:lnSpc>
              <a:spcBef>
                <a:spcPts val="0"/>
              </a:spcBef>
              <a:spcAft>
                <a:spcPts val="0"/>
              </a:spcAft>
              <a:buSzPts val="1400"/>
              <a:buChar char="●"/>
            </a:pPr>
            <a:r>
              <a:rPr lang="en-US" sz="1400" dirty="0">
                <a:latin typeface="Times New Roman" panose="02020603050405020304" pitchFamily="18" charset="0"/>
                <a:cs typeface="Times New Roman" panose="02020603050405020304" pitchFamily="18" charset="0"/>
              </a:rPr>
              <a:t>Meaning- Various researchers have defined in their own simplest way to briefly sum up will be "communication essentially means the transfer of ideas, feelings, plans, messages, or information (through speech, signal, writing- verbally and non verbally) from one person to another". It considered effective only when it gets the desired action or response. </a:t>
            </a:r>
            <a:endParaRPr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00" name="Google Shape;200;p6"/>
          <p:cNvSpPr txBox="1">
            <a:spLocks noGrp="1"/>
          </p:cNvSpPr>
          <p:nvPr>
            <p:ph type="title"/>
          </p:nvPr>
        </p:nvSpPr>
        <p:spPr>
          <a:xfrm>
            <a:off x="2434825" y="646525"/>
            <a:ext cx="6259200" cy="652339"/>
          </a:xfrm>
          <a:prstGeom prst="rect">
            <a:avLst/>
          </a:prstGeom>
          <a:noFill/>
          <a:ln>
            <a:noFill/>
          </a:ln>
        </p:spPr>
        <p:txBody>
          <a:bodyPr spcFirstLastPara="1" wrap="square" lIns="91425" tIns="91425" rIns="91425" bIns="91425" anchor="b" anchorCtr="0">
            <a:noAutofit/>
          </a:bodyPr>
          <a:lstStyle/>
          <a:p>
            <a:pPr marL="0" marR="0" lvl="0" indent="0" algn="just" rtl="0">
              <a:lnSpc>
                <a:spcPct val="100000"/>
              </a:lnSpc>
              <a:spcBef>
                <a:spcPts val="0"/>
              </a:spcBef>
              <a:spcAft>
                <a:spcPts val="0"/>
              </a:spcAft>
              <a:buClr>
                <a:schemeClr val="lt1"/>
              </a:buClr>
              <a:buSzPts val="3200"/>
              <a:buFont typeface="Roboto"/>
              <a:buNone/>
            </a:pPr>
            <a:r>
              <a:rPr lang="en-US" sz="3400" b="0" i="0" u="none" strike="noStrike" cap="none" dirty="0">
                <a:solidFill>
                  <a:schemeClr val="lt1"/>
                </a:solidFill>
                <a:latin typeface="Roboto"/>
                <a:ea typeface="Roboto"/>
                <a:cs typeface="Roboto"/>
                <a:sym typeface="Roboto"/>
              </a:rPr>
              <a:t/>
            </a:r>
            <a:br>
              <a:rPr lang="en-US" sz="3400" b="0" i="0" u="none" strike="noStrike" cap="none" dirty="0">
                <a:solidFill>
                  <a:schemeClr val="lt1"/>
                </a:solidFill>
                <a:latin typeface="Roboto"/>
                <a:ea typeface="Roboto"/>
                <a:cs typeface="Roboto"/>
                <a:sym typeface="Roboto"/>
              </a:rPr>
            </a:br>
            <a:r>
              <a:rPr lang="en-US" sz="3400" b="0" i="0" u="none" strike="noStrike" cap="none" dirty="0">
                <a:solidFill>
                  <a:schemeClr val="lt1"/>
                </a:solidFill>
                <a:latin typeface="Roboto"/>
                <a:ea typeface="Roboto"/>
                <a:cs typeface="Roboto"/>
                <a:sym typeface="Roboto"/>
              </a:rPr>
              <a:t/>
            </a:r>
            <a:br>
              <a:rPr lang="en-US" sz="3400" b="0" i="0" u="none" strike="noStrike" cap="none" dirty="0">
                <a:solidFill>
                  <a:schemeClr val="lt1"/>
                </a:solidFill>
                <a:latin typeface="Roboto"/>
                <a:ea typeface="Roboto"/>
                <a:cs typeface="Roboto"/>
                <a:sym typeface="Roboto"/>
              </a:rPr>
            </a:br>
            <a:endParaRPr sz="3400" b="0" i="0" u="none" strike="noStrike" cap="none" dirty="0">
              <a:solidFill>
                <a:schemeClr val="lt1"/>
              </a:solidFill>
              <a:latin typeface="Roboto"/>
              <a:ea typeface="Roboto"/>
              <a:cs typeface="Roboto"/>
              <a:sym typeface="Roboto"/>
            </a:endParaRPr>
          </a:p>
          <a:p>
            <a:pPr marL="0" marR="0" lvl="0" indent="0" algn="just" rtl="0">
              <a:lnSpc>
                <a:spcPct val="100000"/>
              </a:lnSpc>
              <a:spcBef>
                <a:spcPts val="0"/>
              </a:spcBef>
              <a:spcAft>
                <a:spcPts val="0"/>
              </a:spcAft>
              <a:buClr>
                <a:schemeClr val="lt1"/>
              </a:buClr>
              <a:buSzPts val="3200"/>
              <a:buFont typeface="Roboto"/>
              <a:buNone/>
            </a:pPr>
            <a:r>
              <a:rPr lang="en-US" sz="3400" b="0" i="0" u="none" strike="noStrike" cap="none" dirty="0">
                <a:solidFill>
                  <a:schemeClr val="lt1"/>
                </a:solidFill>
                <a:latin typeface="Roboto"/>
                <a:ea typeface="Roboto"/>
                <a:cs typeface="Roboto"/>
                <a:sym typeface="Roboto"/>
              </a:rPr>
              <a:t>Process of Communication</a:t>
            </a:r>
            <a:endParaRPr sz="3400" b="0" i="0" u="none" strike="noStrike" cap="none" dirty="0">
              <a:solidFill>
                <a:schemeClr val="lt1"/>
              </a:solidFill>
              <a:latin typeface="Roboto"/>
              <a:ea typeface="Roboto"/>
              <a:cs typeface="Roboto"/>
              <a:sym typeface="Roboto"/>
            </a:endParaRPr>
          </a:p>
        </p:txBody>
      </p:sp>
      <p:sp>
        <p:nvSpPr>
          <p:cNvPr id="198" name="Google Shape;198;p6"/>
          <p:cNvSpPr txBox="1">
            <a:spLocks noGrp="1"/>
          </p:cNvSpPr>
          <p:nvPr>
            <p:ph type="body" idx="1"/>
          </p:nvPr>
        </p:nvSpPr>
        <p:spPr>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SzPts val="1800"/>
              <a:buNone/>
            </a:pPr>
            <a:endParaRPr sz="1800">
              <a:solidFill>
                <a:schemeClr val="lt2"/>
              </a:solidFill>
              <a:latin typeface="Roboto"/>
              <a:ea typeface="Roboto"/>
              <a:cs typeface="Roboto"/>
              <a:sym typeface="Roboto"/>
            </a:endParaRPr>
          </a:p>
        </p:txBody>
      </p:sp>
      <p:pic>
        <p:nvPicPr>
          <p:cNvPr id="199" name="Google Shape;199;p6"/>
          <p:cNvPicPr preferRelativeResize="0"/>
          <p:nvPr/>
        </p:nvPicPr>
        <p:blipFill rotWithShape="1">
          <a:blip r:embed="rId3">
            <a:alphaModFix/>
          </a:blip>
          <a:srcRect/>
          <a:stretch/>
        </p:blipFill>
        <p:spPr>
          <a:xfrm>
            <a:off x="0" y="1407656"/>
            <a:ext cx="9144000" cy="373303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Continue….</a:t>
            </a:r>
            <a:endParaRPr lang="en-IN" b="1" dirty="0"/>
          </a:p>
        </p:txBody>
      </p:sp>
      <p:sp>
        <p:nvSpPr>
          <p:cNvPr id="3" name="Text Placeholder 2"/>
          <p:cNvSpPr>
            <a:spLocks noGrp="1"/>
          </p:cNvSpPr>
          <p:nvPr>
            <p:ph type="body" idx="1"/>
          </p:nvPr>
        </p:nvSpPr>
        <p:spPr>
          <a:xfrm>
            <a:off x="471900" y="1452880"/>
            <a:ext cx="8222100" cy="3423920"/>
          </a:xfrm>
        </p:spPr>
        <p:txBody>
          <a:bodyPr/>
          <a:lstStyle/>
          <a:p>
            <a:pPr algn="just"/>
            <a:r>
              <a:rPr lang="en-IN" b="1" dirty="0" smtClean="0"/>
              <a:t>Sender</a:t>
            </a:r>
            <a:r>
              <a:rPr lang="en-IN" dirty="0" smtClean="0"/>
              <a:t>: </a:t>
            </a:r>
            <a:r>
              <a:rPr lang="en-US" dirty="0"/>
              <a:t>The person who initiates the communication process is referred to as the encoder. The process </a:t>
            </a:r>
            <a:r>
              <a:rPr lang="en-US" dirty="0" smtClean="0"/>
              <a:t>of communication </a:t>
            </a:r>
            <a:r>
              <a:rPr lang="en-US" dirty="0"/>
              <a:t>begins with the sender who identifies the need to </a:t>
            </a:r>
            <a:r>
              <a:rPr lang="en-US" dirty="0" smtClean="0"/>
              <a:t>communicate.</a:t>
            </a:r>
          </a:p>
          <a:p>
            <a:pPr algn="just"/>
            <a:r>
              <a:rPr lang="en-IN" b="1" dirty="0" smtClean="0"/>
              <a:t>Encoding</a:t>
            </a:r>
            <a:r>
              <a:rPr lang="en-IN" dirty="0" smtClean="0"/>
              <a:t>: </a:t>
            </a:r>
            <a:r>
              <a:rPr lang="en-US" dirty="0"/>
              <a:t>Encoding takes place when the sender formulates his idea into a message to be transmitted to </a:t>
            </a:r>
            <a:r>
              <a:rPr lang="en-US" dirty="0" smtClean="0"/>
              <a:t>the receiver</a:t>
            </a:r>
            <a:r>
              <a:rPr lang="en-US" dirty="0"/>
              <a:t>, using a series of symbols- verbal/ or non-verbal, written or oral. The sender </a:t>
            </a:r>
            <a:r>
              <a:rPr lang="en-US" dirty="0" smtClean="0"/>
              <a:t>should encode </a:t>
            </a:r>
            <a:r>
              <a:rPr lang="en-US" dirty="0"/>
              <a:t>the message keeping in mind the purpose of communication and should select words </a:t>
            </a:r>
            <a:r>
              <a:rPr lang="en-US" dirty="0" smtClean="0"/>
              <a:t>or symbols </a:t>
            </a:r>
            <a:r>
              <a:rPr lang="en-US" dirty="0"/>
              <a:t>that help the receiver understand the communication correctly and to achieve </a:t>
            </a:r>
            <a:r>
              <a:rPr lang="en-US" dirty="0" smtClean="0"/>
              <a:t>the expected feedback.</a:t>
            </a:r>
          </a:p>
          <a:p>
            <a:pPr algn="just"/>
            <a:r>
              <a:rPr lang="en-IN" b="1" dirty="0"/>
              <a:t> </a:t>
            </a:r>
            <a:r>
              <a:rPr lang="en-IN" b="1" dirty="0" smtClean="0"/>
              <a:t>Message: </a:t>
            </a:r>
            <a:r>
              <a:rPr lang="en-US" dirty="0"/>
              <a:t>A message is an idea transformed into words. It can be expressed in different ways </a:t>
            </a:r>
            <a:r>
              <a:rPr lang="en-US" dirty="0" smtClean="0"/>
              <a:t>depending upon </a:t>
            </a:r>
            <a:r>
              <a:rPr lang="en-US" dirty="0"/>
              <a:t>the subject-matter, purpose, audience personal style and cultural background of the sender</a:t>
            </a:r>
            <a:endParaRPr lang="en-IN" dirty="0"/>
          </a:p>
        </p:txBody>
      </p:sp>
    </p:spTree>
    <p:extLst>
      <p:ext uri="{BB962C8B-B14F-4D97-AF65-F5344CB8AC3E}">
        <p14:creationId xmlns:p14="http://schemas.microsoft.com/office/powerpoint/2010/main" val="1421121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Continue….</a:t>
            </a:r>
            <a:endParaRPr lang="en-IN" b="1" dirty="0"/>
          </a:p>
        </p:txBody>
      </p:sp>
      <p:sp>
        <p:nvSpPr>
          <p:cNvPr id="3" name="Text Placeholder 2"/>
          <p:cNvSpPr>
            <a:spLocks noGrp="1"/>
          </p:cNvSpPr>
          <p:nvPr>
            <p:ph type="body" idx="1"/>
          </p:nvPr>
        </p:nvSpPr>
        <p:spPr>
          <a:xfrm>
            <a:off x="471900" y="1422400"/>
            <a:ext cx="8222100" cy="3206875"/>
          </a:xfrm>
        </p:spPr>
        <p:txBody>
          <a:bodyPr/>
          <a:lstStyle/>
          <a:p>
            <a:pPr algn="just"/>
            <a:r>
              <a:rPr lang="en-IN" b="1" dirty="0" smtClean="0"/>
              <a:t>Channel </a:t>
            </a:r>
            <a:r>
              <a:rPr lang="en-IN" b="1" dirty="0"/>
              <a:t>and </a:t>
            </a:r>
            <a:r>
              <a:rPr lang="en-IN" b="1" dirty="0" smtClean="0"/>
              <a:t>medium</a:t>
            </a:r>
            <a:r>
              <a:rPr lang="en-IN" dirty="0" smtClean="0"/>
              <a:t>: </a:t>
            </a:r>
            <a:r>
              <a:rPr lang="en-US" dirty="0"/>
              <a:t>An appropriate medium chosen to send the message is known as channel. It is the vehicle </a:t>
            </a:r>
            <a:r>
              <a:rPr lang="en-US" dirty="0" smtClean="0"/>
              <a:t>which facilitates </a:t>
            </a:r>
            <a:r>
              <a:rPr lang="en-US" dirty="0"/>
              <a:t>the sender to convey the message to the receiver. Channel is a system used to </a:t>
            </a:r>
            <a:r>
              <a:rPr lang="en-US" dirty="0" smtClean="0"/>
              <a:t>transmit a </a:t>
            </a:r>
            <a:r>
              <a:rPr lang="en-US" dirty="0"/>
              <a:t>message, whereas medium is one of the forms/ types used under that system. For example </a:t>
            </a:r>
            <a:r>
              <a:rPr lang="en-US" dirty="0" smtClean="0"/>
              <a:t>oral communication </a:t>
            </a:r>
            <a:r>
              <a:rPr lang="en-US" dirty="0"/>
              <a:t>is a channel and telephone conversation is a medium</a:t>
            </a:r>
            <a:r>
              <a:rPr lang="en-US" dirty="0" smtClean="0"/>
              <a:t>.</a:t>
            </a:r>
          </a:p>
          <a:p>
            <a:pPr algn="just"/>
            <a:r>
              <a:rPr lang="en-US" b="1" dirty="0" smtClean="0"/>
              <a:t>Receiver</a:t>
            </a:r>
            <a:r>
              <a:rPr lang="en-US" dirty="0"/>
              <a:t>: The person who receives the encoded message is referred to as receiver. The receiver may be </a:t>
            </a:r>
            <a:r>
              <a:rPr lang="en-US" dirty="0" smtClean="0"/>
              <a:t>an individual </a:t>
            </a:r>
            <a:r>
              <a:rPr lang="en-US" dirty="0"/>
              <a:t>or a group of </a:t>
            </a:r>
            <a:r>
              <a:rPr lang="en-US" dirty="0" smtClean="0"/>
              <a:t>individuals. </a:t>
            </a:r>
          </a:p>
          <a:p>
            <a:pPr algn="just"/>
            <a:r>
              <a:rPr lang="en-US" b="1" dirty="0" smtClean="0"/>
              <a:t>Decoding </a:t>
            </a:r>
            <a:r>
              <a:rPr lang="en-US" b="1" dirty="0"/>
              <a:t>: </a:t>
            </a:r>
            <a:r>
              <a:rPr lang="en-US" dirty="0"/>
              <a:t>It is a process by which the receiver interprets the message and translates it into </a:t>
            </a:r>
            <a:r>
              <a:rPr lang="en-US" dirty="0" smtClean="0"/>
              <a:t>meaningful information.</a:t>
            </a:r>
          </a:p>
          <a:p>
            <a:pPr algn="just"/>
            <a:r>
              <a:rPr lang="en-US" b="1" dirty="0"/>
              <a:t>Feedback : </a:t>
            </a:r>
            <a:r>
              <a:rPr lang="en-US" dirty="0"/>
              <a:t>Feedback is the response given by the receiver of the message to the sender of the </a:t>
            </a:r>
            <a:r>
              <a:rPr lang="en-US" dirty="0" smtClean="0"/>
              <a:t>message. When </a:t>
            </a:r>
            <a:r>
              <a:rPr lang="en-US" dirty="0"/>
              <a:t>the encoder receives feedback, he gets to know that communication has </a:t>
            </a:r>
            <a:r>
              <a:rPr lang="en-US" dirty="0" smtClean="0"/>
              <a:t>been accomplished</a:t>
            </a:r>
          </a:p>
          <a:p>
            <a:pPr algn="just"/>
            <a:endParaRPr lang="en-IN" b="1" dirty="0"/>
          </a:p>
        </p:txBody>
      </p:sp>
    </p:spTree>
    <p:extLst>
      <p:ext uri="{BB962C8B-B14F-4D97-AF65-F5344CB8AC3E}">
        <p14:creationId xmlns:p14="http://schemas.microsoft.com/office/powerpoint/2010/main" val="31046218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85D3F76-8EC5-401B-8D59-86FFCDE8BE1D}"/>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Classification</a:t>
            </a:r>
            <a:endParaRPr lang="en-IN"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xmlns="" id="{0B39210C-6A5A-4FC6-97B3-A42BB4D1B4FE}"/>
              </a:ext>
            </a:extLst>
          </p:cNvPr>
          <p:cNvSpPr>
            <a:spLocks noGrp="1"/>
          </p:cNvSpPr>
          <p:nvPr>
            <p:ph type="body" idx="1"/>
          </p:nvPr>
        </p:nvSpPr>
        <p:spPr/>
        <p:txBody>
          <a:bodyPr/>
          <a:lstStyle/>
          <a:p>
            <a:pPr marL="114300" indent="0" algn="ctr">
              <a:buNone/>
            </a:pPr>
            <a:r>
              <a:rPr lang="en-US" sz="3600" dirty="0">
                <a:latin typeface="Times New Roman" panose="02020603050405020304" pitchFamily="18" charset="0"/>
                <a:cs typeface="Times New Roman" panose="02020603050405020304" pitchFamily="18" charset="0"/>
              </a:rPr>
              <a:t>Verbal Communication </a:t>
            </a:r>
          </a:p>
          <a:p>
            <a:pPr marL="114300" indent="0" algn="ctr">
              <a:buNone/>
            </a:pPr>
            <a:r>
              <a:rPr lang="en-US" sz="3600" dirty="0">
                <a:latin typeface="Times New Roman" panose="02020603050405020304" pitchFamily="18" charset="0"/>
                <a:cs typeface="Times New Roman" panose="02020603050405020304" pitchFamily="18" charset="0"/>
              </a:rPr>
              <a:t>Non verbal Communication</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67705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3"/>
          <p:cNvSpPr txBox="1">
            <a:spLocks noGrp="1"/>
          </p:cNvSpPr>
          <p:nvPr>
            <p:ph type="title"/>
          </p:nvPr>
        </p:nvSpPr>
        <p:spPr>
          <a:xfrm>
            <a:off x="460950" y="738725"/>
            <a:ext cx="8222100" cy="767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US" sz="3700"/>
              <a:t>Verbal Communication</a:t>
            </a:r>
            <a:endParaRPr sz="3700"/>
          </a:p>
        </p:txBody>
      </p:sp>
      <p:sp>
        <p:nvSpPr>
          <p:cNvPr id="260" name="Google Shape;260;p23"/>
          <p:cNvSpPr txBox="1">
            <a:spLocks noGrp="1"/>
          </p:cNvSpPr>
          <p:nvPr>
            <p:ph type="body" idx="1"/>
          </p:nvPr>
        </p:nvSpPr>
        <p:spPr>
          <a:xfrm>
            <a:off x="353350" y="1984975"/>
            <a:ext cx="3954300" cy="2169600"/>
          </a:xfrm>
          <a:prstGeom prst="rect">
            <a:avLst/>
          </a:prstGeom>
          <a:solidFill>
            <a:srgbClr val="FFFFFF"/>
          </a:solidFill>
          <a:ln>
            <a:noFill/>
          </a:ln>
        </p:spPr>
        <p:txBody>
          <a:bodyPr spcFirstLastPara="1" wrap="square" lIns="91425" tIns="91425" rIns="91425" bIns="91425" anchor="t" anchorCtr="0">
            <a:noAutofit/>
          </a:bodyPr>
          <a:lstStyle/>
          <a:p>
            <a:pPr marL="457200" lvl="0" indent="0" algn="just" rtl="0">
              <a:lnSpc>
                <a:spcPct val="115000"/>
              </a:lnSpc>
              <a:spcBef>
                <a:spcPts val="0"/>
              </a:spcBef>
              <a:spcAft>
                <a:spcPts val="0"/>
              </a:spcAft>
              <a:buNone/>
            </a:pPr>
            <a:r>
              <a:rPr lang="en-US" sz="1600" dirty="0">
                <a:solidFill>
                  <a:srgbClr val="BF0000"/>
                </a:solidFill>
                <a:latin typeface="Times New Roman" panose="02020603050405020304" pitchFamily="18" charset="0"/>
                <a:cs typeface="Times New Roman" panose="02020603050405020304" pitchFamily="18" charset="0"/>
              </a:rPr>
              <a:t>Oral Communication.   </a:t>
            </a:r>
            <a:endParaRPr sz="1600" dirty="0">
              <a:solidFill>
                <a:srgbClr val="BF0000"/>
              </a:solidFill>
              <a:latin typeface="Times New Roman" panose="02020603050405020304" pitchFamily="18" charset="0"/>
              <a:cs typeface="Times New Roman" panose="02020603050405020304" pitchFamily="18" charset="0"/>
            </a:endParaRPr>
          </a:p>
          <a:p>
            <a:pPr marL="457200" lvl="0" indent="-304800" algn="just" rtl="0">
              <a:lnSpc>
                <a:spcPct val="115000"/>
              </a:lnSpc>
              <a:spcBef>
                <a:spcPts val="0"/>
              </a:spcBef>
              <a:spcAft>
                <a:spcPts val="0"/>
              </a:spcAft>
              <a:buSzPts val="1200"/>
              <a:buChar char="●"/>
            </a:pPr>
            <a:r>
              <a:rPr lang="en-US" sz="1600" dirty="0">
                <a:solidFill>
                  <a:srgbClr val="0000FF"/>
                </a:solidFill>
                <a:latin typeface="Times New Roman" panose="02020603050405020304" pitchFamily="18" charset="0"/>
                <a:cs typeface="Times New Roman" panose="02020603050405020304" pitchFamily="18" charset="0"/>
              </a:rPr>
              <a:t>It refers to speaking with the help of words.</a:t>
            </a:r>
            <a:endParaRPr sz="1600" dirty="0">
              <a:solidFill>
                <a:srgbClr val="0000FF"/>
              </a:solidFill>
              <a:latin typeface="Times New Roman" panose="02020603050405020304" pitchFamily="18" charset="0"/>
              <a:cs typeface="Times New Roman" panose="02020603050405020304" pitchFamily="18" charset="0"/>
            </a:endParaRPr>
          </a:p>
          <a:p>
            <a:pPr marL="457200" lvl="0" indent="-304800" algn="just" rtl="0">
              <a:lnSpc>
                <a:spcPct val="115000"/>
              </a:lnSpc>
              <a:spcBef>
                <a:spcPts val="0"/>
              </a:spcBef>
              <a:spcAft>
                <a:spcPts val="0"/>
              </a:spcAft>
              <a:buSzPts val="1200"/>
              <a:buChar char="●"/>
            </a:pPr>
            <a:r>
              <a:rPr lang="en-US" sz="1600" dirty="0">
                <a:solidFill>
                  <a:srgbClr val="0000FF"/>
                </a:solidFill>
                <a:latin typeface="Times New Roman" panose="02020603050405020304" pitchFamily="18" charset="0"/>
                <a:cs typeface="Times New Roman" panose="02020603050405020304" pitchFamily="18" charset="0"/>
              </a:rPr>
              <a:t>Proper pronunciation and tone is the key to effective oral communication.</a:t>
            </a:r>
            <a:endParaRPr sz="1600" dirty="0">
              <a:solidFill>
                <a:srgbClr val="0000FF"/>
              </a:solidFill>
              <a:latin typeface="Times New Roman" panose="02020603050405020304" pitchFamily="18" charset="0"/>
              <a:cs typeface="Times New Roman" panose="02020603050405020304" pitchFamily="18" charset="0"/>
            </a:endParaRPr>
          </a:p>
          <a:p>
            <a:pPr marL="457200" lvl="0" indent="-304800" algn="just" rtl="0">
              <a:lnSpc>
                <a:spcPct val="115000"/>
              </a:lnSpc>
              <a:spcBef>
                <a:spcPts val="0"/>
              </a:spcBef>
              <a:spcAft>
                <a:spcPts val="0"/>
              </a:spcAft>
              <a:buSzPts val="1200"/>
              <a:buChar char="●"/>
            </a:pPr>
            <a:r>
              <a:rPr lang="en-US" sz="1600" dirty="0">
                <a:solidFill>
                  <a:srgbClr val="0000FF"/>
                </a:solidFill>
                <a:latin typeface="Times New Roman" panose="02020603050405020304" pitchFamily="18" charset="0"/>
                <a:cs typeface="Times New Roman" panose="02020603050405020304" pitchFamily="18" charset="0"/>
              </a:rPr>
              <a:t>Advantages and disadvantages.</a:t>
            </a:r>
            <a:endParaRPr sz="1600" dirty="0">
              <a:solidFill>
                <a:srgbClr val="0000FF"/>
              </a:solidFill>
              <a:latin typeface="Times New Roman" panose="02020603050405020304" pitchFamily="18" charset="0"/>
              <a:cs typeface="Times New Roman" panose="02020603050405020304" pitchFamily="18" charset="0"/>
            </a:endParaRPr>
          </a:p>
        </p:txBody>
      </p:sp>
      <p:sp>
        <p:nvSpPr>
          <p:cNvPr id="261" name="Google Shape;261;p23"/>
          <p:cNvSpPr txBox="1">
            <a:spLocks noGrp="1"/>
          </p:cNvSpPr>
          <p:nvPr>
            <p:ph type="body" idx="2"/>
          </p:nvPr>
        </p:nvSpPr>
        <p:spPr>
          <a:xfrm>
            <a:off x="5014200" y="1919075"/>
            <a:ext cx="3621000" cy="2351590"/>
          </a:xfrm>
          <a:prstGeom prst="rect">
            <a:avLst/>
          </a:prstGeom>
          <a:noFill/>
          <a:ln>
            <a:noFill/>
          </a:ln>
        </p:spPr>
        <p:txBody>
          <a:bodyPr spcFirstLastPara="1" wrap="square" lIns="91425" tIns="91425" rIns="91425" bIns="91425" anchor="t" anchorCtr="0">
            <a:noAutofit/>
          </a:bodyPr>
          <a:lstStyle/>
          <a:p>
            <a:pPr marL="457200" lvl="0" indent="0" algn="just" rtl="0">
              <a:lnSpc>
                <a:spcPct val="115000"/>
              </a:lnSpc>
              <a:spcBef>
                <a:spcPts val="0"/>
              </a:spcBef>
              <a:spcAft>
                <a:spcPts val="0"/>
              </a:spcAft>
              <a:buNone/>
            </a:pPr>
            <a:r>
              <a:rPr lang="en-US" sz="1600" dirty="0">
                <a:solidFill>
                  <a:srgbClr val="C00000"/>
                </a:solidFill>
                <a:latin typeface="Times New Roman" panose="02020603050405020304" pitchFamily="18" charset="0"/>
                <a:cs typeface="Times New Roman" panose="02020603050405020304" pitchFamily="18" charset="0"/>
              </a:rPr>
              <a:t>Written Communication</a:t>
            </a:r>
            <a:endParaRPr sz="1600" dirty="0">
              <a:solidFill>
                <a:srgbClr val="C00000"/>
              </a:solidFill>
              <a:latin typeface="Times New Roman" panose="02020603050405020304" pitchFamily="18" charset="0"/>
              <a:cs typeface="Times New Roman" panose="02020603050405020304" pitchFamily="18" charset="0"/>
            </a:endParaRPr>
          </a:p>
          <a:p>
            <a:pPr marL="457200" lvl="0" indent="-317500" algn="just" rtl="0">
              <a:lnSpc>
                <a:spcPct val="115000"/>
              </a:lnSpc>
              <a:spcBef>
                <a:spcPts val="0"/>
              </a:spcBef>
              <a:spcAft>
                <a:spcPts val="0"/>
              </a:spcAft>
              <a:buSzPts val="1400"/>
              <a:buChar char="●"/>
            </a:pPr>
            <a:r>
              <a:rPr lang="en-US" sz="1600" dirty="0">
                <a:latin typeface="Times New Roman" panose="02020603050405020304" pitchFamily="18" charset="0"/>
                <a:cs typeface="Times New Roman" panose="02020603050405020304" pitchFamily="18" charset="0"/>
              </a:rPr>
              <a:t>Messages when conveyed with the help of written words.</a:t>
            </a:r>
            <a:endParaRPr sz="1600" dirty="0">
              <a:latin typeface="Times New Roman" panose="02020603050405020304" pitchFamily="18" charset="0"/>
              <a:cs typeface="Times New Roman" panose="02020603050405020304" pitchFamily="18" charset="0"/>
            </a:endParaRPr>
          </a:p>
          <a:p>
            <a:pPr marL="457200" lvl="0" indent="-317500" algn="just" rtl="0">
              <a:lnSpc>
                <a:spcPct val="115000"/>
              </a:lnSpc>
              <a:spcBef>
                <a:spcPts val="0"/>
              </a:spcBef>
              <a:spcAft>
                <a:spcPts val="0"/>
              </a:spcAft>
              <a:buSzPts val="1400"/>
              <a:buChar char="●"/>
            </a:pPr>
            <a:r>
              <a:rPr lang="en-US" sz="1600" dirty="0">
                <a:latin typeface="Times New Roman" panose="02020603050405020304" pitchFamily="18" charset="0"/>
                <a:cs typeface="Times New Roman" panose="02020603050405020304" pitchFamily="18" charset="0"/>
              </a:rPr>
              <a:t>It requires command over the language, correct construction of sentences, appropriate use of words, logical sequence of points, </a:t>
            </a:r>
            <a:r>
              <a:rPr lang="en-US" sz="1600" dirty="0" err="1">
                <a:latin typeface="Times New Roman" panose="02020603050405020304" pitchFamily="18" charset="0"/>
                <a:cs typeface="Times New Roman" panose="02020603050405020304" pitchFamily="18" charset="0"/>
              </a:rPr>
              <a:t>etc</a:t>
            </a:r>
            <a:r>
              <a:rPr lang="en-US" sz="1600" dirty="0">
                <a:latin typeface="Times New Roman" panose="02020603050405020304" pitchFamily="18" charset="0"/>
                <a:cs typeface="Times New Roman" panose="02020603050405020304" pitchFamily="18" charset="0"/>
              </a:rPr>
              <a:t>,.</a:t>
            </a:r>
            <a:endParaRPr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4"/>
          <p:cNvSpPr txBox="1">
            <a:spLocks noGrp="1"/>
          </p:cNvSpPr>
          <p:nvPr>
            <p:ph type="title"/>
          </p:nvPr>
        </p:nvSpPr>
        <p:spPr>
          <a:xfrm>
            <a:off x="471900" y="467591"/>
            <a:ext cx="8222100" cy="810491"/>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US" sz="3500" dirty="0">
                <a:latin typeface="Times New Roman" panose="02020603050405020304" pitchFamily="18" charset="0"/>
                <a:cs typeface="Times New Roman" panose="02020603050405020304" pitchFamily="18" charset="0"/>
              </a:rPr>
              <a:t>Non verbal Communication</a:t>
            </a:r>
            <a:endParaRPr sz="3500" dirty="0">
              <a:latin typeface="Times New Roman" panose="02020603050405020304" pitchFamily="18" charset="0"/>
              <a:cs typeface="Times New Roman" panose="02020603050405020304" pitchFamily="18" charset="0"/>
            </a:endParaRPr>
          </a:p>
        </p:txBody>
      </p:sp>
      <p:sp>
        <p:nvSpPr>
          <p:cNvPr id="267" name="Google Shape;267;p24"/>
          <p:cNvSpPr txBox="1">
            <a:spLocks noGrp="1"/>
          </p:cNvSpPr>
          <p:nvPr>
            <p:ph type="body" idx="1"/>
          </p:nvPr>
        </p:nvSpPr>
        <p:spPr>
          <a:xfrm>
            <a:off x="69250" y="1506425"/>
            <a:ext cx="4703400" cy="3065575"/>
          </a:xfrm>
          <a:prstGeom prst="rect">
            <a:avLst/>
          </a:prstGeom>
          <a:noFill/>
          <a:ln>
            <a:noFill/>
          </a:ln>
        </p:spPr>
        <p:txBody>
          <a:bodyPr spcFirstLastPara="1" wrap="square" lIns="91425" tIns="91425" rIns="91425" bIns="91425" anchor="t" anchorCtr="0">
            <a:noAutofit/>
          </a:bodyPr>
          <a:lstStyle/>
          <a:p>
            <a:pPr marL="139700" lvl="0" indent="0" rtl="0">
              <a:lnSpc>
                <a:spcPct val="115000"/>
              </a:lnSpc>
              <a:spcBef>
                <a:spcPts val="0"/>
              </a:spcBef>
              <a:spcAft>
                <a:spcPts val="0"/>
              </a:spcAft>
              <a:buSzPts val="1400"/>
              <a:buNone/>
            </a:pPr>
            <a:r>
              <a:rPr lang="en-US" sz="2400" b="1" dirty="0">
                <a:solidFill>
                  <a:srgbClr val="0000FF"/>
                </a:solidFill>
                <a:highlight>
                  <a:srgbClr val="FFFF00"/>
                </a:highlight>
                <a:latin typeface="Times New Roman" panose="02020603050405020304" pitchFamily="18" charset="0"/>
                <a:cs typeface="Times New Roman" panose="02020603050405020304" pitchFamily="18" charset="0"/>
              </a:rPr>
              <a:t>Communication without words</a:t>
            </a:r>
          </a:p>
          <a:p>
            <a:pPr marL="457200" lvl="0" indent="-317500" algn="l" rtl="0">
              <a:lnSpc>
                <a:spcPct val="115000"/>
              </a:lnSpc>
              <a:spcBef>
                <a:spcPts val="0"/>
              </a:spcBef>
              <a:spcAft>
                <a:spcPts val="0"/>
              </a:spcAft>
              <a:buSzPts val="1400"/>
              <a:buChar char="●"/>
            </a:pPr>
            <a:endParaRPr lang="en-US" sz="1700" dirty="0">
              <a:solidFill>
                <a:srgbClr val="0000FF"/>
              </a:solidFill>
              <a:latin typeface="Times New Roman" panose="02020603050405020304" pitchFamily="18" charset="0"/>
              <a:cs typeface="Times New Roman" panose="02020603050405020304" pitchFamily="18" charset="0"/>
            </a:endParaRPr>
          </a:p>
          <a:p>
            <a:pPr marL="457200" lvl="0" indent="-317500" algn="l" rtl="0">
              <a:lnSpc>
                <a:spcPct val="115000"/>
              </a:lnSpc>
              <a:spcBef>
                <a:spcPts val="0"/>
              </a:spcBef>
              <a:spcAft>
                <a:spcPts val="0"/>
              </a:spcAft>
              <a:buSzPts val="1400"/>
              <a:buChar char="●"/>
            </a:pPr>
            <a:r>
              <a:rPr lang="en-US" sz="1700" dirty="0">
                <a:latin typeface="Times New Roman" panose="02020603050405020304" pitchFamily="18" charset="0"/>
                <a:cs typeface="Times New Roman" panose="02020603050405020304" pitchFamily="18" charset="0"/>
              </a:rPr>
              <a:t>Kinesics-  Body language </a:t>
            </a:r>
            <a:endParaRPr sz="1700" dirty="0">
              <a:latin typeface="Times New Roman" panose="02020603050405020304" pitchFamily="18" charset="0"/>
              <a:cs typeface="Times New Roman" panose="02020603050405020304" pitchFamily="18" charset="0"/>
            </a:endParaRPr>
          </a:p>
          <a:p>
            <a:pPr marL="457200" lvl="0" indent="-317500" algn="l" rtl="0">
              <a:lnSpc>
                <a:spcPct val="115000"/>
              </a:lnSpc>
              <a:spcBef>
                <a:spcPts val="0"/>
              </a:spcBef>
              <a:spcAft>
                <a:spcPts val="0"/>
              </a:spcAft>
              <a:buSzPts val="1400"/>
              <a:buChar char="●"/>
            </a:pPr>
            <a:r>
              <a:rPr lang="en-US" sz="1700" dirty="0">
                <a:latin typeface="Times New Roman" panose="02020603050405020304" pitchFamily="18" charset="0"/>
                <a:cs typeface="Times New Roman" panose="02020603050405020304" pitchFamily="18" charset="0"/>
              </a:rPr>
              <a:t>Proxemics- the distance  </a:t>
            </a:r>
            <a:endParaRPr sz="1700" dirty="0">
              <a:latin typeface="Times New Roman" panose="02020603050405020304" pitchFamily="18" charset="0"/>
              <a:cs typeface="Times New Roman" panose="02020603050405020304" pitchFamily="18" charset="0"/>
            </a:endParaRPr>
          </a:p>
          <a:p>
            <a:pPr marL="457200" lvl="0" indent="-317500" algn="l" rtl="0">
              <a:lnSpc>
                <a:spcPct val="115000"/>
              </a:lnSpc>
              <a:spcBef>
                <a:spcPts val="0"/>
              </a:spcBef>
              <a:spcAft>
                <a:spcPts val="0"/>
              </a:spcAft>
              <a:buSzPts val="1400"/>
              <a:buChar char="●"/>
            </a:pPr>
            <a:r>
              <a:rPr lang="en-US" sz="1700" dirty="0" err="1">
                <a:latin typeface="Times New Roman" panose="02020603050405020304" pitchFamily="18" charset="0"/>
                <a:cs typeface="Times New Roman" panose="02020603050405020304" pitchFamily="18" charset="0"/>
              </a:rPr>
              <a:t>Oculesics</a:t>
            </a:r>
            <a:r>
              <a:rPr lang="en-US" sz="1700" dirty="0">
                <a:latin typeface="Times New Roman" panose="02020603050405020304" pitchFamily="18" charset="0"/>
                <a:cs typeface="Times New Roman" panose="02020603050405020304" pitchFamily="18" charset="0"/>
              </a:rPr>
              <a:t>- technical term for eye contact </a:t>
            </a:r>
            <a:endParaRPr sz="1700" dirty="0">
              <a:latin typeface="Times New Roman" panose="02020603050405020304" pitchFamily="18" charset="0"/>
              <a:cs typeface="Times New Roman" panose="02020603050405020304" pitchFamily="18" charset="0"/>
            </a:endParaRPr>
          </a:p>
          <a:p>
            <a:pPr marL="457200" lvl="0" indent="-317500" algn="l" rtl="0">
              <a:lnSpc>
                <a:spcPct val="115000"/>
              </a:lnSpc>
              <a:spcBef>
                <a:spcPts val="0"/>
              </a:spcBef>
              <a:spcAft>
                <a:spcPts val="0"/>
              </a:spcAft>
              <a:buSzPts val="1400"/>
              <a:buChar char="●"/>
            </a:pPr>
            <a:r>
              <a:rPr lang="en-US" sz="1700" dirty="0">
                <a:latin typeface="Times New Roman" panose="02020603050405020304" pitchFamily="18" charset="0"/>
                <a:cs typeface="Times New Roman" panose="02020603050405020304" pitchFamily="18" charset="0"/>
              </a:rPr>
              <a:t>Chronemics- the utilization of time </a:t>
            </a:r>
            <a:endParaRPr sz="1700" dirty="0">
              <a:latin typeface="Times New Roman" panose="02020603050405020304" pitchFamily="18" charset="0"/>
              <a:cs typeface="Times New Roman" panose="02020603050405020304" pitchFamily="18" charset="0"/>
            </a:endParaRPr>
          </a:p>
          <a:p>
            <a:pPr marL="457200" lvl="0" indent="-317500" algn="l" rtl="0">
              <a:lnSpc>
                <a:spcPct val="115000"/>
              </a:lnSpc>
              <a:spcBef>
                <a:spcPts val="0"/>
              </a:spcBef>
              <a:spcAft>
                <a:spcPts val="0"/>
              </a:spcAft>
              <a:buSzPts val="1400"/>
              <a:buChar char="●"/>
            </a:pPr>
            <a:r>
              <a:rPr lang="en-US" sz="1700" dirty="0">
                <a:latin typeface="Times New Roman" panose="02020603050405020304" pitchFamily="18" charset="0"/>
                <a:cs typeface="Times New Roman" panose="02020603050405020304" pitchFamily="18" charset="0"/>
              </a:rPr>
              <a:t>Artefacts- </a:t>
            </a:r>
            <a:r>
              <a:rPr lang="en-US" sz="1700" dirty="0" err="1">
                <a:latin typeface="Times New Roman" panose="02020603050405020304" pitchFamily="18" charset="0"/>
                <a:cs typeface="Times New Roman" panose="02020603050405020304" pitchFamily="18" charset="0"/>
              </a:rPr>
              <a:t>momento</a:t>
            </a:r>
            <a:r>
              <a:rPr lang="en-US" sz="1700" dirty="0">
                <a:latin typeface="Times New Roman" panose="02020603050405020304" pitchFamily="18" charset="0"/>
                <a:cs typeface="Times New Roman" panose="02020603050405020304" pitchFamily="18" charset="0"/>
              </a:rPr>
              <a:t>, remembrance</a:t>
            </a:r>
            <a:r>
              <a:rPr lang="en-US" sz="1400" dirty="0">
                <a:latin typeface="Times New Roman" panose="02020603050405020304" pitchFamily="18" charset="0"/>
                <a:cs typeface="Times New Roman" panose="02020603050405020304" pitchFamily="18" charset="0"/>
              </a:rPr>
              <a:t> </a:t>
            </a:r>
            <a:endParaRPr dirty="0">
              <a:latin typeface="Times New Roman" panose="02020603050405020304" pitchFamily="18" charset="0"/>
              <a:cs typeface="Times New Roman" panose="02020603050405020304" pitchFamily="18" charset="0"/>
            </a:endParaRPr>
          </a:p>
        </p:txBody>
      </p:sp>
      <p:sp>
        <p:nvSpPr>
          <p:cNvPr id="268" name="Google Shape;268;p24"/>
          <p:cNvSpPr txBox="1">
            <a:spLocks noGrp="1"/>
          </p:cNvSpPr>
          <p:nvPr>
            <p:ph type="body" idx="2"/>
          </p:nvPr>
        </p:nvSpPr>
        <p:spPr>
          <a:xfrm>
            <a:off x="4694250" y="1997050"/>
            <a:ext cx="3999900" cy="1695300"/>
          </a:xfrm>
          <a:prstGeom prst="rect">
            <a:avLst/>
          </a:prstGeom>
          <a:noFill/>
          <a:ln>
            <a:noFill/>
          </a:ln>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SzPts val="1200"/>
              <a:buChar char="●"/>
            </a:pPr>
            <a:r>
              <a:rPr lang="en-US" sz="1700" dirty="0">
                <a:latin typeface="Times New Roman" panose="02020603050405020304" pitchFamily="18" charset="0"/>
                <a:cs typeface="Times New Roman" panose="02020603050405020304" pitchFamily="18" charset="0"/>
              </a:rPr>
              <a:t>Haptics- different touches </a:t>
            </a:r>
            <a:endParaRPr sz="1700" dirty="0">
              <a:latin typeface="Times New Roman" panose="02020603050405020304" pitchFamily="18" charset="0"/>
              <a:cs typeface="Times New Roman" panose="02020603050405020304" pitchFamily="18" charset="0"/>
            </a:endParaRPr>
          </a:p>
          <a:p>
            <a:pPr marL="457200" lvl="0" indent="-304800" algn="l" rtl="0">
              <a:lnSpc>
                <a:spcPct val="115000"/>
              </a:lnSpc>
              <a:spcBef>
                <a:spcPts val="0"/>
              </a:spcBef>
              <a:spcAft>
                <a:spcPts val="0"/>
              </a:spcAft>
              <a:buSzPts val="1200"/>
              <a:buChar char="●"/>
            </a:pPr>
            <a:r>
              <a:rPr lang="en-US" sz="1700" dirty="0" err="1">
                <a:latin typeface="Times New Roman" panose="02020603050405020304" pitchFamily="18" charset="0"/>
                <a:cs typeface="Times New Roman" panose="02020603050405020304" pitchFamily="18" charset="0"/>
              </a:rPr>
              <a:t>Olfactics</a:t>
            </a:r>
            <a:r>
              <a:rPr lang="en-US" sz="1700" dirty="0">
                <a:latin typeface="Times New Roman" panose="02020603050405020304" pitchFamily="18" charset="0"/>
                <a:cs typeface="Times New Roman" panose="02020603050405020304" pitchFamily="18" charset="0"/>
              </a:rPr>
              <a:t>-sense of smell   </a:t>
            </a:r>
            <a:endParaRPr sz="1700" dirty="0">
              <a:latin typeface="Times New Roman" panose="02020603050405020304" pitchFamily="18" charset="0"/>
              <a:cs typeface="Times New Roman" panose="02020603050405020304" pitchFamily="18" charset="0"/>
            </a:endParaRPr>
          </a:p>
          <a:p>
            <a:pPr marL="457200" lvl="0" indent="-304800" algn="l" rtl="0">
              <a:lnSpc>
                <a:spcPct val="115000"/>
              </a:lnSpc>
              <a:spcBef>
                <a:spcPts val="0"/>
              </a:spcBef>
              <a:spcAft>
                <a:spcPts val="0"/>
              </a:spcAft>
              <a:buSzPts val="1200"/>
              <a:buChar char="●"/>
            </a:pPr>
            <a:r>
              <a:rPr lang="en-US" sz="1700" dirty="0">
                <a:latin typeface="Times New Roman" panose="02020603050405020304" pitchFamily="18" charset="0"/>
                <a:cs typeface="Times New Roman" panose="02020603050405020304" pitchFamily="18" charset="0"/>
              </a:rPr>
              <a:t>Chromatics-use of </a:t>
            </a:r>
            <a:r>
              <a:rPr lang="en-US" sz="1700" dirty="0" err="1">
                <a:latin typeface="Times New Roman" panose="02020603050405020304" pitchFamily="18" charset="0"/>
                <a:cs typeface="Times New Roman" panose="02020603050405020304" pitchFamily="18" charset="0"/>
              </a:rPr>
              <a:t>colour</a:t>
            </a:r>
            <a:r>
              <a:rPr lang="en-US" sz="1700" dirty="0">
                <a:latin typeface="Times New Roman" panose="02020603050405020304" pitchFamily="18" charset="0"/>
                <a:cs typeface="Times New Roman" panose="02020603050405020304" pitchFamily="18" charset="0"/>
              </a:rPr>
              <a:t>   </a:t>
            </a:r>
            <a:endParaRPr sz="1700" dirty="0">
              <a:latin typeface="Times New Roman" panose="02020603050405020304" pitchFamily="18" charset="0"/>
              <a:cs typeface="Times New Roman" panose="02020603050405020304" pitchFamily="18" charset="0"/>
            </a:endParaRPr>
          </a:p>
          <a:p>
            <a:pPr marL="457200" lvl="0" indent="-304800" algn="l" rtl="0">
              <a:lnSpc>
                <a:spcPct val="115000"/>
              </a:lnSpc>
              <a:spcBef>
                <a:spcPts val="0"/>
              </a:spcBef>
              <a:spcAft>
                <a:spcPts val="0"/>
              </a:spcAft>
              <a:buSzPts val="1200"/>
              <a:buChar char="●"/>
            </a:pPr>
            <a:r>
              <a:rPr lang="en-US" sz="1700" dirty="0">
                <a:latin typeface="Times New Roman" panose="02020603050405020304" pitchFamily="18" charset="0"/>
                <a:cs typeface="Times New Roman" panose="02020603050405020304" pitchFamily="18" charset="0"/>
              </a:rPr>
              <a:t>silence</a:t>
            </a:r>
            <a:endParaRPr sz="17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xmlns="" id="{7B769183-9A48-415A-87C8-2D1746C55812}"/>
              </a:ext>
            </a:extLst>
          </p:cNvPr>
          <p:cNvSpPr>
            <a:spLocks noGrp="1"/>
          </p:cNvSpPr>
          <p:nvPr>
            <p:ph type="title"/>
          </p:nvPr>
        </p:nvSpPr>
        <p:spPr/>
        <p:txBody>
          <a:bodyPr/>
          <a:lstStyle/>
          <a:p>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b="1" dirty="0">
                <a:latin typeface="Times New Roman" panose="02020603050405020304" pitchFamily="18" charset="0"/>
                <a:cs typeface="Times New Roman" panose="02020603050405020304" pitchFamily="18" charset="0"/>
              </a:rPr>
              <a:t>Types of Communication</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13312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
          <p:cNvSpPr txBox="1">
            <a:spLocks noGrp="1"/>
          </p:cNvSpPr>
          <p:nvPr>
            <p:ph type="title"/>
          </p:nvPr>
        </p:nvSpPr>
        <p:spPr>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US" b="1" dirty="0">
                <a:latin typeface="Times New Roman" panose="02020603050405020304" pitchFamily="18" charset="0"/>
                <a:cs typeface="Times New Roman" panose="02020603050405020304" pitchFamily="18" charset="0"/>
              </a:rPr>
              <a:t>Different forms of communication</a:t>
            </a:r>
            <a:endParaRPr b="1" dirty="0">
              <a:latin typeface="Times New Roman" panose="02020603050405020304" pitchFamily="18" charset="0"/>
              <a:cs typeface="Times New Roman" panose="02020603050405020304" pitchFamily="18" charset="0"/>
            </a:endParaRPr>
          </a:p>
        </p:txBody>
      </p:sp>
      <p:sp>
        <p:nvSpPr>
          <p:cNvPr id="119" name="Google Shape;119;p2"/>
          <p:cNvSpPr txBox="1">
            <a:spLocks noGrp="1"/>
          </p:cNvSpPr>
          <p:nvPr>
            <p:ph type="body" idx="1"/>
          </p:nvPr>
        </p:nvSpPr>
        <p:spPr>
          <a:xfrm>
            <a:off x="471900" y="1919075"/>
            <a:ext cx="2601300" cy="2710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US" sz="1800" dirty="0">
                <a:solidFill>
                  <a:srgbClr val="0000FF"/>
                </a:solidFill>
                <a:highlight>
                  <a:srgbClr val="FFFF00"/>
                </a:highlight>
                <a:latin typeface="Times New Roman" panose="02020603050405020304" pitchFamily="18" charset="0"/>
                <a:cs typeface="Times New Roman" panose="02020603050405020304" pitchFamily="18" charset="0"/>
              </a:rPr>
              <a:t>On the basis of levels</a:t>
            </a:r>
            <a:endParaRPr sz="1800" dirty="0">
              <a:solidFill>
                <a:srgbClr val="0000FF"/>
              </a:solidFill>
              <a:highlight>
                <a:srgbClr val="FFFF00"/>
              </a:highlight>
              <a:latin typeface="Times New Roman" panose="02020603050405020304" pitchFamily="18" charset="0"/>
              <a:cs typeface="Times New Roman" panose="02020603050405020304" pitchFamily="18" charset="0"/>
            </a:endParaRPr>
          </a:p>
          <a:p>
            <a:pPr marL="457200" lvl="0" indent="-317500" algn="l" rtl="0">
              <a:lnSpc>
                <a:spcPct val="115000"/>
              </a:lnSpc>
              <a:spcBef>
                <a:spcPts val="1600"/>
              </a:spcBef>
              <a:spcAft>
                <a:spcPts val="0"/>
              </a:spcAft>
              <a:buSzPts val="1400"/>
              <a:buChar char="●"/>
            </a:pPr>
            <a:r>
              <a:rPr lang="en-US" sz="1800" dirty="0" err="1">
                <a:latin typeface="Times New Roman" panose="02020603050405020304" pitchFamily="18" charset="0"/>
                <a:cs typeface="Times New Roman" panose="02020603050405020304" pitchFamily="18" charset="0"/>
              </a:rPr>
              <a:t>Extrapersonal</a:t>
            </a:r>
            <a:endParaRPr sz="1800" dirty="0">
              <a:latin typeface="Times New Roman" panose="02020603050405020304" pitchFamily="18" charset="0"/>
              <a:cs typeface="Times New Roman" panose="02020603050405020304" pitchFamily="18" charset="0"/>
            </a:endParaRPr>
          </a:p>
          <a:p>
            <a:pPr marL="457200" lvl="0" indent="-317500" algn="l" rtl="0">
              <a:lnSpc>
                <a:spcPct val="115000"/>
              </a:lnSpc>
              <a:spcBef>
                <a:spcPts val="0"/>
              </a:spcBef>
              <a:spcAft>
                <a:spcPts val="0"/>
              </a:spcAft>
              <a:buSzPts val="1400"/>
              <a:buChar char="●"/>
            </a:pPr>
            <a:r>
              <a:rPr lang="en-US" sz="1800" dirty="0">
                <a:latin typeface="Times New Roman" panose="02020603050405020304" pitchFamily="18" charset="0"/>
                <a:cs typeface="Times New Roman" panose="02020603050405020304" pitchFamily="18" charset="0"/>
              </a:rPr>
              <a:t>Intrapersonal </a:t>
            </a:r>
            <a:endParaRPr sz="1800" dirty="0">
              <a:latin typeface="Times New Roman" panose="02020603050405020304" pitchFamily="18" charset="0"/>
              <a:cs typeface="Times New Roman" panose="02020603050405020304" pitchFamily="18" charset="0"/>
            </a:endParaRPr>
          </a:p>
          <a:p>
            <a:pPr marL="457200" lvl="0" indent="-317500" algn="l" rtl="0">
              <a:lnSpc>
                <a:spcPct val="115000"/>
              </a:lnSpc>
              <a:spcBef>
                <a:spcPts val="0"/>
              </a:spcBef>
              <a:spcAft>
                <a:spcPts val="0"/>
              </a:spcAft>
              <a:buSzPts val="1400"/>
              <a:buChar char="●"/>
            </a:pPr>
            <a:r>
              <a:rPr lang="en-US" sz="1800" dirty="0">
                <a:latin typeface="Times New Roman" panose="02020603050405020304" pitchFamily="18" charset="0"/>
                <a:cs typeface="Times New Roman" panose="02020603050405020304" pitchFamily="18" charset="0"/>
              </a:rPr>
              <a:t>Interpersonal </a:t>
            </a:r>
            <a:endParaRPr sz="1800" dirty="0">
              <a:latin typeface="Times New Roman" panose="02020603050405020304" pitchFamily="18" charset="0"/>
              <a:cs typeface="Times New Roman" panose="02020603050405020304" pitchFamily="18" charset="0"/>
            </a:endParaRPr>
          </a:p>
          <a:p>
            <a:pPr marL="457200" lvl="0" indent="-317500" algn="l" rtl="0">
              <a:lnSpc>
                <a:spcPct val="115000"/>
              </a:lnSpc>
              <a:spcBef>
                <a:spcPts val="0"/>
              </a:spcBef>
              <a:spcAft>
                <a:spcPts val="0"/>
              </a:spcAft>
              <a:buSzPts val="1400"/>
              <a:buChar char="●"/>
            </a:pPr>
            <a:r>
              <a:rPr lang="en-US" sz="1800" dirty="0">
                <a:latin typeface="Times New Roman" panose="02020603050405020304" pitchFamily="18" charset="0"/>
                <a:cs typeface="Times New Roman" panose="02020603050405020304" pitchFamily="18" charset="0"/>
              </a:rPr>
              <a:t>Mass </a:t>
            </a:r>
            <a:endParaRPr sz="1800" dirty="0">
              <a:latin typeface="Times New Roman" panose="02020603050405020304" pitchFamily="18" charset="0"/>
              <a:cs typeface="Times New Roman" panose="02020603050405020304" pitchFamily="18" charset="0"/>
            </a:endParaRPr>
          </a:p>
          <a:p>
            <a:pPr marL="457200" lvl="0" indent="-317500" algn="l" rtl="0">
              <a:lnSpc>
                <a:spcPct val="115000"/>
              </a:lnSpc>
              <a:spcBef>
                <a:spcPts val="0"/>
              </a:spcBef>
              <a:spcAft>
                <a:spcPts val="0"/>
              </a:spcAft>
              <a:buSzPts val="1400"/>
              <a:buChar char="●"/>
            </a:pPr>
            <a:r>
              <a:rPr lang="en-US" sz="1800" dirty="0">
                <a:latin typeface="Times New Roman" panose="02020603050405020304" pitchFamily="18" charset="0"/>
                <a:cs typeface="Times New Roman" panose="02020603050405020304" pitchFamily="18" charset="0"/>
              </a:rPr>
              <a:t>Organizational</a:t>
            </a:r>
            <a:endParaRPr sz="1800" dirty="0">
              <a:latin typeface="Times New Roman" panose="02020603050405020304" pitchFamily="18" charset="0"/>
              <a:cs typeface="Times New Roman" panose="02020603050405020304" pitchFamily="18" charset="0"/>
            </a:endParaRPr>
          </a:p>
        </p:txBody>
      </p:sp>
      <p:sp>
        <p:nvSpPr>
          <p:cNvPr id="121" name="Google Shape;121;p2"/>
          <p:cNvSpPr txBox="1">
            <a:spLocks noGrp="1"/>
          </p:cNvSpPr>
          <p:nvPr>
            <p:ph type="body" idx="2"/>
          </p:nvPr>
        </p:nvSpPr>
        <p:spPr>
          <a:xfrm>
            <a:off x="3396303" y="1919075"/>
            <a:ext cx="2601300" cy="2710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US" sz="1800" dirty="0">
                <a:solidFill>
                  <a:srgbClr val="0000FF"/>
                </a:solidFill>
                <a:highlight>
                  <a:srgbClr val="FFFF00"/>
                </a:highlight>
                <a:latin typeface="Times New Roman" panose="02020603050405020304" pitchFamily="18" charset="0"/>
                <a:cs typeface="Times New Roman" panose="02020603050405020304" pitchFamily="18" charset="0"/>
              </a:rPr>
              <a:t>On the basis of Flow</a:t>
            </a:r>
            <a:endParaRPr sz="1800" dirty="0">
              <a:solidFill>
                <a:srgbClr val="0000FF"/>
              </a:solidFill>
              <a:highlight>
                <a:srgbClr val="FFFF00"/>
              </a:highlight>
              <a:latin typeface="Times New Roman" panose="02020603050405020304" pitchFamily="18" charset="0"/>
              <a:cs typeface="Times New Roman" panose="02020603050405020304" pitchFamily="18" charset="0"/>
            </a:endParaRPr>
          </a:p>
          <a:p>
            <a:pPr marL="457200" lvl="0" indent="-317500" algn="l" rtl="0">
              <a:lnSpc>
                <a:spcPct val="115000"/>
              </a:lnSpc>
              <a:spcBef>
                <a:spcPts val="1600"/>
              </a:spcBef>
              <a:spcAft>
                <a:spcPts val="0"/>
              </a:spcAft>
              <a:buSzPts val="1400"/>
              <a:buChar char="●"/>
            </a:pPr>
            <a:r>
              <a:rPr lang="en-US" sz="1800" dirty="0">
                <a:latin typeface="Times New Roman" panose="02020603050405020304" pitchFamily="18" charset="0"/>
                <a:cs typeface="Times New Roman" panose="02020603050405020304" pitchFamily="18" charset="0"/>
              </a:rPr>
              <a:t>Vertical </a:t>
            </a:r>
            <a:endParaRPr sz="1800" dirty="0">
              <a:latin typeface="Times New Roman" panose="02020603050405020304" pitchFamily="18" charset="0"/>
              <a:cs typeface="Times New Roman" panose="02020603050405020304" pitchFamily="18" charset="0"/>
            </a:endParaRPr>
          </a:p>
          <a:p>
            <a:pPr marL="457200" lvl="0" indent="-317500" algn="l" rtl="0">
              <a:lnSpc>
                <a:spcPct val="115000"/>
              </a:lnSpc>
              <a:spcBef>
                <a:spcPts val="0"/>
              </a:spcBef>
              <a:spcAft>
                <a:spcPts val="0"/>
              </a:spcAft>
              <a:buSzPts val="1400"/>
              <a:buChar char="●"/>
            </a:pPr>
            <a:r>
              <a:rPr lang="en-US" sz="1800" dirty="0">
                <a:latin typeface="Times New Roman" panose="02020603050405020304" pitchFamily="18" charset="0"/>
                <a:cs typeface="Times New Roman" panose="02020603050405020304" pitchFamily="18" charset="0"/>
              </a:rPr>
              <a:t>Horizontal </a:t>
            </a:r>
            <a:endParaRPr sz="1800" dirty="0">
              <a:latin typeface="Times New Roman" panose="02020603050405020304" pitchFamily="18" charset="0"/>
              <a:cs typeface="Times New Roman" panose="02020603050405020304" pitchFamily="18" charset="0"/>
            </a:endParaRPr>
          </a:p>
          <a:p>
            <a:pPr marL="457200" lvl="0" indent="-317500" algn="l" rtl="0">
              <a:lnSpc>
                <a:spcPct val="115000"/>
              </a:lnSpc>
              <a:spcBef>
                <a:spcPts val="0"/>
              </a:spcBef>
              <a:spcAft>
                <a:spcPts val="0"/>
              </a:spcAft>
              <a:buSzPts val="1400"/>
              <a:buChar char="●"/>
            </a:pPr>
            <a:r>
              <a:rPr lang="en-US" sz="1800" dirty="0">
                <a:latin typeface="Times New Roman" panose="02020603050405020304" pitchFamily="18" charset="0"/>
                <a:cs typeface="Times New Roman" panose="02020603050405020304" pitchFamily="18" charset="0"/>
              </a:rPr>
              <a:t>Diagonal</a:t>
            </a:r>
            <a:endParaRPr sz="1800" dirty="0">
              <a:latin typeface="Times New Roman" panose="02020603050405020304" pitchFamily="18" charset="0"/>
              <a:cs typeface="Times New Roman" panose="02020603050405020304" pitchFamily="18" charset="0"/>
            </a:endParaRPr>
          </a:p>
          <a:p>
            <a:pPr marL="457200" lvl="0" indent="0" algn="l" rtl="0">
              <a:lnSpc>
                <a:spcPct val="115000"/>
              </a:lnSpc>
              <a:spcBef>
                <a:spcPts val="0"/>
              </a:spcBef>
              <a:spcAft>
                <a:spcPts val="0"/>
              </a:spcAft>
              <a:buNone/>
            </a:pPr>
            <a:endParaRPr dirty="0"/>
          </a:p>
        </p:txBody>
      </p:sp>
      <p:sp>
        <p:nvSpPr>
          <p:cNvPr id="120" name="Google Shape;120;p2"/>
          <p:cNvSpPr txBox="1">
            <a:spLocks noGrp="1"/>
          </p:cNvSpPr>
          <p:nvPr>
            <p:ph type="body" idx="4294967295"/>
          </p:nvPr>
        </p:nvSpPr>
        <p:spPr>
          <a:xfrm>
            <a:off x="6770688" y="1158875"/>
            <a:ext cx="2373312" cy="375285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US" sz="1600" dirty="0">
                <a:solidFill>
                  <a:srgbClr val="0000FF"/>
                </a:solidFill>
                <a:highlight>
                  <a:srgbClr val="FFFF00"/>
                </a:highlight>
                <a:latin typeface="Times New Roman" panose="02020603050405020304" pitchFamily="18" charset="0"/>
                <a:cs typeface="Times New Roman" panose="02020603050405020304" pitchFamily="18" charset="0"/>
              </a:rPr>
              <a:t>On the basis of means, kinds, manners, forms</a:t>
            </a:r>
            <a:endParaRPr sz="1600" dirty="0">
              <a:solidFill>
                <a:srgbClr val="0000FF"/>
              </a:solidFill>
              <a:highlight>
                <a:srgbClr val="FFFF00"/>
              </a:highlight>
              <a:latin typeface="Times New Roman" panose="02020603050405020304" pitchFamily="18" charset="0"/>
              <a:cs typeface="Times New Roman" panose="02020603050405020304" pitchFamily="18" charset="0"/>
            </a:endParaRPr>
          </a:p>
          <a:p>
            <a:pPr marL="457200" lvl="0" indent="-317500" algn="l" rtl="0">
              <a:lnSpc>
                <a:spcPct val="115000"/>
              </a:lnSpc>
              <a:spcBef>
                <a:spcPts val="1600"/>
              </a:spcBef>
              <a:spcAft>
                <a:spcPts val="0"/>
              </a:spcAft>
              <a:buSzPts val="1400"/>
              <a:buChar char="●"/>
            </a:pPr>
            <a:r>
              <a:rPr lang="en-US" sz="1600" dirty="0">
                <a:latin typeface="Times New Roman" panose="02020603050405020304" pitchFamily="18" charset="0"/>
                <a:cs typeface="Times New Roman" panose="02020603050405020304" pitchFamily="18" charset="0"/>
              </a:rPr>
              <a:t>Verbal- Oral and Written </a:t>
            </a:r>
            <a:endParaRPr sz="1600" dirty="0">
              <a:latin typeface="Times New Roman" panose="02020603050405020304" pitchFamily="18" charset="0"/>
              <a:cs typeface="Times New Roman" panose="02020603050405020304" pitchFamily="18" charset="0"/>
            </a:endParaRPr>
          </a:p>
          <a:p>
            <a:pPr marL="457200" lvl="0" indent="-317500" algn="l" rtl="0">
              <a:lnSpc>
                <a:spcPct val="115000"/>
              </a:lnSpc>
              <a:spcBef>
                <a:spcPts val="0"/>
              </a:spcBef>
              <a:spcAft>
                <a:spcPts val="0"/>
              </a:spcAft>
              <a:buSzPts val="1400"/>
              <a:buChar char="●"/>
            </a:pPr>
            <a:r>
              <a:rPr lang="en-US" sz="1600" dirty="0">
                <a:latin typeface="Times New Roman" panose="02020603050405020304" pitchFamily="18" charset="0"/>
                <a:cs typeface="Times New Roman" panose="02020603050405020304" pitchFamily="18" charset="0"/>
              </a:rPr>
              <a:t>Non-verbal - Kinesics, Proxemics, </a:t>
            </a:r>
            <a:r>
              <a:rPr lang="en-US" sz="1600" dirty="0" err="1">
                <a:latin typeface="Times New Roman" panose="02020603050405020304" pitchFamily="18" charset="0"/>
                <a:cs typeface="Times New Roman" panose="02020603050405020304" pitchFamily="18" charset="0"/>
              </a:rPr>
              <a:t>Oculesics</a:t>
            </a:r>
            <a:r>
              <a:rPr lang="en-US" sz="1600" dirty="0">
                <a:latin typeface="Times New Roman" panose="02020603050405020304" pitchFamily="18" charset="0"/>
                <a:cs typeface="Times New Roman" panose="02020603050405020304" pitchFamily="18" charset="0"/>
              </a:rPr>
              <a:t>, Chronemics, Artefacts, Haptics, </a:t>
            </a:r>
            <a:r>
              <a:rPr lang="en-US" sz="1600" dirty="0" err="1">
                <a:latin typeface="Times New Roman" panose="02020603050405020304" pitchFamily="18" charset="0"/>
                <a:cs typeface="Times New Roman" panose="02020603050405020304" pitchFamily="18" charset="0"/>
              </a:rPr>
              <a:t>Olfactics</a:t>
            </a:r>
            <a:r>
              <a:rPr lang="en-US" sz="1600" dirty="0">
                <a:latin typeface="Times New Roman" panose="02020603050405020304" pitchFamily="18" charset="0"/>
                <a:cs typeface="Times New Roman" panose="02020603050405020304" pitchFamily="18" charset="0"/>
              </a:rPr>
              <a:t>, Chromatics and silence</a:t>
            </a:r>
            <a:endParaRPr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3"/>
          <p:cNvSpPr txBox="1">
            <a:spLocks noGrp="1"/>
          </p:cNvSpPr>
          <p:nvPr>
            <p:ph type="title"/>
          </p:nvPr>
        </p:nvSpPr>
        <p:spPr>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200"/>
              <a:buNone/>
            </a:pPr>
            <a:r>
              <a:rPr lang="en-US" dirty="0">
                <a:latin typeface="Times New Roman" panose="02020603050405020304" pitchFamily="18" charset="0"/>
                <a:cs typeface="Times New Roman" panose="02020603050405020304" pitchFamily="18" charset="0"/>
              </a:rPr>
              <a:t>Levels of communication</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4"/>
          <p:cNvSpPr txBox="1">
            <a:spLocks noGrp="1"/>
          </p:cNvSpPr>
          <p:nvPr>
            <p:ph type="title"/>
          </p:nvPr>
        </p:nvSpPr>
        <p:spPr>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US" dirty="0" err="1">
                <a:latin typeface="Times New Roman" panose="02020603050405020304" pitchFamily="18" charset="0"/>
                <a:cs typeface="Times New Roman" panose="02020603050405020304" pitchFamily="18" charset="0"/>
              </a:rPr>
              <a:t>Extrapersonal</a:t>
            </a:r>
            <a:r>
              <a:rPr lang="en-US" dirty="0">
                <a:latin typeface="Times New Roman" panose="02020603050405020304" pitchFamily="18" charset="0"/>
                <a:cs typeface="Times New Roman" panose="02020603050405020304" pitchFamily="18" charset="0"/>
              </a:rPr>
              <a:t> Communication</a:t>
            </a:r>
            <a:endParaRPr dirty="0">
              <a:latin typeface="Times New Roman" panose="02020603050405020304" pitchFamily="18" charset="0"/>
              <a:cs typeface="Times New Roman" panose="02020603050405020304" pitchFamily="18" charset="0"/>
            </a:endParaRPr>
          </a:p>
        </p:txBody>
      </p:sp>
      <p:sp>
        <p:nvSpPr>
          <p:cNvPr id="132" name="Google Shape;132;p4"/>
          <p:cNvSpPr txBox="1">
            <a:spLocks noGrp="1"/>
          </p:cNvSpPr>
          <p:nvPr>
            <p:ph type="body" idx="1"/>
          </p:nvPr>
        </p:nvSpPr>
        <p:spPr>
          <a:xfrm>
            <a:off x="577850" y="1919075"/>
            <a:ext cx="3818700" cy="3080062"/>
          </a:xfrm>
          <a:prstGeom prst="rect">
            <a:avLst/>
          </a:prstGeom>
          <a:noFill/>
          <a:ln>
            <a:noFill/>
          </a:ln>
        </p:spPr>
        <p:txBody>
          <a:bodyPr spcFirstLastPara="1" wrap="square" lIns="91425" tIns="91425" rIns="91425" bIns="91425" anchor="t" anchorCtr="0">
            <a:noAutofit/>
          </a:bodyPr>
          <a:lstStyle/>
          <a:p>
            <a:pPr marL="457200" lvl="0" indent="-317500" algn="just" rtl="0">
              <a:lnSpc>
                <a:spcPct val="115000"/>
              </a:lnSpc>
              <a:spcBef>
                <a:spcPts val="0"/>
              </a:spcBef>
              <a:spcAft>
                <a:spcPts val="0"/>
              </a:spcAft>
              <a:buSzPts val="1400"/>
              <a:buChar char="●"/>
            </a:pPr>
            <a:r>
              <a:rPr lang="en-US" sz="1600" dirty="0">
                <a:latin typeface="Times New Roman" panose="02020603050405020304" pitchFamily="18" charset="0"/>
                <a:cs typeface="Times New Roman" panose="02020603050405020304" pitchFamily="18" charset="0"/>
              </a:rPr>
              <a:t>Communication between human beings and nonhuman entities is </a:t>
            </a:r>
            <a:r>
              <a:rPr lang="en-US" sz="1600" dirty="0" err="1">
                <a:latin typeface="Times New Roman" panose="02020603050405020304" pitchFamily="18" charset="0"/>
                <a:cs typeface="Times New Roman" panose="02020603050405020304" pitchFamily="18" charset="0"/>
              </a:rPr>
              <a:t>extrapersonal</a:t>
            </a:r>
            <a:r>
              <a:rPr lang="en-US" sz="1600" dirty="0">
                <a:latin typeface="Times New Roman" panose="02020603050405020304" pitchFamily="18" charset="0"/>
                <a:cs typeface="Times New Roman" panose="02020603050405020304" pitchFamily="18" charset="0"/>
              </a:rPr>
              <a:t>.</a:t>
            </a:r>
            <a:endParaRPr sz="1600" dirty="0">
              <a:latin typeface="Times New Roman" panose="02020603050405020304" pitchFamily="18" charset="0"/>
              <a:cs typeface="Times New Roman" panose="02020603050405020304" pitchFamily="18" charset="0"/>
            </a:endParaRPr>
          </a:p>
          <a:p>
            <a:pPr marL="457200" lvl="0" indent="-317500" algn="just" rtl="0">
              <a:lnSpc>
                <a:spcPct val="115000"/>
              </a:lnSpc>
              <a:spcBef>
                <a:spcPts val="0"/>
              </a:spcBef>
              <a:spcAft>
                <a:spcPts val="0"/>
              </a:spcAft>
              <a:buSzPts val="1400"/>
              <a:buChar char="●"/>
            </a:pPr>
            <a:r>
              <a:rPr lang="en-US" sz="1600" dirty="0">
                <a:latin typeface="Times New Roman" panose="02020603050405020304" pitchFamily="18" charset="0"/>
                <a:cs typeface="Times New Roman" panose="02020603050405020304" pitchFamily="18" charset="0"/>
              </a:rPr>
              <a:t>Example: Your pet dog comes to you wagging its tail as soon as you return home from work.</a:t>
            </a:r>
            <a:endParaRPr sz="1600" dirty="0">
              <a:latin typeface="Times New Roman" panose="02020603050405020304" pitchFamily="18" charset="0"/>
              <a:cs typeface="Times New Roman" panose="02020603050405020304" pitchFamily="18" charset="0"/>
            </a:endParaRPr>
          </a:p>
          <a:p>
            <a:pPr marL="457200" lvl="0" indent="-317500" algn="just" rtl="0">
              <a:lnSpc>
                <a:spcPct val="115000"/>
              </a:lnSpc>
              <a:spcBef>
                <a:spcPts val="0"/>
              </a:spcBef>
              <a:spcAft>
                <a:spcPts val="0"/>
              </a:spcAft>
              <a:buSzPts val="1400"/>
              <a:buChar char="●"/>
            </a:pPr>
            <a:r>
              <a:rPr lang="en-US" sz="1600" dirty="0">
                <a:latin typeface="Times New Roman" panose="02020603050405020304" pitchFamily="18" charset="0"/>
                <a:cs typeface="Times New Roman" panose="02020603050405020304" pitchFamily="18" charset="0"/>
              </a:rPr>
              <a:t>This form of communication requires perfect coordination and understanding between the sender and the receiver.</a:t>
            </a:r>
            <a:endParaRPr sz="1600" dirty="0">
              <a:latin typeface="Times New Roman" panose="02020603050405020304" pitchFamily="18" charset="0"/>
              <a:cs typeface="Times New Roman" panose="02020603050405020304" pitchFamily="18" charset="0"/>
            </a:endParaRPr>
          </a:p>
        </p:txBody>
      </p:sp>
      <p:sp>
        <p:nvSpPr>
          <p:cNvPr id="133" name="Google Shape;133;p4"/>
          <p:cNvSpPr/>
          <p:nvPr/>
        </p:nvSpPr>
        <p:spPr>
          <a:xfrm>
            <a:off x="5122935" y="1919075"/>
            <a:ext cx="3571075" cy="308006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4" name="Google Shape;134;p4"/>
          <p:cNvPicPr preferRelativeResize="0"/>
          <p:nvPr/>
        </p:nvPicPr>
        <p:blipFill rotWithShape="1">
          <a:blip r:embed="rId3">
            <a:alphaModFix/>
          </a:blip>
          <a:srcRect/>
          <a:stretch/>
        </p:blipFill>
        <p:spPr>
          <a:xfrm>
            <a:off x="4999143" y="2672272"/>
            <a:ext cx="3818659" cy="247122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5"/>
          <p:cNvSpPr txBox="1">
            <a:spLocks noGrp="1"/>
          </p:cNvSpPr>
          <p:nvPr>
            <p:ph type="title"/>
          </p:nvPr>
        </p:nvSpPr>
        <p:spPr>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US" dirty="0">
                <a:latin typeface="Times New Roman" panose="02020603050405020304" pitchFamily="18" charset="0"/>
                <a:cs typeface="Times New Roman" panose="02020603050405020304" pitchFamily="18" charset="0"/>
              </a:rPr>
              <a:t>Intrapersonal Communication</a:t>
            </a:r>
            <a:endParaRPr dirty="0">
              <a:latin typeface="Times New Roman" panose="02020603050405020304" pitchFamily="18" charset="0"/>
              <a:cs typeface="Times New Roman" panose="02020603050405020304" pitchFamily="18" charset="0"/>
            </a:endParaRPr>
          </a:p>
        </p:txBody>
      </p:sp>
      <p:sp>
        <p:nvSpPr>
          <p:cNvPr id="140" name="Google Shape;140;p5"/>
          <p:cNvSpPr txBox="1">
            <a:spLocks noGrp="1"/>
          </p:cNvSpPr>
          <p:nvPr>
            <p:ph type="body" idx="1"/>
          </p:nvPr>
        </p:nvSpPr>
        <p:spPr>
          <a:xfrm>
            <a:off x="266275" y="1824650"/>
            <a:ext cx="4920300" cy="4118700"/>
          </a:xfrm>
          <a:prstGeom prst="rect">
            <a:avLst/>
          </a:prstGeom>
          <a:noFill/>
          <a:ln>
            <a:noFill/>
          </a:ln>
        </p:spPr>
        <p:txBody>
          <a:bodyPr spcFirstLastPara="1" wrap="square" lIns="91425" tIns="91425" rIns="91425" bIns="91425" anchor="t" anchorCtr="0">
            <a:noAutofit/>
          </a:bodyPr>
          <a:lstStyle/>
          <a:p>
            <a:pPr marL="457200" lvl="0" indent="-317500" algn="just" rtl="0">
              <a:lnSpc>
                <a:spcPct val="115000"/>
              </a:lnSpc>
              <a:spcBef>
                <a:spcPts val="0"/>
              </a:spcBef>
              <a:spcAft>
                <a:spcPts val="0"/>
              </a:spcAft>
              <a:buSzPts val="1400"/>
              <a:buChar char="●"/>
            </a:pPr>
            <a:r>
              <a:rPr lang="en-US" sz="1600" dirty="0">
                <a:latin typeface="Times New Roman" panose="02020603050405020304" pitchFamily="18" charset="0"/>
                <a:cs typeface="Times New Roman" panose="02020603050405020304" pitchFamily="18" charset="0"/>
              </a:rPr>
              <a:t>Intrapersonal communication takes place within an individual.</a:t>
            </a:r>
          </a:p>
          <a:p>
            <a:pPr marL="457200" lvl="0" indent="-336550" algn="l" rtl="0">
              <a:lnSpc>
                <a:spcPct val="115000"/>
              </a:lnSpc>
              <a:spcBef>
                <a:spcPts val="0"/>
              </a:spcBef>
              <a:spcAft>
                <a:spcPts val="0"/>
              </a:spcAft>
              <a:buSzPts val="1700"/>
              <a:buChar char="●"/>
            </a:pPr>
            <a:r>
              <a:rPr lang="en-US" sz="1600" dirty="0">
                <a:latin typeface="Times New Roman" panose="02020603050405020304" pitchFamily="18" charset="0"/>
                <a:cs typeface="Times New Roman" panose="02020603050405020304" pitchFamily="18" charset="0"/>
              </a:rPr>
              <a:t>Without an internal dialogue, one cannot proceed to the further levels of communication—interpersonal and organizational.</a:t>
            </a:r>
          </a:p>
          <a:p>
            <a:pPr marL="457200" lvl="0" indent="0" algn="l" rtl="0">
              <a:lnSpc>
                <a:spcPct val="115000"/>
              </a:lnSpc>
              <a:spcBef>
                <a:spcPts val="0"/>
              </a:spcBef>
              <a:spcAft>
                <a:spcPts val="0"/>
              </a:spcAft>
              <a:buNone/>
            </a:pPr>
            <a:endParaRPr lang="en-US" sz="1600" dirty="0">
              <a:latin typeface="Times New Roman" panose="02020603050405020304" pitchFamily="18" charset="0"/>
              <a:cs typeface="Times New Roman" panose="02020603050405020304" pitchFamily="18" charset="0"/>
            </a:endParaRPr>
          </a:p>
          <a:p>
            <a:pPr marL="457200" lvl="0" indent="-336550" algn="l" rtl="0">
              <a:lnSpc>
                <a:spcPct val="115000"/>
              </a:lnSpc>
              <a:spcBef>
                <a:spcPts val="0"/>
              </a:spcBef>
              <a:spcAft>
                <a:spcPts val="0"/>
              </a:spcAft>
              <a:buSzPts val="1700"/>
              <a:buChar char="●"/>
            </a:pPr>
            <a:r>
              <a:rPr lang="en-US" sz="1600" dirty="0">
                <a:latin typeface="Times New Roman" panose="02020603050405020304" pitchFamily="18" charset="0"/>
                <a:cs typeface="Times New Roman" panose="02020603050405020304" pitchFamily="18" charset="0"/>
              </a:rPr>
              <a:t>Self-motivation, self-determination, and the like take place at the intrapersonal level</a:t>
            </a:r>
          </a:p>
          <a:p>
            <a:pPr marL="457200" lvl="0" indent="-317500" algn="just" rtl="0">
              <a:lnSpc>
                <a:spcPct val="115000"/>
              </a:lnSpc>
              <a:spcBef>
                <a:spcPts val="0"/>
              </a:spcBef>
              <a:spcAft>
                <a:spcPts val="0"/>
              </a:spcAft>
              <a:buSzPts val="1400"/>
              <a:buChar char="●"/>
            </a:pPr>
            <a:endParaRPr sz="1600" dirty="0">
              <a:latin typeface="Times New Roman" panose="02020603050405020304" pitchFamily="18" charset="0"/>
              <a:cs typeface="Times New Roman" panose="02020603050405020304" pitchFamily="18" charset="0"/>
            </a:endParaRPr>
          </a:p>
        </p:txBody>
      </p:sp>
      <p:sp>
        <p:nvSpPr>
          <p:cNvPr id="141" name="Google Shape;141;p5"/>
          <p:cNvSpPr/>
          <p:nvPr/>
        </p:nvSpPr>
        <p:spPr>
          <a:xfrm>
            <a:off x="5359000" y="1703400"/>
            <a:ext cx="3551700" cy="3440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2" name="Google Shape;142;p5"/>
          <p:cNvPicPr preferRelativeResize="0"/>
          <p:nvPr/>
        </p:nvPicPr>
        <p:blipFill rotWithShape="1">
          <a:blip r:embed="rId3">
            <a:alphaModFix/>
          </a:blip>
          <a:srcRect/>
          <a:stretch/>
        </p:blipFill>
        <p:spPr>
          <a:xfrm>
            <a:off x="5450396" y="1672677"/>
            <a:ext cx="3693604" cy="296259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7"/>
          <p:cNvSpPr txBox="1">
            <a:spLocks noGrp="1"/>
          </p:cNvSpPr>
          <p:nvPr>
            <p:ph type="title"/>
          </p:nvPr>
        </p:nvSpPr>
        <p:spPr>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US" dirty="0">
                <a:latin typeface="Times New Roman" panose="02020603050405020304" pitchFamily="18" charset="0"/>
                <a:cs typeface="Times New Roman" panose="02020603050405020304" pitchFamily="18" charset="0"/>
              </a:rPr>
              <a:t>Interpersonal Communication</a:t>
            </a:r>
            <a:endParaRPr dirty="0">
              <a:latin typeface="Times New Roman" panose="02020603050405020304" pitchFamily="18" charset="0"/>
              <a:cs typeface="Times New Roman" panose="02020603050405020304" pitchFamily="18" charset="0"/>
            </a:endParaRPr>
          </a:p>
        </p:txBody>
      </p:sp>
      <p:sp>
        <p:nvSpPr>
          <p:cNvPr id="154" name="Google Shape;154;p7"/>
          <p:cNvSpPr txBox="1">
            <a:spLocks noGrp="1"/>
          </p:cNvSpPr>
          <p:nvPr>
            <p:ph type="body" idx="1"/>
          </p:nvPr>
        </p:nvSpPr>
        <p:spPr>
          <a:xfrm>
            <a:off x="57475" y="1919075"/>
            <a:ext cx="5244900" cy="2981100"/>
          </a:xfrm>
          <a:prstGeom prst="rect">
            <a:avLst/>
          </a:prstGeom>
          <a:noFill/>
          <a:ln>
            <a:noFill/>
          </a:ln>
        </p:spPr>
        <p:txBody>
          <a:bodyPr spcFirstLastPara="1" wrap="square" lIns="91425" tIns="91425" rIns="91425" bIns="91425" anchor="t" anchorCtr="0">
            <a:noAutofit/>
          </a:bodyPr>
          <a:lstStyle/>
          <a:p>
            <a:pPr marL="457200" lvl="0" indent="-317500" algn="just" rtl="0">
              <a:lnSpc>
                <a:spcPct val="115000"/>
              </a:lnSpc>
              <a:spcBef>
                <a:spcPts val="0"/>
              </a:spcBef>
              <a:spcAft>
                <a:spcPts val="0"/>
              </a:spcAft>
              <a:buSzPts val="1400"/>
              <a:buChar char="●"/>
            </a:pPr>
            <a:r>
              <a:rPr lang="en-US" sz="1600" dirty="0">
                <a:latin typeface="Times New Roman" panose="02020603050405020304" pitchFamily="18" charset="0"/>
                <a:cs typeface="Times New Roman" panose="02020603050405020304" pitchFamily="18" charset="0"/>
              </a:rPr>
              <a:t>Communication at this level refers to the sharing of information among people. </a:t>
            </a:r>
            <a:endParaRPr sz="1600" dirty="0">
              <a:latin typeface="Times New Roman" panose="02020603050405020304" pitchFamily="18" charset="0"/>
              <a:cs typeface="Times New Roman" panose="02020603050405020304" pitchFamily="18" charset="0"/>
            </a:endParaRPr>
          </a:p>
          <a:p>
            <a:pPr marL="457200" lvl="0" indent="0" algn="just" rtl="0">
              <a:lnSpc>
                <a:spcPct val="115000"/>
              </a:lnSpc>
              <a:spcBef>
                <a:spcPts val="0"/>
              </a:spcBef>
              <a:spcAft>
                <a:spcPts val="0"/>
              </a:spcAft>
              <a:buNone/>
            </a:pPr>
            <a:endParaRPr sz="1600" dirty="0">
              <a:latin typeface="Times New Roman" panose="02020603050405020304" pitchFamily="18" charset="0"/>
              <a:cs typeface="Times New Roman" panose="02020603050405020304" pitchFamily="18" charset="0"/>
            </a:endParaRPr>
          </a:p>
          <a:p>
            <a:pPr marL="457200" lvl="0" indent="-317500" algn="just" rtl="0">
              <a:lnSpc>
                <a:spcPct val="115000"/>
              </a:lnSpc>
              <a:spcBef>
                <a:spcPts val="0"/>
              </a:spcBef>
              <a:spcAft>
                <a:spcPts val="0"/>
              </a:spcAft>
              <a:buSzPts val="1400"/>
              <a:buChar char="●"/>
            </a:pPr>
            <a:r>
              <a:rPr lang="en-US" sz="1600" dirty="0">
                <a:latin typeface="Times New Roman" panose="02020603050405020304" pitchFamily="18" charset="0"/>
                <a:cs typeface="Times New Roman" panose="02020603050405020304" pitchFamily="18" charset="0"/>
              </a:rPr>
              <a:t>Interpersonal communication diﬀers from other forms of communication in that there are few participants involved, they are in close physical proximity to each other, many sensory channels are used, and feedback is immediate.</a:t>
            </a:r>
            <a:endParaRPr sz="1600" dirty="0">
              <a:latin typeface="Times New Roman" panose="02020603050405020304" pitchFamily="18" charset="0"/>
              <a:cs typeface="Times New Roman" panose="02020603050405020304" pitchFamily="18" charset="0"/>
            </a:endParaRPr>
          </a:p>
          <a:p>
            <a:pPr marL="457200" lvl="0" indent="0" algn="just" rtl="0">
              <a:lnSpc>
                <a:spcPct val="115000"/>
              </a:lnSpc>
              <a:spcBef>
                <a:spcPts val="0"/>
              </a:spcBef>
              <a:spcAft>
                <a:spcPts val="0"/>
              </a:spcAft>
              <a:buNone/>
            </a:pPr>
            <a:endParaRPr sz="1600" dirty="0">
              <a:latin typeface="Times New Roman" panose="02020603050405020304" pitchFamily="18" charset="0"/>
              <a:cs typeface="Times New Roman" panose="02020603050405020304" pitchFamily="18" charset="0"/>
            </a:endParaRPr>
          </a:p>
          <a:p>
            <a:pPr marL="457200" lvl="0" indent="-317500" algn="just" rtl="0">
              <a:lnSpc>
                <a:spcPct val="115000"/>
              </a:lnSpc>
              <a:spcBef>
                <a:spcPts val="0"/>
              </a:spcBef>
              <a:spcAft>
                <a:spcPts val="0"/>
              </a:spcAft>
              <a:buSzPts val="1400"/>
              <a:buChar char="●"/>
            </a:pPr>
            <a:r>
              <a:rPr lang="en-US" sz="1600" dirty="0">
                <a:latin typeface="Times New Roman" panose="02020603050405020304" pitchFamily="18" charset="0"/>
                <a:cs typeface="Times New Roman" panose="02020603050405020304" pitchFamily="18" charset="0"/>
              </a:rPr>
              <a:t>The roles of the sender and receiver keep alternating.</a:t>
            </a:r>
            <a:endParaRPr sz="1600" dirty="0">
              <a:latin typeface="Times New Roman" panose="02020603050405020304" pitchFamily="18" charset="0"/>
              <a:cs typeface="Times New Roman" panose="02020603050405020304" pitchFamily="18" charset="0"/>
            </a:endParaRPr>
          </a:p>
        </p:txBody>
      </p:sp>
      <p:pic>
        <p:nvPicPr>
          <p:cNvPr id="155" name="Google Shape;155;p7"/>
          <p:cNvPicPr preferRelativeResize="0"/>
          <p:nvPr/>
        </p:nvPicPr>
        <p:blipFill rotWithShape="1">
          <a:blip r:embed="rId3">
            <a:alphaModFix/>
          </a:blip>
          <a:srcRect/>
          <a:stretch/>
        </p:blipFill>
        <p:spPr>
          <a:xfrm>
            <a:off x="5508625" y="1764234"/>
            <a:ext cx="2933987" cy="298116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8"/>
          <p:cNvSpPr txBox="1">
            <a:spLocks noGrp="1"/>
          </p:cNvSpPr>
          <p:nvPr>
            <p:ph type="title"/>
          </p:nvPr>
        </p:nvSpPr>
        <p:spPr>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US" dirty="0">
                <a:latin typeface="Times New Roman" panose="02020603050405020304" pitchFamily="18" charset="0"/>
                <a:cs typeface="Times New Roman" panose="02020603050405020304" pitchFamily="18" charset="0"/>
              </a:rPr>
              <a:t>Interpersonal Communication</a:t>
            </a:r>
            <a:endParaRPr dirty="0">
              <a:latin typeface="Times New Roman" panose="02020603050405020304" pitchFamily="18" charset="0"/>
              <a:cs typeface="Times New Roman" panose="02020603050405020304" pitchFamily="18" charset="0"/>
            </a:endParaRPr>
          </a:p>
        </p:txBody>
      </p:sp>
      <p:sp>
        <p:nvSpPr>
          <p:cNvPr id="161" name="Google Shape;161;p8"/>
          <p:cNvSpPr txBox="1">
            <a:spLocks noGrp="1"/>
          </p:cNvSpPr>
          <p:nvPr>
            <p:ph type="body" idx="1"/>
          </p:nvPr>
        </p:nvSpPr>
        <p:spPr>
          <a:xfrm>
            <a:off x="471900" y="1919075"/>
            <a:ext cx="8364000" cy="2710200"/>
          </a:xfrm>
          <a:prstGeom prst="rect">
            <a:avLst/>
          </a:prstGeom>
          <a:noFill/>
          <a:ln>
            <a:noFill/>
          </a:ln>
        </p:spPr>
        <p:txBody>
          <a:bodyPr spcFirstLastPara="1" wrap="square" lIns="91425" tIns="91425" rIns="91425" bIns="91425" anchor="t" anchorCtr="0">
            <a:noAutofit/>
          </a:bodyPr>
          <a:lstStyle/>
          <a:p>
            <a:pPr marL="457200" lvl="0" indent="-330200" algn="just" rtl="0">
              <a:lnSpc>
                <a:spcPct val="115000"/>
              </a:lnSpc>
              <a:spcBef>
                <a:spcPts val="0"/>
              </a:spcBef>
              <a:spcAft>
                <a:spcPts val="0"/>
              </a:spcAft>
              <a:buSzPts val="1600"/>
              <a:buChar char="●"/>
            </a:pPr>
            <a:r>
              <a:rPr lang="en-US" sz="1800" dirty="0">
                <a:latin typeface="Times New Roman" panose="02020603050405020304" pitchFamily="18" charset="0"/>
                <a:cs typeface="Times New Roman" panose="02020603050405020304" pitchFamily="18" charset="0"/>
              </a:rPr>
              <a:t>Interpersonal communication can be formal or informal.</a:t>
            </a:r>
            <a:endParaRPr sz="1800" dirty="0">
              <a:latin typeface="Times New Roman" panose="02020603050405020304" pitchFamily="18" charset="0"/>
              <a:cs typeface="Times New Roman" panose="02020603050405020304" pitchFamily="18" charset="0"/>
            </a:endParaRPr>
          </a:p>
          <a:p>
            <a:pPr marL="457200" lvl="0" indent="0" algn="just" rtl="0">
              <a:lnSpc>
                <a:spcPct val="115000"/>
              </a:lnSpc>
              <a:spcBef>
                <a:spcPts val="0"/>
              </a:spcBef>
              <a:spcAft>
                <a:spcPts val="0"/>
              </a:spcAft>
              <a:buNone/>
            </a:pPr>
            <a:endParaRPr sz="1800" dirty="0">
              <a:latin typeface="Times New Roman" panose="02020603050405020304" pitchFamily="18" charset="0"/>
              <a:cs typeface="Times New Roman" panose="02020603050405020304" pitchFamily="18" charset="0"/>
            </a:endParaRPr>
          </a:p>
          <a:p>
            <a:pPr marL="457200" lvl="0" indent="-330200" algn="just" rtl="0">
              <a:lnSpc>
                <a:spcPct val="115000"/>
              </a:lnSpc>
              <a:spcBef>
                <a:spcPts val="0"/>
              </a:spcBef>
              <a:spcAft>
                <a:spcPts val="0"/>
              </a:spcAft>
              <a:buSzPts val="1600"/>
              <a:buChar char="●"/>
            </a:pPr>
            <a:r>
              <a:rPr lang="en-US" sz="1800" dirty="0">
                <a:latin typeface="Times New Roman" panose="02020603050405020304" pitchFamily="18" charset="0"/>
                <a:cs typeface="Times New Roman" panose="02020603050405020304" pitchFamily="18" charset="0"/>
              </a:rPr>
              <a:t>Most interpersonal communication situations depend on a variety of factors, such as the psychology of the two parties involved, the relationship between them, the circumstance in which the communication takes place, the surrounding environment, and ﬁnally the cultural context.</a:t>
            </a:r>
            <a:endParaRPr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9"/>
          <p:cNvSpPr txBox="1">
            <a:spLocks noGrp="1"/>
          </p:cNvSpPr>
          <p:nvPr>
            <p:ph type="title"/>
          </p:nvPr>
        </p:nvSpPr>
        <p:spPr>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US" dirty="0">
                <a:latin typeface="Times New Roman" panose="02020603050405020304" pitchFamily="18" charset="0"/>
                <a:cs typeface="Times New Roman" panose="02020603050405020304" pitchFamily="18" charset="0"/>
              </a:rPr>
              <a:t>Organizational Communication</a:t>
            </a:r>
            <a:endParaRPr dirty="0">
              <a:latin typeface="Times New Roman" panose="02020603050405020304" pitchFamily="18" charset="0"/>
              <a:cs typeface="Times New Roman" panose="02020603050405020304" pitchFamily="18" charset="0"/>
            </a:endParaRPr>
          </a:p>
        </p:txBody>
      </p:sp>
      <p:sp>
        <p:nvSpPr>
          <p:cNvPr id="167" name="Google Shape;167;p9"/>
          <p:cNvSpPr txBox="1">
            <a:spLocks noGrp="1"/>
          </p:cNvSpPr>
          <p:nvPr>
            <p:ph type="body" idx="1"/>
          </p:nvPr>
        </p:nvSpPr>
        <p:spPr>
          <a:xfrm>
            <a:off x="471900" y="1919075"/>
            <a:ext cx="4240500" cy="2813700"/>
          </a:xfrm>
          <a:prstGeom prst="rect">
            <a:avLst/>
          </a:prstGeom>
          <a:noFill/>
          <a:ln>
            <a:noFill/>
          </a:ln>
        </p:spPr>
        <p:txBody>
          <a:bodyPr spcFirstLastPara="1" wrap="square" lIns="91425" tIns="91425" rIns="91425" bIns="91425" anchor="t" anchorCtr="0">
            <a:noAutofit/>
          </a:bodyPr>
          <a:lstStyle/>
          <a:p>
            <a:pPr marL="457200" lvl="0" indent="-330200" algn="just" rtl="0">
              <a:lnSpc>
                <a:spcPct val="115000"/>
              </a:lnSpc>
              <a:spcBef>
                <a:spcPts val="0"/>
              </a:spcBef>
              <a:spcAft>
                <a:spcPts val="0"/>
              </a:spcAft>
              <a:buSzPts val="1600"/>
              <a:buChar char="●"/>
            </a:pPr>
            <a:r>
              <a:rPr lang="en-US" sz="1800" dirty="0">
                <a:latin typeface="Times New Roman" panose="02020603050405020304" pitchFamily="18" charset="0"/>
                <a:cs typeface="Times New Roman" panose="02020603050405020304" pitchFamily="18" charset="0"/>
              </a:rPr>
              <a:t>Communication in an organization takes place at diﬀerent hierarchical levels. It is extremely necessary for the growth of any organization. </a:t>
            </a:r>
            <a:endParaRPr sz="1800" dirty="0">
              <a:latin typeface="Times New Roman" panose="02020603050405020304" pitchFamily="18" charset="0"/>
              <a:cs typeface="Times New Roman" panose="02020603050405020304" pitchFamily="18" charset="0"/>
            </a:endParaRPr>
          </a:p>
          <a:p>
            <a:pPr marL="457200" lvl="0" indent="-330200" algn="just" rtl="0">
              <a:lnSpc>
                <a:spcPct val="115000"/>
              </a:lnSpc>
              <a:spcBef>
                <a:spcPts val="0"/>
              </a:spcBef>
              <a:spcAft>
                <a:spcPts val="0"/>
              </a:spcAft>
              <a:buSzPts val="1600"/>
              <a:buChar char="●"/>
            </a:pPr>
            <a:r>
              <a:rPr lang="en-US" sz="1800" dirty="0">
                <a:latin typeface="Times New Roman" panose="02020603050405020304" pitchFamily="18" charset="0"/>
                <a:cs typeface="Times New Roman" panose="02020603050405020304" pitchFamily="18" charset="0"/>
              </a:rPr>
              <a:t>With a proper networking system, communication in an organization is possible even without direct contact between employees.</a:t>
            </a:r>
            <a:endParaRPr sz="1800" dirty="0">
              <a:latin typeface="Times New Roman" panose="02020603050405020304" pitchFamily="18" charset="0"/>
              <a:cs typeface="Times New Roman" panose="02020603050405020304" pitchFamily="18" charset="0"/>
            </a:endParaRPr>
          </a:p>
        </p:txBody>
      </p:sp>
      <p:sp>
        <p:nvSpPr>
          <p:cNvPr id="168" name="Google Shape;168;p9"/>
          <p:cNvSpPr/>
          <p:nvPr/>
        </p:nvSpPr>
        <p:spPr>
          <a:xfrm>
            <a:off x="5229700" y="1919075"/>
            <a:ext cx="3709800" cy="2913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
            </a:r>
            <a:br>
              <a:rPr lang="en-US" sz="1400" b="0" i="0" u="none" strike="noStrike" cap="none">
                <a:solidFill>
                  <a:srgbClr val="000000"/>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pic>
        <p:nvPicPr>
          <p:cNvPr id="169" name="Google Shape;169;p9"/>
          <p:cNvPicPr preferRelativeResize="0"/>
          <p:nvPr/>
        </p:nvPicPr>
        <p:blipFill rotWithShape="1">
          <a:blip r:embed="rId3">
            <a:alphaModFix/>
          </a:blip>
          <a:srcRect/>
          <a:stretch/>
        </p:blipFill>
        <p:spPr>
          <a:xfrm>
            <a:off x="5429032" y="1942500"/>
            <a:ext cx="3283615" cy="273521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1"/>
          <p:cNvSpPr txBox="1">
            <a:spLocks noGrp="1"/>
          </p:cNvSpPr>
          <p:nvPr>
            <p:ph type="title"/>
          </p:nvPr>
        </p:nvSpPr>
        <p:spPr>
          <a:xfrm>
            <a:off x="471900" y="319122"/>
            <a:ext cx="8222100" cy="584645"/>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US" dirty="0">
                <a:latin typeface="Times New Roman" panose="02020603050405020304" pitchFamily="18" charset="0"/>
                <a:cs typeface="Times New Roman" panose="02020603050405020304" pitchFamily="18" charset="0"/>
              </a:rPr>
              <a:t>Mass Communication</a:t>
            </a:r>
            <a:endParaRPr dirty="0">
              <a:latin typeface="Times New Roman" panose="02020603050405020304" pitchFamily="18" charset="0"/>
              <a:cs typeface="Times New Roman" panose="02020603050405020304" pitchFamily="18" charset="0"/>
            </a:endParaRPr>
          </a:p>
        </p:txBody>
      </p:sp>
      <p:sp>
        <p:nvSpPr>
          <p:cNvPr id="181" name="Google Shape;181;p11"/>
          <p:cNvSpPr txBox="1">
            <a:spLocks noGrp="1"/>
          </p:cNvSpPr>
          <p:nvPr>
            <p:ph type="body" idx="1"/>
          </p:nvPr>
        </p:nvSpPr>
        <p:spPr>
          <a:xfrm>
            <a:off x="560325" y="1020726"/>
            <a:ext cx="3721200" cy="3955311"/>
          </a:xfrm>
          <a:prstGeom prst="rect">
            <a:avLst/>
          </a:prstGeom>
          <a:noFill/>
          <a:ln>
            <a:noFill/>
          </a:ln>
        </p:spPr>
        <p:txBody>
          <a:bodyPr spcFirstLastPara="1" wrap="square" lIns="91425" tIns="91425" rIns="91425" bIns="91425" anchor="t" anchorCtr="0">
            <a:noAutofit/>
          </a:bodyPr>
          <a:lstStyle/>
          <a:p>
            <a:pPr marL="457200" lvl="0" indent="-317500" algn="just" rtl="0">
              <a:lnSpc>
                <a:spcPct val="115000"/>
              </a:lnSpc>
              <a:spcBef>
                <a:spcPts val="0"/>
              </a:spcBef>
              <a:spcAft>
                <a:spcPts val="0"/>
              </a:spcAft>
              <a:buSzPts val="1400"/>
              <a:buChar char="●"/>
            </a:pPr>
            <a:r>
              <a:rPr lang="en-US" dirty="0">
                <a:latin typeface="Times New Roman" panose="02020603050405020304" pitchFamily="18" charset="0"/>
                <a:cs typeface="Times New Roman" panose="02020603050405020304" pitchFamily="18" charset="0"/>
              </a:rPr>
              <a:t>Mass communication is meant for large audiences and requires a medium to transmit information.</a:t>
            </a:r>
            <a:endParaRPr dirty="0">
              <a:latin typeface="Times New Roman" panose="02020603050405020304" pitchFamily="18" charset="0"/>
              <a:cs typeface="Times New Roman" panose="02020603050405020304" pitchFamily="18" charset="0"/>
            </a:endParaRPr>
          </a:p>
          <a:p>
            <a:pPr marL="457200" lvl="0" indent="-317500" algn="just" rtl="0">
              <a:lnSpc>
                <a:spcPct val="115000"/>
              </a:lnSpc>
              <a:spcBef>
                <a:spcPts val="0"/>
              </a:spcBef>
              <a:spcAft>
                <a:spcPts val="0"/>
              </a:spcAft>
              <a:buSzPts val="1400"/>
              <a:buChar char="●"/>
            </a:pPr>
            <a:r>
              <a:rPr lang="en-US" dirty="0">
                <a:latin typeface="Times New Roman" panose="02020603050405020304" pitchFamily="18" charset="0"/>
                <a:cs typeface="Times New Roman" panose="02020603050405020304" pitchFamily="18" charset="0"/>
              </a:rPr>
              <a:t>There are several mass media such as journals, books, television, and newspapers. </a:t>
            </a:r>
            <a:endParaRPr dirty="0">
              <a:latin typeface="Times New Roman" panose="02020603050405020304" pitchFamily="18" charset="0"/>
              <a:cs typeface="Times New Roman" panose="02020603050405020304" pitchFamily="18" charset="0"/>
            </a:endParaRPr>
          </a:p>
          <a:p>
            <a:pPr marL="457200" lvl="0" indent="-317500" algn="just" rtl="0">
              <a:lnSpc>
                <a:spcPct val="115000"/>
              </a:lnSpc>
              <a:spcBef>
                <a:spcPts val="0"/>
              </a:spcBef>
              <a:spcAft>
                <a:spcPts val="0"/>
              </a:spcAft>
              <a:buSzPts val="1400"/>
              <a:buChar char="●"/>
            </a:pPr>
            <a:r>
              <a:rPr lang="en-US" dirty="0">
                <a:latin typeface="Times New Roman" panose="02020603050405020304" pitchFamily="18" charset="0"/>
                <a:cs typeface="Times New Roman" panose="02020603050405020304" pitchFamily="18" charset="0"/>
              </a:rPr>
              <a:t>The audience is heterogeneous and anonymous, and thus the approach is impersonal.</a:t>
            </a:r>
            <a:endParaRPr dirty="0">
              <a:latin typeface="Times New Roman" panose="02020603050405020304" pitchFamily="18" charset="0"/>
              <a:cs typeface="Times New Roman" panose="02020603050405020304" pitchFamily="18" charset="0"/>
            </a:endParaRPr>
          </a:p>
          <a:p>
            <a:pPr marL="457200" lvl="0" indent="-317500" algn="just" rtl="0">
              <a:lnSpc>
                <a:spcPct val="115000"/>
              </a:lnSpc>
              <a:spcBef>
                <a:spcPts val="0"/>
              </a:spcBef>
              <a:spcAft>
                <a:spcPts val="0"/>
              </a:spcAft>
              <a:buSzPts val="1400"/>
              <a:buChar char="●"/>
            </a:pPr>
            <a:r>
              <a:rPr lang="en-US" dirty="0">
                <a:latin typeface="Times New Roman" panose="02020603050405020304" pitchFamily="18" charset="0"/>
                <a:cs typeface="Times New Roman" panose="02020603050405020304" pitchFamily="18" charset="0"/>
              </a:rPr>
              <a:t>Example: Press interviews given by the chairman of a large ﬁrm.</a:t>
            </a:r>
            <a:endParaRPr dirty="0">
              <a:latin typeface="Times New Roman" panose="02020603050405020304" pitchFamily="18" charset="0"/>
              <a:cs typeface="Times New Roman" panose="02020603050405020304" pitchFamily="18" charset="0"/>
            </a:endParaRPr>
          </a:p>
          <a:p>
            <a:pPr marL="457200" lvl="0" indent="-317500" algn="just" rtl="0">
              <a:lnSpc>
                <a:spcPct val="115000"/>
              </a:lnSpc>
              <a:spcBef>
                <a:spcPts val="0"/>
              </a:spcBef>
              <a:spcAft>
                <a:spcPts val="0"/>
              </a:spcAft>
              <a:buSzPts val="1400"/>
              <a:buChar char="●"/>
            </a:pPr>
            <a:r>
              <a:rPr lang="en-US" dirty="0">
                <a:latin typeface="Times New Roman" panose="02020603050405020304" pitchFamily="18" charset="0"/>
                <a:cs typeface="Times New Roman" panose="02020603050405020304" pitchFamily="18" charset="0"/>
              </a:rPr>
              <a:t>This type of communication is more persuasive in nature than any other form, and requires utmost care on the part of the sender while encoding the message. </a:t>
            </a:r>
            <a:endParaRPr dirty="0">
              <a:latin typeface="Times New Roman" panose="02020603050405020304" pitchFamily="18" charset="0"/>
              <a:cs typeface="Times New Roman" panose="02020603050405020304" pitchFamily="18" charset="0"/>
            </a:endParaRPr>
          </a:p>
        </p:txBody>
      </p:sp>
      <p:sp>
        <p:nvSpPr>
          <p:cNvPr id="182" name="Google Shape;182;p11"/>
          <p:cNvSpPr/>
          <p:nvPr/>
        </p:nvSpPr>
        <p:spPr>
          <a:xfrm>
            <a:off x="4841775" y="2286850"/>
            <a:ext cx="4097700" cy="2612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
            </a:r>
            <a:br>
              <a:rPr lang="en-US" sz="1400" b="0" i="0" u="none" strike="noStrike" cap="none">
                <a:solidFill>
                  <a:srgbClr val="000000"/>
                </a:solidFill>
                <a:latin typeface="Arial"/>
                <a:ea typeface="Arial"/>
                <a:cs typeface="Arial"/>
                <a:sym typeface="Arial"/>
              </a:rPr>
            </a:br>
            <a:endParaRPr sz="1400" b="0" i="0" u="none" strike="noStrike" cap="none">
              <a:solidFill>
                <a:srgbClr val="000000"/>
              </a:solidFill>
              <a:latin typeface="Arial"/>
              <a:ea typeface="Arial"/>
              <a:cs typeface="Arial"/>
              <a:sym typeface="Arial"/>
            </a:endParaRPr>
          </a:p>
        </p:txBody>
      </p:sp>
      <p:pic>
        <p:nvPicPr>
          <p:cNvPr id="183" name="Google Shape;183;p11"/>
          <p:cNvPicPr preferRelativeResize="0"/>
          <p:nvPr/>
        </p:nvPicPr>
        <p:blipFill rotWithShape="1">
          <a:blip r:embed="rId3">
            <a:alphaModFix/>
          </a:blip>
          <a:srcRect/>
          <a:stretch/>
        </p:blipFill>
        <p:spPr>
          <a:xfrm>
            <a:off x="4721368" y="2081445"/>
            <a:ext cx="3597852" cy="274293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3"/>
          <p:cNvSpPr txBox="1">
            <a:spLocks noGrp="1"/>
          </p:cNvSpPr>
          <p:nvPr>
            <p:ph type="title"/>
          </p:nvPr>
        </p:nvSpPr>
        <p:spPr>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200"/>
              <a:buNone/>
            </a:pPr>
            <a:r>
              <a:rPr lang="en-US" dirty="0">
                <a:latin typeface="Times New Roman" panose="02020603050405020304" pitchFamily="18" charset="0"/>
                <a:cs typeface="Times New Roman" panose="02020603050405020304" pitchFamily="18" charset="0"/>
              </a:rPr>
              <a:t>Flow of </a:t>
            </a:r>
            <a:r>
              <a:rPr lang="en-US" dirty="0" smtClean="0">
                <a:latin typeface="Times New Roman" panose="02020603050405020304" pitchFamily="18" charset="0"/>
                <a:cs typeface="Times New Roman" panose="02020603050405020304" pitchFamily="18" charset="0"/>
              </a:rPr>
              <a:t>Communication (Communication Network)</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4"/>
          <p:cNvSpPr txBox="1">
            <a:spLocks noGrp="1"/>
          </p:cNvSpPr>
          <p:nvPr>
            <p:ph type="title"/>
          </p:nvPr>
        </p:nvSpPr>
        <p:spPr>
          <a:xfrm>
            <a:off x="471900" y="404037"/>
            <a:ext cx="8222100" cy="893135"/>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US" sz="4200" dirty="0">
                <a:latin typeface="Times New Roman" panose="02020603050405020304" pitchFamily="18" charset="0"/>
                <a:cs typeface="Times New Roman" panose="02020603050405020304" pitchFamily="18" charset="0"/>
              </a:rPr>
              <a:t>Flow of Communication</a:t>
            </a:r>
            <a:endParaRPr dirty="0">
              <a:latin typeface="Times New Roman" panose="02020603050405020304" pitchFamily="18" charset="0"/>
              <a:cs typeface="Times New Roman" panose="02020603050405020304" pitchFamily="18" charset="0"/>
            </a:endParaRPr>
          </a:p>
        </p:txBody>
      </p:sp>
      <p:sp>
        <p:nvSpPr>
          <p:cNvPr id="200" name="Google Shape;200;p14"/>
          <p:cNvSpPr txBox="1">
            <a:spLocks noGrp="1"/>
          </p:cNvSpPr>
          <p:nvPr>
            <p:ph type="body" idx="1"/>
          </p:nvPr>
        </p:nvSpPr>
        <p:spPr>
          <a:xfrm>
            <a:off x="471900" y="1297173"/>
            <a:ext cx="8091000" cy="3572540"/>
          </a:xfrm>
          <a:prstGeom prst="rect">
            <a:avLst/>
          </a:prstGeom>
          <a:noFill/>
          <a:ln>
            <a:noFill/>
          </a:ln>
        </p:spPr>
        <p:txBody>
          <a:bodyPr spcFirstLastPara="1" wrap="square" lIns="91425" tIns="91425" rIns="91425" bIns="91425" anchor="t" anchorCtr="0">
            <a:noAutofit/>
          </a:bodyPr>
          <a:lstStyle/>
          <a:p>
            <a:pPr marL="457200" lvl="0" indent="-330200" algn="just" rtl="0">
              <a:lnSpc>
                <a:spcPct val="115000"/>
              </a:lnSpc>
              <a:spcBef>
                <a:spcPts val="0"/>
              </a:spcBef>
              <a:spcAft>
                <a:spcPts val="0"/>
              </a:spcAft>
              <a:buSzPts val="1600"/>
              <a:buChar char="●"/>
            </a:pPr>
            <a:r>
              <a:rPr lang="en-US" sz="1800" dirty="0">
                <a:latin typeface="Times New Roman" panose="02020603050405020304" pitchFamily="18" charset="0"/>
                <a:cs typeface="Times New Roman" panose="02020603050405020304" pitchFamily="18" charset="0"/>
              </a:rPr>
              <a:t>Information flows in an organization both formally and informally</a:t>
            </a:r>
            <a:endParaRPr sz="1800" dirty="0">
              <a:latin typeface="Times New Roman" panose="02020603050405020304" pitchFamily="18" charset="0"/>
              <a:cs typeface="Times New Roman" panose="02020603050405020304" pitchFamily="18" charset="0"/>
            </a:endParaRPr>
          </a:p>
          <a:p>
            <a:pPr marL="457200" lvl="0" indent="0" algn="just" rtl="0">
              <a:lnSpc>
                <a:spcPct val="115000"/>
              </a:lnSpc>
              <a:spcBef>
                <a:spcPts val="0"/>
              </a:spcBef>
              <a:spcAft>
                <a:spcPts val="0"/>
              </a:spcAft>
              <a:buNone/>
            </a:pPr>
            <a:endParaRPr sz="1800" dirty="0">
              <a:latin typeface="Times New Roman" panose="02020603050405020304" pitchFamily="18" charset="0"/>
              <a:cs typeface="Times New Roman" panose="02020603050405020304" pitchFamily="18" charset="0"/>
            </a:endParaRPr>
          </a:p>
          <a:p>
            <a:pPr marL="457200" lvl="0" indent="-330200" algn="just" rtl="0">
              <a:lnSpc>
                <a:spcPct val="115000"/>
              </a:lnSpc>
              <a:spcBef>
                <a:spcPts val="0"/>
              </a:spcBef>
              <a:spcAft>
                <a:spcPts val="0"/>
              </a:spcAft>
              <a:buSzPts val="1600"/>
              <a:buChar char="●"/>
            </a:pPr>
            <a:r>
              <a:rPr lang="en-US" sz="1800" dirty="0">
                <a:latin typeface="Times New Roman" panose="02020603050405020304" pitchFamily="18" charset="0"/>
                <a:cs typeface="Times New Roman" panose="02020603050405020304" pitchFamily="18" charset="0"/>
              </a:rPr>
              <a:t>Formal communication refers to communication that follows the official hierarchy and is required to do one’s job.</a:t>
            </a:r>
            <a:endParaRPr sz="1800" dirty="0">
              <a:latin typeface="Times New Roman" panose="02020603050405020304" pitchFamily="18" charset="0"/>
              <a:cs typeface="Times New Roman" panose="02020603050405020304" pitchFamily="18" charset="0"/>
            </a:endParaRPr>
          </a:p>
          <a:p>
            <a:pPr marL="457200" lvl="0" indent="0" algn="just" rtl="0">
              <a:lnSpc>
                <a:spcPct val="115000"/>
              </a:lnSpc>
              <a:spcBef>
                <a:spcPts val="0"/>
              </a:spcBef>
              <a:spcAft>
                <a:spcPts val="0"/>
              </a:spcAft>
              <a:buNone/>
            </a:pPr>
            <a:endParaRPr sz="1800" dirty="0">
              <a:latin typeface="Times New Roman" panose="02020603050405020304" pitchFamily="18" charset="0"/>
              <a:cs typeface="Times New Roman" panose="02020603050405020304" pitchFamily="18" charset="0"/>
            </a:endParaRPr>
          </a:p>
          <a:p>
            <a:pPr marL="457200" lvl="0" indent="-330200" algn="just" rtl="0">
              <a:lnSpc>
                <a:spcPct val="115000"/>
              </a:lnSpc>
              <a:spcBef>
                <a:spcPts val="0"/>
              </a:spcBef>
              <a:spcAft>
                <a:spcPts val="0"/>
              </a:spcAft>
              <a:buSzPts val="1600"/>
              <a:buChar char="●"/>
            </a:pPr>
            <a:r>
              <a:rPr lang="en-US" sz="1800" dirty="0">
                <a:latin typeface="Times New Roman" panose="02020603050405020304" pitchFamily="18" charset="0"/>
                <a:cs typeface="Times New Roman" panose="02020603050405020304" pitchFamily="18" charset="0"/>
              </a:rPr>
              <a:t>Information of various kinds flowing through formal channels, such as policy or procedural changes, orders, instructions, and confidential reports, is formal communication. </a:t>
            </a:r>
            <a:endParaRPr sz="1800" dirty="0">
              <a:latin typeface="Times New Roman" panose="02020603050405020304" pitchFamily="18" charset="0"/>
              <a:cs typeface="Times New Roman" panose="02020603050405020304" pitchFamily="18" charset="0"/>
            </a:endParaRPr>
          </a:p>
          <a:p>
            <a:pPr marL="457200" lvl="0" indent="0" algn="just" rtl="0">
              <a:lnSpc>
                <a:spcPct val="115000"/>
              </a:lnSpc>
              <a:spcBef>
                <a:spcPts val="0"/>
              </a:spcBef>
              <a:spcAft>
                <a:spcPts val="0"/>
              </a:spcAft>
              <a:buNone/>
            </a:pPr>
            <a:endParaRPr sz="1800" dirty="0">
              <a:latin typeface="Times New Roman" panose="02020603050405020304" pitchFamily="18" charset="0"/>
              <a:cs typeface="Times New Roman" panose="02020603050405020304" pitchFamily="18" charset="0"/>
            </a:endParaRPr>
          </a:p>
          <a:p>
            <a:pPr marL="457200" lvl="0" indent="-330200" algn="just" rtl="0">
              <a:lnSpc>
                <a:spcPct val="115000"/>
              </a:lnSpc>
              <a:spcBef>
                <a:spcPts val="0"/>
              </a:spcBef>
              <a:spcAft>
                <a:spcPts val="0"/>
              </a:spcAft>
              <a:buSzPts val="1600"/>
              <a:buChar char="●"/>
            </a:pPr>
            <a:r>
              <a:rPr lang="en-US" sz="1800" dirty="0">
                <a:latin typeface="Times New Roman" panose="02020603050405020304" pitchFamily="18" charset="0"/>
                <a:cs typeface="Times New Roman" panose="02020603050405020304" pitchFamily="18" charset="0"/>
              </a:rPr>
              <a:t>Formal communication can flow in various directions—vertical, lateral, or diagonal.</a:t>
            </a:r>
            <a:endParaRPr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6"/>
          <p:cNvSpPr txBox="1">
            <a:spLocks noGrp="1"/>
          </p:cNvSpPr>
          <p:nvPr>
            <p:ph type="title"/>
          </p:nvPr>
        </p:nvSpPr>
        <p:spPr>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US" sz="3700" dirty="0">
                <a:latin typeface="Times New Roman" panose="02020603050405020304" pitchFamily="18" charset="0"/>
                <a:cs typeface="Times New Roman" panose="02020603050405020304" pitchFamily="18" charset="0"/>
              </a:rPr>
              <a:t>Vertical Communication</a:t>
            </a:r>
            <a:endParaRPr sz="3700" dirty="0">
              <a:latin typeface="Times New Roman" panose="02020603050405020304" pitchFamily="18" charset="0"/>
              <a:cs typeface="Times New Roman" panose="02020603050405020304" pitchFamily="18" charset="0"/>
            </a:endParaRPr>
          </a:p>
        </p:txBody>
      </p:sp>
      <p:sp>
        <p:nvSpPr>
          <p:cNvPr id="212" name="Google Shape;212;p16"/>
          <p:cNvSpPr txBox="1">
            <a:spLocks noGrp="1"/>
          </p:cNvSpPr>
          <p:nvPr>
            <p:ph type="body" idx="1"/>
          </p:nvPr>
        </p:nvSpPr>
        <p:spPr>
          <a:xfrm>
            <a:off x="471900" y="1919075"/>
            <a:ext cx="7746300" cy="20319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1600"/>
              </a:spcAft>
              <a:buSzPts val="1800"/>
              <a:buNone/>
            </a:pPr>
            <a:r>
              <a:rPr lang="en-US" sz="2000" dirty="0">
                <a:latin typeface="Times New Roman" panose="02020603050405020304" pitchFamily="18" charset="0"/>
                <a:cs typeface="Times New Roman" panose="02020603050405020304" pitchFamily="18" charset="0"/>
              </a:rPr>
              <a:t>Vertical communication consists of communication up and down the organization’s chain of command. Vertical communication can be classified as downward communication and upward communication according to the direction of its flow.</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7"/>
          <p:cNvSpPr txBox="1">
            <a:spLocks noGrp="1"/>
          </p:cNvSpPr>
          <p:nvPr>
            <p:ph type="title"/>
          </p:nvPr>
        </p:nvSpPr>
        <p:spPr>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US" sz="3700" dirty="0">
                <a:latin typeface="Times New Roman" panose="02020603050405020304" pitchFamily="18" charset="0"/>
                <a:cs typeface="Times New Roman" panose="02020603050405020304" pitchFamily="18" charset="0"/>
              </a:rPr>
              <a:t>Upward Communication</a:t>
            </a:r>
            <a:endParaRPr sz="3700" dirty="0">
              <a:latin typeface="Times New Roman" panose="02020603050405020304" pitchFamily="18" charset="0"/>
              <a:cs typeface="Times New Roman" panose="02020603050405020304" pitchFamily="18" charset="0"/>
            </a:endParaRPr>
          </a:p>
        </p:txBody>
      </p:sp>
      <p:sp>
        <p:nvSpPr>
          <p:cNvPr id="218" name="Google Shape;218;p17"/>
          <p:cNvSpPr txBox="1">
            <a:spLocks noGrp="1"/>
          </p:cNvSpPr>
          <p:nvPr>
            <p:ph type="body" idx="1"/>
          </p:nvPr>
        </p:nvSpPr>
        <p:spPr>
          <a:xfrm>
            <a:off x="646525" y="1919075"/>
            <a:ext cx="3620700" cy="2017500"/>
          </a:xfrm>
          <a:prstGeom prst="rect">
            <a:avLst/>
          </a:prstGeom>
          <a:noFill/>
          <a:ln>
            <a:noFill/>
          </a:ln>
        </p:spPr>
        <p:txBody>
          <a:bodyPr spcFirstLastPara="1" wrap="square" lIns="91425" tIns="91425" rIns="91425" bIns="91425" anchor="t" anchorCtr="0">
            <a:noAutofit/>
          </a:bodyPr>
          <a:lstStyle/>
          <a:p>
            <a:pPr marL="457200" lvl="0" indent="-317500" algn="just" rtl="0">
              <a:lnSpc>
                <a:spcPct val="115000"/>
              </a:lnSpc>
              <a:spcBef>
                <a:spcPts val="0"/>
              </a:spcBef>
              <a:spcAft>
                <a:spcPts val="0"/>
              </a:spcAft>
              <a:buSzPts val="1400"/>
              <a:buChar char="●"/>
            </a:pPr>
            <a:r>
              <a:rPr lang="en-US" sz="1800" dirty="0">
                <a:latin typeface="Times New Roman" panose="02020603050405020304" pitchFamily="18" charset="0"/>
                <a:cs typeface="Times New Roman" panose="02020603050405020304" pitchFamily="18" charset="0"/>
              </a:rPr>
              <a:t>F</a:t>
            </a:r>
            <a:r>
              <a:rPr lang="en-US" sz="1800" dirty="0" smtClean="0">
                <a:latin typeface="Times New Roman" panose="02020603050405020304" pitchFamily="18" charset="0"/>
                <a:cs typeface="Times New Roman" panose="02020603050405020304" pitchFamily="18" charset="0"/>
              </a:rPr>
              <a:t>rom </a:t>
            </a:r>
            <a:r>
              <a:rPr lang="en-US" sz="1800" dirty="0">
                <a:latin typeface="Times New Roman" panose="02020603050405020304" pitchFamily="18" charset="0"/>
                <a:cs typeface="Times New Roman" panose="02020603050405020304" pitchFamily="18" charset="0"/>
              </a:rPr>
              <a:t>bottom to top – when reports or findings are sent to superiors. </a:t>
            </a:r>
            <a:r>
              <a:rPr lang="en-US" sz="1800" dirty="0" err="1">
                <a:latin typeface="Times New Roman" panose="02020603050405020304" pitchFamily="18" charset="0"/>
                <a:cs typeface="Times New Roman" panose="02020603050405020304" pitchFamily="18" charset="0"/>
              </a:rPr>
              <a:t>Impt</a:t>
            </a:r>
            <a:r>
              <a:rPr lang="en-US" sz="1800" dirty="0">
                <a:latin typeface="Times New Roman" panose="02020603050405020304" pitchFamily="18" charset="0"/>
                <a:cs typeface="Times New Roman" panose="02020603050405020304" pitchFamily="18" charset="0"/>
              </a:rPr>
              <a:t>. for decision making and gathering day to day information. </a:t>
            </a:r>
            <a:r>
              <a:rPr lang="en-US" sz="1800" dirty="0" err="1">
                <a:latin typeface="Times New Roman" panose="02020603050405020304" pitchFamily="18" charset="0"/>
                <a:cs typeface="Times New Roman" panose="02020603050405020304" pitchFamily="18" charset="0"/>
              </a:rPr>
              <a:t>Eg.</a:t>
            </a:r>
            <a:r>
              <a:rPr lang="en-US" sz="1800" dirty="0">
                <a:latin typeface="Times New Roman" panose="02020603050405020304" pitchFamily="18" charset="0"/>
                <a:cs typeface="Times New Roman" panose="02020603050405020304" pitchFamily="18" charset="0"/>
              </a:rPr>
              <a:t>- Form – reports, statistical analysis.</a:t>
            </a:r>
            <a:endParaRPr sz="1800" dirty="0">
              <a:latin typeface="Times New Roman" panose="02020603050405020304" pitchFamily="18" charset="0"/>
              <a:cs typeface="Times New Roman" panose="02020603050405020304" pitchFamily="18" charset="0"/>
            </a:endParaRPr>
          </a:p>
          <a:p>
            <a:pPr marL="457200" lvl="0" indent="-228600" algn="just" rtl="0">
              <a:lnSpc>
                <a:spcPct val="115000"/>
              </a:lnSpc>
              <a:spcBef>
                <a:spcPts val="0"/>
              </a:spcBef>
              <a:spcAft>
                <a:spcPts val="0"/>
              </a:spcAft>
              <a:buSzPts val="1400"/>
              <a:buNone/>
            </a:pPr>
            <a:endParaRPr sz="1300" dirty="0"/>
          </a:p>
        </p:txBody>
      </p:sp>
      <p:sp>
        <p:nvSpPr>
          <p:cNvPr id="219" name="Google Shape;219;p17"/>
          <p:cNvSpPr txBox="1">
            <a:spLocks noGrp="1"/>
          </p:cNvSpPr>
          <p:nvPr>
            <p:ph type="body" idx="2"/>
          </p:nvPr>
        </p:nvSpPr>
        <p:spPr>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0"/>
              </a:spcBef>
              <a:spcAft>
                <a:spcPts val="0"/>
              </a:spcAft>
              <a:buSzPts val="1400"/>
              <a:buNone/>
            </a:pPr>
            <a:endParaRPr/>
          </a:p>
        </p:txBody>
      </p:sp>
      <p:pic>
        <p:nvPicPr>
          <p:cNvPr id="220" name="Google Shape;220;p17"/>
          <p:cNvPicPr preferRelativeResize="0"/>
          <p:nvPr/>
        </p:nvPicPr>
        <p:blipFill rotWithShape="1">
          <a:blip r:embed="rId3">
            <a:alphaModFix/>
          </a:blip>
          <a:srcRect/>
          <a:stretch/>
        </p:blipFill>
        <p:spPr>
          <a:xfrm>
            <a:off x="4755575" y="1853675"/>
            <a:ext cx="4071950" cy="30168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8"/>
          <p:cNvSpPr txBox="1">
            <a:spLocks noGrp="1"/>
          </p:cNvSpPr>
          <p:nvPr>
            <p:ph type="title"/>
          </p:nvPr>
        </p:nvSpPr>
        <p:spPr>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US" sz="3700" dirty="0">
                <a:latin typeface="Times New Roman" panose="02020603050405020304" pitchFamily="18" charset="0"/>
                <a:cs typeface="Times New Roman" panose="02020603050405020304" pitchFamily="18" charset="0"/>
              </a:rPr>
              <a:t>Downward communication</a:t>
            </a:r>
            <a:endParaRPr sz="3700" dirty="0">
              <a:latin typeface="Times New Roman" panose="02020603050405020304" pitchFamily="18" charset="0"/>
              <a:cs typeface="Times New Roman" panose="02020603050405020304" pitchFamily="18" charset="0"/>
            </a:endParaRPr>
          </a:p>
        </p:txBody>
      </p:sp>
      <p:sp>
        <p:nvSpPr>
          <p:cNvPr id="226" name="Google Shape;226;p18"/>
          <p:cNvSpPr txBox="1">
            <a:spLocks noGrp="1"/>
          </p:cNvSpPr>
          <p:nvPr>
            <p:ph type="body" idx="1"/>
          </p:nvPr>
        </p:nvSpPr>
        <p:spPr>
          <a:xfrm>
            <a:off x="531600" y="1506425"/>
            <a:ext cx="4468200" cy="3048150"/>
          </a:xfrm>
          <a:prstGeom prst="rect">
            <a:avLst/>
          </a:prstGeom>
          <a:noFill/>
          <a:ln>
            <a:noFill/>
          </a:ln>
        </p:spPr>
        <p:txBody>
          <a:bodyPr spcFirstLastPara="1" wrap="square" lIns="91425" tIns="91425" rIns="91425" bIns="91425" anchor="t" anchorCtr="0">
            <a:noAutofit/>
          </a:bodyPr>
          <a:lstStyle/>
          <a:p>
            <a:pPr marL="457200" lvl="0" indent="-311150" algn="just" rtl="0">
              <a:lnSpc>
                <a:spcPct val="115000"/>
              </a:lnSpc>
              <a:spcBef>
                <a:spcPts val="0"/>
              </a:spcBef>
              <a:spcAft>
                <a:spcPts val="0"/>
              </a:spcAft>
              <a:buSzPts val="1300"/>
              <a:buChar char="●"/>
            </a:pPr>
            <a:r>
              <a:rPr lang="en-US" sz="1600" dirty="0">
                <a:latin typeface="Times New Roman" panose="02020603050405020304" pitchFamily="18" charset="0"/>
                <a:cs typeface="Times New Roman" panose="02020603050405020304" pitchFamily="18" charset="0"/>
              </a:rPr>
              <a:t>When managers inform, instruct, advise, or request their subordinates, the communication flows in a downward pattern. </a:t>
            </a:r>
            <a:endParaRPr sz="1600" dirty="0">
              <a:latin typeface="Times New Roman" panose="02020603050405020304" pitchFamily="18" charset="0"/>
              <a:cs typeface="Times New Roman" panose="02020603050405020304" pitchFamily="18" charset="0"/>
            </a:endParaRPr>
          </a:p>
          <a:p>
            <a:pPr marL="457200" lvl="0" indent="0" algn="just" rtl="0">
              <a:lnSpc>
                <a:spcPct val="115000"/>
              </a:lnSpc>
              <a:spcBef>
                <a:spcPts val="0"/>
              </a:spcBef>
              <a:spcAft>
                <a:spcPts val="0"/>
              </a:spcAft>
              <a:buNone/>
            </a:pPr>
            <a:endParaRPr sz="1600" dirty="0">
              <a:latin typeface="Times New Roman" panose="02020603050405020304" pitchFamily="18" charset="0"/>
              <a:cs typeface="Times New Roman" panose="02020603050405020304" pitchFamily="18" charset="0"/>
            </a:endParaRPr>
          </a:p>
          <a:p>
            <a:pPr marL="457200" lvl="0" indent="-311150" algn="just" rtl="0">
              <a:lnSpc>
                <a:spcPct val="115000"/>
              </a:lnSpc>
              <a:spcBef>
                <a:spcPts val="0"/>
              </a:spcBef>
              <a:spcAft>
                <a:spcPts val="0"/>
              </a:spcAft>
              <a:buSzPts val="1300"/>
              <a:buChar char="●"/>
            </a:pPr>
            <a:r>
              <a:rPr lang="en-US" sz="1600" dirty="0">
                <a:latin typeface="Times New Roman" panose="02020603050405020304" pitchFamily="18" charset="0"/>
                <a:cs typeface="Times New Roman" panose="02020603050405020304" pitchFamily="18" charset="0"/>
              </a:rPr>
              <a:t>Use: To convey routine information, new policies or procedures, seek clarification, ask for an analysis, etc.</a:t>
            </a:r>
            <a:endParaRPr sz="1600" dirty="0">
              <a:latin typeface="Times New Roman" panose="02020603050405020304" pitchFamily="18" charset="0"/>
              <a:cs typeface="Times New Roman" panose="02020603050405020304" pitchFamily="18" charset="0"/>
            </a:endParaRPr>
          </a:p>
          <a:p>
            <a:pPr marL="457200" lvl="0" indent="0" algn="just" rtl="0">
              <a:lnSpc>
                <a:spcPct val="115000"/>
              </a:lnSpc>
              <a:spcBef>
                <a:spcPts val="0"/>
              </a:spcBef>
              <a:spcAft>
                <a:spcPts val="0"/>
              </a:spcAft>
              <a:buNone/>
            </a:pPr>
            <a:endParaRPr sz="1600" dirty="0">
              <a:latin typeface="Times New Roman" panose="02020603050405020304" pitchFamily="18" charset="0"/>
              <a:cs typeface="Times New Roman" panose="02020603050405020304" pitchFamily="18" charset="0"/>
            </a:endParaRPr>
          </a:p>
          <a:p>
            <a:pPr marL="457200" lvl="0" indent="-311150" algn="just" rtl="0">
              <a:lnSpc>
                <a:spcPct val="115000"/>
              </a:lnSpc>
              <a:spcBef>
                <a:spcPts val="0"/>
              </a:spcBef>
              <a:spcAft>
                <a:spcPts val="0"/>
              </a:spcAft>
              <a:buSzPts val="1300"/>
              <a:buChar char="●"/>
            </a:pPr>
            <a:r>
              <a:rPr lang="en-US" sz="1600" dirty="0">
                <a:latin typeface="Times New Roman" panose="02020603050405020304" pitchFamily="18" charset="0"/>
                <a:cs typeface="Times New Roman" panose="02020603050405020304" pitchFamily="18" charset="0"/>
              </a:rPr>
              <a:t>Form: Emails, memos, notices, face-to-face interactions, or telephone conversations</a:t>
            </a:r>
            <a:r>
              <a:rPr lang="en-US" sz="1600" dirty="0"/>
              <a:t>.</a:t>
            </a:r>
            <a:endParaRPr sz="1600" dirty="0"/>
          </a:p>
        </p:txBody>
      </p:sp>
      <p:pic>
        <p:nvPicPr>
          <p:cNvPr id="227" name="Google Shape;227;p18"/>
          <p:cNvPicPr preferRelativeResize="0"/>
          <p:nvPr/>
        </p:nvPicPr>
        <p:blipFill rotWithShape="1">
          <a:blip r:embed="rId3">
            <a:alphaModFix/>
          </a:blip>
          <a:srcRect/>
          <a:stretch/>
        </p:blipFill>
        <p:spPr>
          <a:xfrm>
            <a:off x="5273425" y="1696575"/>
            <a:ext cx="3418225" cy="31242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9"/>
          <p:cNvSpPr txBox="1">
            <a:spLocks noGrp="1"/>
          </p:cNvSpPr>
          <p:nvPr>
            <p:ph type="title"/>
          </p:nvPr>
        </p:nvSpPr>
        <p:spPr>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US" sz="3800" dirty="0">
                <a:latin typeface="Times New Roman" panose="02020603050405020304" pitchFamily="18" charset="0"/>
                <a:cs typeface="Times New Roman" panose="02020603050405020304" pitchFamily="18" charset="0"/>
              </a:rPr>
              <a:t>Horizontal /Lateral Communication</a:t>
            </a:r>
            <a:endParaRPr sz="3800" dirty="0">
              <a:latin typeface="Times New Roman" panose="02020603050405020304" pitchFamily="18" charset="0"/>
              <a:cs typeface="Times New Roman" panose="02020603050405020304" pitchFamily="18" charset="0"/>
            </a:endParaRPr>
          </a:p>
        </p:txBody>
      </p:sp>
      <p:sp>
        <p:nvSpPr>
          <p:cNvPr id="233" name="Google Shape;233;p19"/>
          <p:cNvSpPr txBox="1">
            <a:spLocks noGrp="1"/>
          </p:cNvSpPr>
          <p:nvPr>
            <p:ph type="body" idx="1"/>
          </p:nvPr>
        </p:nvSpPr>
        <p:spPr>
          <a:xfrm>
            <a:off x="545950" y="1919074"/>
            <a:ext cx="3864900" cy="2710199"/>
          </a:xfrm>
          <a:prstGeom prst="rect">
            <a:avLst/>
          </a:prstGeom>
          <a:noFill/>
          <a:ln>
            <a:noFill/>
          </a:ln>
        </p:spPr>
        <p:txBody>
          <a:bodyPr spcFirstLastPara="1" wrap="square" lIns="91425" tIns="91425" rIns="91425" bIns="91425" anchor="t" anchorCtr="0">
            <a:noAutofit/>
          </a:bodyPr>
          <a:lstStyle/>
          <a:p>
            <a:pPr marL="457200" lvl="0" indent="-317500" algn="just" rtl="0">
              <a:lnSpc>
                <a:spcPct val="115000"/>
              </a:lnSpc>
              <a:spcBef>
                <a:spcPts val="0"/>
              </a:spcBef>
              <a:spcAft>
                <a:spcPts val="0"/>
              </a:spcAft>
              <a:buSzPts val="1400"/>
              <a:buChar char="●"/>
            </a:pPr>
            <a:r>
              <a:rPr lang="en-US" sz="1800" dirty="0">
                <a:latin typeface="Times New Roman" panose="02020603050405020304" pitchFamily="18" charset="0"/>
                <a:cs typeface="Times New Roman" panose="02020603050405020304" pitchFamily="18" charset="0"/>
              </a:rPr>
              <a:t>Takes place among peer groups or hierarchically equivalent employees at the same level</a:t>
            </a:r>
            <a:endParaRPr sz="1800" dirty="0">
              <a:latin typeface="Times New Roman" panose="02020603050405020304" pitchFamily="18" charset="0"/>
              <a:cs typeface="Times New Roman" panose="02020603050405020304" pitchFamily="18" charset="0"/>
            </a:endParaRPr>
          </a:p>
          <a:p>
            <a:pPr marL="457200" lvl="0" indent="0" algn="just" rtl="0">
              <a:lnSpc>
                <a:spcPct val="115000"/>
              </a:lnSpc>
              <a:spcBef>
                <a:spcPts val="0"/>
              </a:spcBef>
              <a:spcAft>
                <a:spcPts val="0"/>
              </a:spcAft>
              <a:buNone/>
            </a:pPr>
            <a:endParaRPr sz="1800" dirty="0">
              <a:latin typeface="Times New Roman" panose="02020603050405020304" pitchFamily="18" charset="0"/>
              <a:cs typeface="Times New Roman" panose="02020603050405020304" pitchFamily="18" charset="0"/>
            </a:endParaRPr>
          </a:p>
          <a:p>
            <a:pPr marL="457200" lvl="0" indent="-317500" algn="just" rtl="0">
              <a:lnSpc>
                <a:spcPct val="115000"/>
              </a:lnSpc>
              <a:spcBef>
                <a:spcPts val="0"/>
              </a:spcBef>
              <a:spcAft>
                <a:spcPts val="0"/>
              </a:spcAft>
              <a:buSzPts val="1400"/>
              <a:buChar char="●"/>
            </a:pPr>
            <a:r>
              <a:rPr lang="en-US" sz="1800" dirty="0" err="1">
                <a:latin typeface="Times New Roman" panose="02020603050405020304" pitchFamily="18" charset="0"/>
                <a:cs typeface="Times New Roman" panose="02020603050405020304" pitchFamily="18" charset="0"/>
              </a:rPr>
              <a:t>Impt</a:t>
            </a:r>
            <a:r>
              <a:rPr lang="en-US" sz="1800" dirty="0">
                <a:latin typeface="Times New Roman" panose="02020603050405020304" pitchFamily="18" charset="0"/>
                <a:cs typeface="Times New Roman" panose="02020603050405020304" pitchFamily="18" charset="0"/>
              </a:rPr>
              <a:t>. to facilitate coordination, save time, bridge any communication gap. </a:t>
            </a:r>
            <a:r>
              <a:rPr lang="en-US" sz="1800" dirty="0" err="1">
                <a:latin typeface="Times New Roman" panose="02020603050405020304" pitchFamily="18" charset="0"/>
                <a:cs typeface="Times New Roman" panose="02020603050405020304" pitchFamily="18" charset="0"/>
              </a:rPr>
              <a:t>Eg.</a:t>
            </a:r>
            <a:r>
              <a:rPr lang="en-US" sz="1800" dirty="0">
                <a:latin typeface="Times New Roman" panose="02020603050405020304" pitchFamily="18" charset="0"/>
                <a:cs typeface="Times New Roman" panose="02020603050405020304" pitchFamily="18" charset="0"/>
              </a:rPr>
              <a:t>- sharing of reports for better ideas</a:t>
            </a:r>
            <a:endParaRPr sz="1800" dirty="0">
              <a:latin typeface="Times New Roman" panose="02020603050405020304" pitchFamily="18" charset="0"/>
              <a:cs typeface="Times New Roman" panose="02020603050405020304" pitchFamily="18" charset="0"/>
            </a:endParaRPr>
          </a:p>
        </p:txBody>
      </p:sp>
      <p:sp>
        <p:nvSpPr>
          <p:cNvPr id="234" name="Google Shape;234;p19"/>
          <p:cNvSpPr txBox="1">
            <a:spLocks noGrp="1"/>
          </p:cNvSpPr>
          <p:nvPr>
            <p:ph type="body" idx="2"/>
          </p:nvPr>
        </p:nvSpPr>
        <p:spPr>
          <a:prstGeom prst="rect">
            <a:avLst/>
          </a:prstGeom>
          <a:noFill/>
          <a:ln>
            <a:noFill/>
          </a:ln>
        </p:spPr>
        <p:txBody>
          <a:bodyPr spcFirstLastPara="1" wrap="square" lIns="91425" tIns="91425" rIns="91425" bIns="91425" anchor="t" anchorCtr="0">
            <a:noAutofit/>
          </a:bodyPr>
          <a:lstStyle/>
          <a:p>
            <a:pPr marL="457200" lvl="0" indent="-228600" algn="l" rtl="0">
              <a:lnSpc>
                <a:spcPct val="115000"/>
              </a:lnSpc>
              <a:spcBef>
                <a:spcPts val="0"/>
              </a:spcBef>
              <a:spcAft>
                <a:spcPts val="0"/>
              </a:spcAft>
              <a:buSzPts val="1400"/>
              <a:buNone/>
            </a:pPr>
            <a:endParaRPr/>
          </a:p>
        </p:txBody>
      </p:sp>
      <p:pic>
        <p:nvPicPr>
          <p:cNvPr id="235" name="Google Shape;235;p19"/>
          <p:cNvPicPr preferRelativeResize="0"/>
          <p:nvPr/>
        </p:nvPicPr>
        <p:blipFill rotWithShape="1">
          <a:blip r:embed="rId3">
            <a:alphaModFix/>
          </a:blip>
          <a:srcRect/>
          <a:stretch/>
        </p:blipFill>
        <p:spPr>
          <a:xfrm>
            <a:off x="4694250" y="1858350"/>
            <a:ext cx="4195075" cy="31845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0"/>
          <p:cNvSpPr txBox="1">
            <a:spLocks noGrp="1"/>
          </p:cNvSpPr>
          <p:nvPr>
            <p:ph type="title"/>
          </p:nvPr>
        </p:nvSpPr>
        <p:spPr>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200"/>
              <a:buNone/>
            </a:pPr>
            <a:r>
              <a:rPr lang="en-US" sz="3700" dirty="0">
                <a:latin typeface="Times New Roman" panose="02020603050405020304" pitchFamily="18" charset="0"/>
                <a:cs typeface="Times New Roman" panose="02020603050405020304" pitchFamily="18" charset="0"/>
              </a:rPr>
              <a:t>Diagonal Communication</a:t>
            </a:r>
            <a:endParaRPr sz="3700" dirty="0">
              <a:latin typeface="Times New Roman" panose="02020603050405020304" pitchFamily="18" charset="0"/>
              <a:cs typeface="Times New Roman" panose="02020603050405020304" pitchFamily="18" charset="0"/>
            </a:endParaRPr>
          </a:p>
        </p:txBody>
      </p:sp>
      <p:sp>
        <p:nvSpPr>
          <p:cNvPr id="241" name="Google Shape;241;p20"/>
          <p:cNvSpPr txBox="1">
            <a:spLocks noGrp="1"/>
          </p:cNvSpPr>
          <p:nvPr>
            <p:ph type="body" idx="1"/>
          </p:nvPr>
        </p:nvSpPr>
        <p:spPr>
          <a:xfrm rot="5498">
            <a:off x="532692" y="1506433"/>
            <a:ext cx="3939305" cy="3469540"/>
          </a:xfrm>
          <a:prstGeom prst="rect">
            <a:avLst/>
          </a:prstGeom>
          <a:noFill/>
          <a:ln>
            <a:noFill/>
          </a:ln>
        </p:spPr>
        <p:txBody>
          <a:bodyPr spcFirstLastPara="1" wrap="square" lIns="91425" tIns="91425" rIns="91425" bIns="91425" anchor="t" anchorCtr="0">
            <a:noAutofit/>
          </a:bodyPr>
          <a:lstStyle/>
          <a:p>
            <a:pPr marL="457200" lvl="0" indent="-317500" algn="just" rtl="0">
              <a:lnSpc>
                <a:spcPct val="115000"/>
              </a:lnSpc>
              <a:spcBef>
                <a:spcPts val="0"/>
              </a:spcBef>
              <a:spcAft>
                <a:spcPts val="0"/>
              </a:spcAft>
              <a:buSzPts val="1400"/>
              <a:buChar char="●"/>
            </a:pPr>
            <a:r>
              <a:rPr lang="en-US" sz="1600" dirty="0">
                <a:latin typeface="Times New Roman" panose="02020603050405020304" pitchFamily="18" charset="0"/>
                <a:cs typeface="Times New Roman" panose="02020603050405020304" pitchFamily="18" charset="0"/>
              </a:rPr>
              <a:t>Diagonal communication or cross-wise communication flows in all directions and across the various functions and levels in an organization.</a:t>
            </a:r>
            <a:endParaRPr sz="1600" dirty="0">
              <a:latin typeface="Times New Roman" panose="02020603050405020304" pitchFamily="18" charset="0"/>
              <a:cs typeface="Times New Roman" panose="02020603050405020304" pitchFamily="18" charset="0"/>
            </a:endParaRPr>
          </a:p>
          <a:p>
            <a:pPr marL="457200" lvl="0" indent="0" algn="just" rtl="0">
              <a:lnSpc>
                <a:spcPct val="115000"/>
              </a:lnSpc>
              <a:spcBef>
                <a:spcPts val="0"/>
              </a:spcBef>
              <a:spcAft>
                <a:spcPts val="0"/>
              </a:spcAft>
              <a:buNone/>
            </a:pPr>
            <a:endParaRPr sz="1600" dirty="0">
              <a:latin typeface="Times New Roman" panose="02020603050405020304" pitchFamily="18" charset="0"/>
              <a:cs typeface="Times New Roman" panose="02020603050405020304" pitchFamily="18" charset="0"/>
            </a:endParaRPr>
          </a:p>
          <a:p>
            <a:pPr marL="457200" lvl="0" indent="-317500" algn="just" rtl="0">
              <a:lnSpc>
                <a:spcPct val="115000"/>
              </a:lnSpc>
              <a:spcBef>
                <a:spcPts val="0"/>
              </a:spcBef>
              <a:spcAft>
                <a:spcPts val="0"/>
              </a:spcAft>
              <a:buSzPts val="1400"/>
              <a:buChar char="●"/>
            </a:pPr>
            <a:r>
              <a:rPr lang="en-US" sz="1600" dirty="0">
                <a:latin typeface="Times New Roman" panose="02020603050405020304" pitchFamily="18" charset="0"/>
                <a:cs typeface="Times New Roman" panose="02020603050405020304" pitchFamily="18" charset="0"/>
              </a:rPr>
              <a:t>It is deviation from the normal chain of communication but it expedites action. </a:t>
            </a:r>
            <a:r>
              <a:rPr lang="en-US" sz="1600" dirty="0" err="1">
                <a:latin typeface="Times New Roman" panose="02020603050405020304" pitchFamily="18" charset="0"/>
                <a:cs typeface="Times New Roman" panose="02020603050405020304" pitchFamily="18" charset="0"/>
              </a:rPr>
              <a:t>Eg.</a:t>
            </a:r>
            <a:r>
              <a:rPr lang="en-US" sz="1600" dirty="0">
                <a:latin typeface="Times New Roman" panose="02020603050405020304" pitchFamily="18" charset="0"/>
                <a:cs typeface="Times New Roman" panose="02020603050405020304" pitchFamily="18" charset="0"/>
              </a:rPr>
              <a:t> Sales manager communicating directly with the vice president (production) of different branch.</a:t>
            </a:r>
            <a:endParaRPr sz="1600" dirty="0">
              <a:latin typeface="Times New Roman" panose="02020603050405020304" pitchFamily="18" charset="0"/>
              <a:cs typeface="Times New Roman" panose="02020603050405020304" pitchFamily="18" charset="0"/>
            </a:endParaRPr>
          </a:p>
        </p:txBody>
      </p:sp>
      <p:sp>
        <p:nvSpPr>
          <p:cNvPr id="242" name="Google Shape;242;p20"/>
          <p:cNvSpPr txBox="1">
            <a:spLocks noGrp="1"/>
          </p:cNvSpPr>
          <p:nvPr>
            <p:ph type="body" idx="2"/>
          </p:nvPr>
        </p:nvSpPr>
        <p:spPr>
          <a:prstGeom prst="rect">
            <a:avLst/>
          </a:prstGeom>
          <a:noFill/>
          <a:ln>
            <a:noFill/>
          </a:ln>
        </p:spPr>
        <p:txBody>
          <a:bodyPr spcFirstLastPara="1" wrap="square" lIns="91425" tIns="91425" rIns="91425" bIns="91425" anchor="t" anchorCtr="0">
            <a:noAutofit/>
          </a:bodyPr>
          <a:lstStyle/>
          <a:p>
            <a:pPr marL="457200" lvl="0" indent="-228600" algn="l" rtl="0">
              <a:lnSpc>
                <a:spcPct val="115000"/>
              </a:lnSpc>
              <a:spcBef>
                <a:spcPts val="0"/>
              </a:spcBef>
              <a:spcAft>
                <a:spcPts val="0"/>
              </a:spcAft>
              <a:buSzPts val="1400"/>
              <a:buNone/>
            </a:pPr>
            <a:endParaRPr/>
          </a:p>
        </p:txBody>
      </p:sp>
      <p:pic>
        <p:nvPicPr>
          <p:cNvPr id="243" name="Google Shape;243;p20"/>
          <p:cNvPicPr preferRelativeResize="0"/>
          <p:nvPr/>
        </p:nvPicPr>
        <p:blipFill rotWithShape="1">
          <a:blip r:embed="rId3">
            <a:alphaModFix/>
          </a:blip>
          <a:srcRect/>
          <a:stretch/>
        </p:blipFill>
        <p:spPr>
          <a:xfrm>
            <a:off x="4694250" y="1919025"/>
            <a:ext cx="4358825" cy="29658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Thank You!</a:t>
            </a:r>
            <a:endParaRPr lang="en-IN" dirty="0"/>
          </a:p>
        </p:txBody>
      </p:sp>
    </p:spTree>
    <p:extLst>
      <p:ext uri="{BB962C8B-B14F-4D97-AF65-F5344CB8AC3E}">
        <p14:creationId xmlns:p14="http://schemas.microsoft.com/office/powerpoint/2010/main" val="258505700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Angles">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ngle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88</TotalTime>
  <Words>1257</Words>
  <Application>Microsoft Office PowerPoint</Application>
  <PresentationFormat>On-screen Show (16:9)</PresentationFormat>
  <Paragraphs>123</Paragraphs>
  <Slides>34</Slides>
  <Notes>29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Arial</vt:lpstr>
      <vt:lpstr>Times New Roman</vt:lpstr>
      <vt:lpstr>Wingdings</vt:lpstr>
      <vt:lpstr>Roboto</vt:lpstr>
      <vt:lpstr>Franklin Gothic Medium</vt:lpstr>
      <vt:lpstr>Franklin Gothic Book</vt:lpstr>
      <vt:lpstr>Tunga</vt:lpstr>
      <vt:lpstr>Angles</vt:lpstr>
      <vt:lpstr>     </vt:lpstr>
      <vt:lpstr>Unit 1: Principals of Professional Communication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Origin, Definition and Meaning</vt:lpstr>
      <vt:lpstr>   Process of Communication</vt:lpstr>
      <vt:lpstr>Continue….</vt:lpstr>
      <vt:lpstr>Continue….</vt:lpstr>
      <vt:lpstr>Classification</vt:lpstr>
      <vt:lpstr>Verbal Communication</vt:lpstr>
      <vt:lpstr>Non verbal Communication</vt:lpstr>
      <vt:lpstr>     Types of Communication</vt:lpstr>
      <vt:lpstr>Different forms of communication</vt:lpstr>
      <vt:lpstr>Levels of communication</vt:lpstr>
      <vt:lpstr>Extrapersonal Communication</vt:lpstr>
      <vt:lpstr>Intrapersonal Communication</vt:lpstr>
      <vt:lpstr>Interpersonal Communication</vt:lpstr>
      <vt:lpstr>Interpersonal Communication</vt:lpstr>
      <vt:lpstr>Organizational Communication</vt:lpstr>
      <vt:lpstr>Mass Communication</vt:lpstr>
      <vt:lpstr>Flow of Communication (Communication Network)</vt:lpstr>
      <vt:lpstr>Flow of Communication</vt:lpstr>
      <vt:lpstr>Vertical Communication</vt:lpstr>
      <vt:lpstr>Upward Communication</vt:lpstr>
      <vt:lpstr>Downward communication</vt:lpstr>
      <vt:lpstr>Horizontal /Lateral Communication</vt:lpstr>
      <vt:lpstr>Diagonal Communication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 Communication</dc:title>
  <dc:creator>Redmi 8</dc:creator>
  <cp:lastModifiedBy>unais kt</cp:lastModifiedBy>
  <cp:revision>19</cp:revision>
  <dcterms:created xsi:type="dcterms:W3CDTF">2020-12-06T06:08:24Z</dcterms:created>
  <dcterms:modified xsi:type="dcterms:W3CDTF">2025-09-03T12:19:13Z</dcterms:modified>
</cp:coreProperties>
</file>