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33"/>
  </p:notesMasterIdLst>
  <p:sldIdLst>
    <p:sldId id="256" r:id="rId2"/>
    <p:sldId id="257" r:id="rId3"/>
    <p:sldId id="258" r:id="rId4"/>
    <p:sldId id="269" r:id="rId5"/>
    <p:sldId id="260" r:id="rId6"/>
    <p:sldId id="261" r:id="rId7"/>
    <p:sldId id="277" r:id="rId8"/>
    <p:sldId id="262" r:id="rId9"/>
    <p:sldId id="278" r:id="rId10"/>
    <p:sldId id="263" r:id="rId11"/>
    <p:sldId id="279" r:id="rId12"/>
    <p:sldId id="264" r:id="rId13"/>
    <p:sldId id="280" r:id="rId14"/>
    <p:sldId id="265" r:id="rId15"/>
    <p:sldId id="281" r:id="rId16"/>
    <p:sldId id="266" r:id="rId17"/>
    <p:sldId id="282" r:id="rId18"/>
    <p:sldId id="267" r:id="rId19"/>
    <p:sldId id="283" r:id="rId20"/>
    <p:sldId id="270" r:id="rId21"/>
    <p:sldId id="271" r:id="rId22"/>
    <p:sldId id="284" r:id="rId23"/>
    <p:sldId id="272" r:id="rId24"/>
    <p:sldId id="285" r:id="rId25"/>
    <p:sldId id="273" r:id="rId26"/>
    <p:sldId id="286" r:id="rId27"/>
    <p:sldId id="274" r:id="rId28"/>
    <p:sldId id="287" r:id="rId29"/>
    <p:sldId id="275" r:id="rId30"/>
    <p:sldId id="276" r:id="rId31"/>
    <p:sldId id="268" r:id="rId32"/>
  </p:sldIdLst>
  <p:sldSz cx="9144000" cy="6858000" type="screen4x3"/>
  <p:notesSz cx="6858000" cy="9144000"/>
  <p:embeddedFontLst>
    <p:embeddedFont>
      <p:font typeface="Georgia" pitchFamily="18" charset="0"/>
      <p:regular r:id="rId34"/>
      <p:bold r:id="rId35"/>
      <p:italic r:id="rId36"/>
      <p:boldItalic r:id="rId37"/>
    </p:embeddedFont>
    <p:embeddedFont>
      <p:font typeface="Wingdings 2" pitchFamily="18" charset="2"/>
      <p:regular r:id="rId38"/>
    </p:embeddedFont>
    <p:embeddedFont>
      <p:font typeface="Comic Sans MS" pitchFamily="66"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gh2bAtgDQXXxNsybOKqd7Uy9WWD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3081547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bd7efab297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bd7efab2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bcba6baa25_0_8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bcba6baa25_0_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bcba6baa25_0_8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bcba6baa25_0_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bcba6baa25_0_8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2bcba6baa25_0_8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bcba6baa25_0_8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2bcba6baa25_0_8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7D0065BE-0657-4A47-90AD-C21C55E16B19}" type="datetime4">
              <a:rPr lang="en-US" smtClean="0"/>
              <a:pPr/>
              <a:t>February 20, 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4361688" y="1026372"/>
            <a:ext cx="457200" cy="441325"/>
          </a:xfrm>
        </p:spPr>
        <p:txBody>
          <a:bodyPr/>
          <a:lstStyle/>
          <a:p>
            <a:pPr marL="0" lvl="0" indent="0" algn="l" rtl="0">
              <a:spcBef>
                <a:spcPts val="0"/>
              </a:spcBef>
              <a:spcAft>
                <a:spcPts val="0"/>
              </a:spcAft>
              <a:buNone/>
            </a:pPr>
            <a:fld id="{00000000-1234-1234-1234-123412341234}" type="slidenum">
              <a:rPr lang="en-US" smtClean="0"/>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47D2193-4505-4A75-99BB-880C6989A757}" type="datetime4">
              <a:rPr lang="en-US" smtClean="0"/>
              <a:pPr/>
              <a:t>February 20, 2025</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113A18F4-33C3-445B-924C-31108C51719C}" type="datetime4">
              <a:rPr lang="en-US" smtClean="0"/>
              <a:pPr/>
              <a:t>February 20,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3AF7543A-E259-478F-9E0D-57BA40E442B7}" type="datetime4">
              <a:rPr lang="en-US" smtClean="0"/>
              <a:pPr/>
              <a:t>February 20, 2025</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EFB012D-77A1-44B0-BB26-329BA1EE55C9}" type="datetime4">
              <a:rPr lang="en-US" smtClean="0"/>
              <a:pPr/>
              <a:t>February 20,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94B7499E-3031-413E-B01E-B94970708CAA}" type="datetime4">
              <a:rPr lang="en-US" smtClean="0"/>
              <a:pPr/>
              <a:t>February 20,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DC7EAB0C-2220-4D0E-A0DD-DB7FA0F742F4}" type="datetime4">
              <a:rPr lang="en-US" smtClean="0"/>
              <a:pPr/>
              <a:t>February 20, 2025</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E3416D63-31BF-4B94-B6C5-E20B2C63F515}" type="datetime4">
              <a:rPr lang="en-US" smtClean="0"/>
              <a:pPr/>
              <a:t>February 20, 2025</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16C3AA4-67BE-44F7-809A-3582401494AF}" type="datetime4">
              <a:rPr lang="en-US" smtClean="0"/>
              <a:pPr/>
              <a:t>February 20,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5172EEB-1769-4776-AD69-E7C1260563EB}" type="datetime4">
              <a:rPr lang="en-US" smtClean="0"/>
              <a:pPr/>
              <a:t>February 20, 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84"/>
        <p:cNvGrpSpPr/>
        <p:nvPr/>
      </p:nvGrpSpPr>
      <p:grpSpPr>
        <a:xfrm>
          <a:off x="0" y="0"/>
          <a:ext cx="0" cy="0"/>
          <a:chOff x="0" y="0"/>
          <a:chExt cx="0" cy="0"/>
        </a:xfrm>
      </p:grpSpPr>
      <p:sp>
        <p:nvSpPr>
          <p:cNvPr id="88" name="Google Shape;88;g2bcba6baa25_0_679"/>
          <p:cNvSpPr txBox="1">
            <a:spLocks noGrp="1"/>
          </p:cNvSpPr>
          <p:nvPr>
            <p:ph type="title"/>
          </p:nvPr>
        </p:nvSpPr>
        <p:spPr>
          <a:xfrm>
            <a:off x="1303800" y="798100"/>
            <a:ext cx="7030500" cy="1332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g2bcba6baa25_0_679"/>
          <p:cNvSpPr txBox="1">
            <a:spLocks noGrp="1"/>
          </p:cNvSpPr>
          <p:nvPr>
            <p:ph type="body" idx="1"/>
          </p:nvPr>
        </p:nvSpPr>
        <p:spPr>
          <a:xfrm>
            <a:off x="1303800" y="2653400"/>
            <a:ext cx="7030500" cy="3388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g2bcba6baa25_0_679"/>
          <p:cNvSpPr txBox="1">
            <a:spLocks noGrp="1"/>
          </p:cNvSpPr>
          <p:nvPr>
            <p:ph type="sldNum" idx="12"/>
          </p:nvPr>
        </p:nvSpPr>
        <p:spPr>
          <a:xfrm>
            <a:off x="8451046" y="6315968"/>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dk1"/>
        </a:solidFill>
        <a:effectLst/>
      </p:bgPr>
    </p:bg>
    <p:spTree>
      <p:nvGrpSpPr>
        <p:cNvPr id="1" name="Shape 49"/>
        <p:cNvGrpSpPr/>
        <p:nvPr/>
      </p:nvGrpSpPr>
      <p:grpSpPr>
        <a:xfrm>
          <a:off x="0" y="0"/>
          <a:ext cx="0" cy="0"/>
          <a:chOff x="0" y="0"/>
          <a:chExt cx="0" cy="0"/>
        </a:xfrm>
      </p:grpSpPr>
      <p:sp>
        <p:nvSpPr>
          <p:cNvPr id="82" name="Google Shape;82;g2bcba6baa25_0_644"/>
          <p:cNvSpPr txBox="1">
            <a:spLocks noGrp="1"/>
          </p:cNvSpPr>
          <p:nvPr>
            <p:ph type="title"/>
          </p:nvPr>
        </p:nvSpPr>
        <p:spPr>
          <a:xfrm>
            <a:off x="824000" y="2151767"/>
            <a:ext cx="5857800" cy="24972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g2bcba6baa25_0_644"/>
          <p:cNvSpPr txBox="1">
            <a:spLocks noGrp="1"/>
          </p:cNvSpPr>
          <p:nvPr>
            <p:ph type="sldNum" idx="12"/>
          </p:nvPr>
        </p:nvSpPr>
        <p:spPr>
          <a:xfrm>
            <a:off x="8451046" y="6315968"/>
            <a:ext cx="548700" cy="5247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62B1B13E-D5AF-485E-81A1-82A140076526}" type="datetime4">
              <a:rPr lang="en-US" smtClean="0"/>
              <a:pPr/>
              <a:t>February 20, 2025</a:t>
            </a:fld>
            <a:endParaRPr lang="en-US" dirty="0"/>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dirty="0"/>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Lst>
  <p:hf sldNum="0"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2FE1C9"/>
            </a:gs>
            <a:gs pos="100000">
              <a:srgbClr val="177669"/>
            </a:gs>
          </a:gsLst>
          <a:lin ang="5400012" scaled="0"/>
        </a:gradFill>
        <a:effectLst/>
      </p:bgPr>
    </p:bg>
    <p:spTree>
      <p:nvGrpSpPr>
        <p:cNvPr id="1" name="Shape 282"/>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DR.UNAIS KT</a:t>
            </a:r>
          </a:p>
          <a:p>
            <a:r>
              <a:rPr lang="en-US" dirty="0" smtClean="0"/>
              <a:t>NIT GOA</a:t>
            </a:r>
            <a:endParaRPr lang="en-IN" dirty="0"/>
          </a:p>
        </p:txBody>
      </p:sp>
      <p:sp>
        <p:nvSpPr>
          <p:cNvPr id="283" name="Google Shape;283;p1"/>
          <p:cNvSpPr txBox="1">
            <a:spLocks noGrp="1"/>
          </p:cNvSpPr>
          <p:nvPr>
            <p:ph type="ctrTitle"/>
          </p:nvPr>
        </p:nvSpPr>
        <p:spPr>
          <a:prstGeom prst="rect">
            <a:avLst/>
          </a:prstGeom>
          <a:noFill/>
          <a:ln>
            <a:noFill/>
          </a:ln>
        </p:spPr>
        <p:txBody>
          <a:bodyPr spcFirstLastPara="1" wrap="square" lIns="91425" tIns="45700" rIns="91425" bIns="45700" anchor="t" anchorCtr="0">
            <a:normAutofit fontScale="90000"/>
          </a:bodyPr>
          <a:lstStyle/>
          <a:p>
            <a:pPr marL="0" lvl="0" indent="0" algn="ctr" rtl="0">
              <a:spcBef>
                <a:spcPts val="0"/>
              </a:spcBef>
              <a:spcAft>
                <a:spcPts val="0"/>
              </a:spcAft>
              <a:buClr>
                <a:srgbClr val="C1EDFF"/>
              </a:buClr>
              <a:buSzPts val="4000"/>
              <a:buFont typeface="Comic Sans MS"/>
              <a:buNone/>
            </a:pPr>
            <a:r>
              <a:rPr lang="en-US" sz="4000" dirty="0" smtClean="0">
                <a:latin typeface="Times New Roman" pitchFamily="18" charset="0"/>
                <a:ea typeface="Comic Sans MS"/>
                <a:cs typeface="Times New Roman" pitchFamily="18" charset="0"/>
                <a:sym typeface="Comic Sans MS"/>
              </a:rPr>
              <a:t>MODULE-3</a:t>
            </a:r>
            <a:br>
              <a:rPr lang="en-US" sz="4000" dirty="0" smtClean="0">
                <a:latin typeface="Times New Roman" pitchFamily="18" charset="0"/>
                <a:ea typeface="Comic Sans MS"/>
                <a:cs typeface="Times New Roman" pitchFamily="18" charset="0"/>
                <a:sym typeface="Comic Sans MS"/>
              </a:rPr>
            </a:br>
            <a:r>
              <a:rPr lang="en-US" sz="4000" dirty="0" smtClean="0">
                <a:latin typeface="Times New Roman" pitchFamily="18" charset="0"/>
                <a:ea typeface="Comic Sans MS"/>
                <a:cs typeface="Times New Roman" pitchFamily="18" charset="0"/>
                <a:sym typeface="Comic Sans MS"/>
              </a:rPr>
              <a:t>SEVEN C’s AND FOUR S’s</a:t>
            </a:r>
            <a:r>
              <a:rPr lang="en-US" sz="4000" dirty="0">
                <a:latin typeface="Times New Roman" pitchFamily="18" charset="0"/>
                <a:ea typeface="Comic Sans MS"/>
                <a:cs typeface="Times New Roman" pitchFamily="18" charset="0"/>
                <a:sym typeface="Comic Sans MS"/>
              </a:rPr>
              <a:t/>
            </a:r>
            <a:br>
              <a:rPr lang="en-US" sz="4000" dirty="0">
                <a:latin typeface="Times New Roman" pitchFamily="18" charset="0"/>
                <a:ea typeface="Comic Sans MS"/>
                <a:cs typeface="Times New Roman" pitchFamily="18" charset="0"/>
                <a:sym typeface="Comic Sans MS"/>
              </a:rPr>
            </a:br>
            <a:r>
              <a:rPr lang="en-US" sz="4000" dirty="0">
                <a:latin typeface="Times New Roman" pitchFamily="18" charset="0"/>
                <a:ea typeface="Comic Sans MS"/>
                <a:cs typeface="Times New Roman" pitchFamily="18" charset="0"/>
                <a:sym typeface="Comic Sans MS"/>
              </a:rPr>
              <a:t> OF EFFECTIVE </a:t>
            </a:r>
            <a:r>
              <a:rPr lang="en-US" sz="4000" dirty="0" smtClean="0">
                <a:latin typeface="Times New Roman" pitchFamily="18" charset="0"/>
                <a:ea typeface="Comic Sans MS"/>
                <a:cs typeface="Times New Roman" pitchFamily="18" charset="0"/>
                <a:sym typeface="Comic Sans MS"/>
              </a:rPr>
              <a:t>COMMUNICATION</a:t>
            </a:r>
            <a:br>
              <a:rPr lang="en-US" sz="4000" dirty="0" smtClean="0">
                <a:latin typeface="Times New Roman" pitchFamily="18" charset="0"/>
                <a:ea typeface="Comic Sans MS"/>
                <a:cs typeface="Times New Roman" pitchFamily="18" charset="0"/>
                <a:sym typeface="Comic Sans MS"/>
              </a:rPr>
            </a:br>
            <a:r>
              <a:rPr lang="en-US" sz="3600" dirty="0">
                <a:latin typeface="Comic Sans MS"/>
                <a:ea typeface="Comic Sans MS"/>
                <a:cs typeface="Comic Sans MS"/>
                <a:sym typeface="Comic Sans MS"/>
              </a:rPr>
              <a:t/>
            </a:r>
            <a:br>
              <a:rPr lang="en-US" sz="3600" dirty="0">
                <a:latin typeface="Comic Sans MS"/>
                <a:ea typeface="Comic Sans MS"/>
                <a:cs typeface="Comic Sans MS"/>
                <a:sym typeface="Comic Sans MS"/>
              </a:rPr>
            </a:br>
            <a:endParaRPr sz="3600" dirty="0">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287"/>
        <p:cNvGrpSpPr/>
        <p:nvPr/>
      </p:nvGrpSpPr>
      <p:grpSpPr>
        <a:xfrm>
          <a:off x="0" y="0"/>
          <a:ext cx="0" cy="0"/>
          <a:chOff x="0" y="0"/>
          <a:chExt cx="0" cy="0"/>
        </a:xfrm>
      </p:grpSpPr>
      <p:sp>
        <p:nvSpPr>
          <p:cNvPr id="288" name="Google Shape;288;g2bd7efab297_0_0"/>
          <p:cNvSpPr txBox="1">
            <a:spLocks noGrp="1"/>
          </p:cNvSpPr>
          <p:nvPr>
            <p:ph type="title"/>
          </p:nvPr>
        </p:nvSpPr>
        <p:spPr>
          <a:xfrm>
            <a:off x="1303800" y="278500"/>
            <a:ext cx="7030500" cy="626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chemeClr val="tx1"/>
                </a:solidFill>
                <a:latin typeface="Times New Roman" pitchFamily="18" charset="0"/>
                <a:cs typeface="Times New Roman" pitchFamily="18" charset="0"/>
              </a:rPr>
              <a:t>Enjoy Reading</a:t>
            </a:r>
            <a:endParaRPr dirty="0">
              <a:solidFill>
                <a:schemeClr val="tx1"/>
              </a:solidFill>
              <a:latin typeface="Times New Roman" pitchFamily="18" charset="0"/>
              <a:cs typeface="Times New Roman" pitchFamily="18" charset="0"/>
            </a:endParaRPr>
          </a:p>
        </p:txBody>
      </p:sp>
      <p:sp>
        <p:nvSpPr>
          <p:cNvPr id="289" name="Google Shape;289;g2bd7efab297_0_0"/>
          <p:cNvSpPr txBox="1">
            <a:spLocks noGrp="1"/>
          </p:cNvSpPr>
          <p:nvPr>
            <p:ph type="body" idx="1"/>
          </p:nvPr>
        </p:nvSpPr>
        <p:spPr>
          <a:xfrm>
            <a:off x="469975" y="1501254"/>
            <a:ext cx="8459400" cy="492684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dirty="0" smtClean="0">
                <a:sym typeface="Times New Roman"/>
              </a:rPr>
              <a:t>May </a:t>
            </a:r>
            <a:r>
              <a:rPr lang="en-US" sz="2400" dirty="0">
                <a:sym typeface="Times New Roman"/>
              </a:rPr>
              <a:t>I Smoke? </a:t>
            </a:r>
            <a:endParaRPr sz="2400" dirty="0">
              <a:sym typeface="Times New Roman"/>
            </a:endParaRPr>
          </a:p>
          <a:p>
            <a:pPr marL="0" lvl="0" indent="0" algn="just" rtl="0">
              <a:spcBef>
                <a:spcPts val="1200"/>
              </a:spcBef>
              <a:spcAft>
                <a:spcPts val="1200"/>
              </a:spcAft>
              <a:buNone/>
            </a:pPr>
            <a:r>
              <a:rPr lang="en-US" sz="2400" dirty="0">
                <a:sym typeface="Times New Roman"/>
              </a:rPr>
              <a:t>Jack and Max are walking from the religious service. Jack wonders whether it would be all right to smoke while praying. Max replies: </a:t>
            </a:r>
            <a:r>
              <a:rPr lang="en-US" sz="2400" dirty="0" smtClean="0">
                <a:sym typeface="Times New Roman"/>
              </a:rPr>
              <a:t>“Why don’t </a:t>
            </a:r>
            <a:r>
              <a:rPr lang="en-US" sz="2400" dirty="0">
                <a:sym typeface="Times New Roman"/>
              </a:rPr>
              <a:t>you ask the Priest</a:t>
            </a:r>
            <a:r>
              <a:rPr lang="en-US" sz="2400" dirty="0" smtClean="0">
                <a:sym typeface="Times New Roman"/>
              </a:rPr>
              <a:t>?” </a:t>
            </a:r>
            <a:r>
              <a:rPr lang="en-US" sz="2400" dirty="0">
                <a:sym typeface="Times New Roman"/>
              </a:rPr>
              <a:t>So Jack goes up the Priest and asks: </a:t>
            </a:r>
            <a:r>
              <a:rPr lang="en-US" sz="2400" dirty="0" smtClean="0">
                <a:sym typeface="Times New Roman"/>
              </a:rPr>
              <a:t>“Priest</a:t>
            </a:r>
            <a:r>
              <a:rPr lang="en-US" sz="2400" dirty="0">
                <a:sym typeface="Times New Roman"/>
              </a:rPr>
              <a:t>, may I smoke while I pray</a:t>
            </a:r>
            <a:r>
              <a:rPr lang="en-US" sz="2400" dirty="0" smtClean="0">
                <a:sym typeface="Times New Roman"/>
              </a:rPr>
              <a:t>?” </a:t>
            </a:r>
            <a:r>
              <a:rPr lang="en-US" sz="2400" dirty="0">
                <a:sym typeface="Times New Roman"/>
              </a:rPr>
              <a:t>Priest says: </a:t>
            </a:r>
            <a:r>
              <a:rPr lang="en-US" sz="2400" dirty="0" smtClean="0">
                <a:sym typeface="Times New Roman"/>
              </a:rPr>
              <a:t>“No</a:t>
            </a:r>
            <a:r>
              <a:rPr lang="en-US" sz="2400" dirty="0">
                <a:sym typeface="Times New Roman"/>
              </a:rPr>
              <a:t>, my son, you may not, </a:t>
            </a:r>
            <a:r>
              <a:rPr lang="en-US" sz="2400" dirty="0" smtClean="0">
                <a:sym typeface="Times New Roman"/>
              </a:rPr>
              <a:t>that’s </a:t>
            </a:r>
            <a:r>
              <a:rPr lang="en-US" sz="2400" dirty="0">
                <a:sym typeface="Times New Roman"/>
              </a:rPr>
              <a:t>utter disrespect to our religion</a:t>
            </a:r>
            <a:r>
              <a:rPr lang="en-US" sz="2400" dirty="0" smtClean="0">
                <a:sym typeface="Times New Roman"/>
              </a:rPr>
              <a:t>.” </a:t>
            </a:r>
            <a:r>
              <a:rPr lang="en-US" sz="2400" dirty="0">
                <a:sym typeface="Times New Roman"/>
              </a:rPr>
              <a:t>Jack goes up and tells his friend what the good Priest told him. Max says: </a:t>
            </a:r>
            <a:r>
              <a:rPr lang="en-US" sz="2400" dirty="0" smtClean="0">
                <a:sym typeface="Times New Roman"/>
              </a:rPr>
              <a:t>“I’m </a:t>
            </a:r>
            <a:r>
              <a:rPr lang="en-US" sz="2400" dirty="0">
                <a:sym typeface="Times New Roman"/>
              </a:rPr>
              <a:t>not surprised. You asked the wrong question. Let me try</a:t>
            </a:r>
            <a:r>
              <a:rPr lang="en-US" sz="2400" dirty="0" smtClean="0">
                <a:sym typeface="Times New Roman"/>
              </a:rPr>
              <a:t>.” </a:t>
            </a:r>
            <a:r>
              <a:rPr lang="en-US" sz="2400" dirty="0">
                <a:sym typeface="Times New Roman"/>
              </a:rPr>
              <a:t>And so, Max goes up the Priest and asks: </a:t>
            </a:r>
            <a:r>
              <a:rPr lang="en-US" sz="2400" dirty="0" smtClean="0">
                <a:sym typeface="Times New Roman"/>
              </a:rPr>
              <a:t>“Priest</a:t>
            </a:r>
            <a:r>
              <a:rPr lang="en-US" sz="2400" dirty="0">
                <a:sym typeface="Times New Roman"/>
              </a:rPr>
              <a:t>, may I pray while I smoke</a:t>
            </a:r>
            <a:r>
              <a:rPr lang="en-US" sz="2400" dirty="0" smtClean="0">
                <a:sym typeface="Times New Roman"/>
              </a:rPr>
              <a:t>.” </a:t>
            </a:r>
            <a:r>
              <a:rPr lang="en-US" sz="2400" dirty="0">
                <a:sym typeface="Times New Roman"/>
              </a:rPr>
              <a:t>To which the Priest eagerly replies: </a:t>
            </a:r>
            <a:r>
              <a:rPr lang="en-US" sz="2400" dirty="0" smtClean="0">
                <a:sym typeface="Times New Roman"/>
              </a:rPr>
              <a:t>“By </a:t>
            </a:r>
            <a:r>
              <a:rPr lang="en-US" sz="2400" dirty="0">
                <a:sym typeface="Times New Roman"/>
              </a:rPr>
              <a:t>all means my son, by all means</a:t>
            </a:r>
            <a:r>
              <a:rPr lang="en-US" sz="2400" dirty="0" smtClean="0">
                <a:sym typeface="Times New Roman"/>
              </a:rPr>
              <a:t>.” </a:t>
            </a:r>
            <a:r>
              <a:rPr lang="en-US" sz="2400" dirty="0">
                <a:sym typeface="Times New Roman"/>
              </a:rPr>
              <a:t>—Anonymous</a:t>
            </a:r>
            <a:endParaRPr sz="2400" dirty="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293"/>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chemeClr val="tx1"/>
                </a:solidFill>
                <a:latin typeface="Times New Roman" pitchFamily="18" charset="0"/>
                <a:cs typeface="Times New Roman" pitchFamily="18" charset="0"/>
              </a:rPr>
              <a:t>Introduction</a:t>
            </a:r>
            <a:endParaRPr lang="en-IN" dirty="0">
              <a:solidFill>
                <a:schemeClr val="tx1"/>
              </a:solidFill>
              <a:latin typeface="Times New Roman" pitchFamily="18" charset="0"/>
              <a:cs typeface="Times New Roman" pitchFamily="18" charset="0"/>
            </a:endParaRPr>
          </a:p>
        </p:txBody>
      </p:sp>
      <p:sp>
        <p:nvSpPr>
          <p:cNvPr id="294" name="Google Shape;294;p2"/>
          <p:cNvSpPr txBox="1">
            <a:spLocks noGrp="1"/>
          </p:cNvSpPr>
          <p:nvPr>
            <p:ph sz="quarter" idx="1"/>
          </p:nvPr>
        </p:nvSpPr>
        <p:spPr>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rmAutofit/>
          </a:bodyPr>
          <a:lstStyle/>
          <a:p>
            <a:pPr marL="30480" lvl="0" indent="0" algn="just" rtl="0">
              <a:spcBef>
                <a:spcPts val="0"/>
              </a:spcBef>
              <a:spcAft>
                <a:spcPts val="0"/>
              </a:spcAft>
              <a:buSzPts val="3450"/>
              <a:buNone/>
            </a:pPr>
            <a:endParaRPr lang="en-US" sz="2800" dirty="0" smtClean="0">
              <a:latin typeface="Times New Roman"/>
              <a:ea typeface="Times New Roman"/>
              <a:cs typeface="Times New Roman"/>
              <a:sym typeface="Times New Roman"/>
            </a:endParaRPr>
          </a:p>
          <a:p>
            <a:pPr marL="411480" lvl="0" indent="-381000" algn="just" rtl="0">
              <a:spcBef>
                <a:spcPts val="0"/>
              </a:spcBef>
              <a:spcAft>
                <a:spcPts val="0"/>
              </a:spcAft>
              <a:buSzPts val="3450"/>
              <a:buFont typeface="Times New Roman"/>
              <a:buChar char="●"/>
            </a:pPr>
            <a:r>
              <a:rPr lang="en-US" sz="2800" dirty="0" smtClean="0">
                <a:latin typeface="Times New Roman"/>
                <a:ea typeface="Times New Roman"/>
                <a:cs typeface="Times New Roman"/>
                <a:sym typeface="Times New Roman"/>
              </a:rPr>
              <a:t>Good </a:t>
            </a:r>
            <a:r>
              <a:rPr lang="en-US" sz="2800" dirty="0">
                <a:latin typeface="Times New Roman"/>
                <a:ea typeface="Times New Roman"/>
                <a:cs typeface="Times New Roman"/>
                <a:sym typeface="Times New Roman"/>
              </a:rPr>
              <a:t>communication skills are obviously a very valuable employability characteristic. </a:t>
            </a:r>
            <a:endParaRPr lang="en-US" sz="2800" dirty="0" smtClean="0">
              <a:latin typeface="Times New Roman"/>
              <a:ea typeface="Times New Roman"/>
              <a:cs typeface="Times New Roman"/>
              <a:sym typeface="Times New Roman"/>
            </a:endParaRPr>
          </a:p>
          <a:p>
            <a:pPr marL="411480" lvl="0" indent="-381000" algn="just" rtl="0">
              <a:spcBef>
                <a:spcPts val="0"/>
              </a:spcBef>
              <a:spcAft>
                <a:spcPts val="0"/>
              </a:spcAft>
              <a:buSzPts val="3450"/>
              <a:buFont typeface="Times New Roman"/>
              <a:buChar char="●"/>
            </a:pPr>
            <a:r>
              <a:rPr lang="en-US" sz="2800" dirty="0" smtClean="0">
                <a:latin typeface="Times New Roman"/>
                <a:ea typeface="Times New Roman"/>
                <a:cs typeface="Times New Roman"/>
                <a:sym typeface="Times New Roman"/>
              </a:rPr>
              <a:t>The </a:t>
            </a:r>
            <a:r>
              <a:rPr lang="en-US" sz="2800" dirty="0">
                <a:latin typeface="Times New Roman"/>
                <a:ea typeface="Times New Roman"/>
                <a:cs typeface="Times New Roman"/>
                <a:sym typeface="Times New Roman"/>
              </a:rPr>
              <a:t>work environment responds positively to effectively communicated ideas, knowledge and company-related proposals. </a:t>
            </a:r>
            <a:endParaRPr lang="en-US" sz="2800" dirty="0" smtClean="0">
              <a:latin typeface="Times New Roman"/>
              <a:ea typeface="Times New Roman"/>
              <a:cs typeface="Times New Roman"/>
              <a:sym typeface="Times New Roman"/>
            </a:endParaRPr>
          </a:p>
          <a:p>
            <a:pPr marL="411480" lvl="0" indent="-381000" algn="just" rtl="0">
              <a:spcBef>
                <a:spcPts val="0"/>
              </a:spcBef>
              <a:spcAft>
                <a:spcPts val="0"/>
              </a:spcAft>
              <a:buSzPts val="3450"/>
              <a:buFont typeface="Times New Roman"/>
              <a:buChar char="●"/>
            </a:pPr>
            <a:r>
              <a:rPr lang="en-US" sz="2800" dirty="0" smtClean="0">
                <a:latin typeface="Times New Roman"/>
                <a:ea typeface="Times New Roman"/>
                <a:cs typeface="Times New Roman"/>
                <a:sym typeface="Times New Roman"/>
              </a:rPr>
              <a:t>Especially </a:t>
            </a:r>
            <a:r>
              <a:rPr lang="en-US" sz="2800" dirty="0">
                <a:latin typeface="Times New Roman"/>
                <a:ea typeface="Times New Roman"/>
                <a:cs typeface="Times New Roman"/>
                <a:sym typeface="Times New Roman"/>
              </a:rPr>
              <a:t>in this fast-paced era where technology has made connecting people so much easier, more is expected of employees.</a:t>
            </a:r>
            <a:endParaRPr sz="2800" dirty="0">
              <a:latin typeface="Times New Roman"/>
              <a:ea typeface="Times New Roman"/>
              <a:cs typeface="Times New Roman"/>
              <a:sym typeface="Times New Roman"/>
            </a:endParaRPr>
          </a:p>
          <a:p>
            <a:pPr marL="411480" lvl="0" indent="0" algn="just" rtl="0">
              <a:spcBef>
                <a:spcPts val="700"/>
              </a:spcBef>
              <a:spcAft>
                <a:spcPts val="1200"/>
              </a:spcAft>
              <a:buNone/>
            </a:pPr>
            <a:endParaRPr sz="28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tx1"/>
                </a:solidFill>
                <a:latin typeface="Times New Roman" pitchFamily="18" charset="0"/>
                <a:cs typeface="Times New Roman" pitchFamily="18" charset="0"/>
              </a:rPr>
              <a:t>Continue..</a:t>
            </a:r>
            <a:endParaRPr lang="en-IN"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gn="just"/>
            <a:r>
              <a:rPr lang="en-US" dirty="0"/>
              <a:t>The seven C’s of communication are a list of principles or values for people to apply to their communication. </a:t>
            </a:r>
          </a:p>
          <a:p>
            <a:pPr algn="just"/>
            <a:r>
              <a:rPr lang="en-US" dirty="0"/>
              <a:t>These C’s can guide your communication by helping you create clear messages that accurately portray information to others. </a:t>
            </a:r>
          </a:p>
          <a:p>
            <a:pPr algn="just"/>
            <a:r>
              <a:rPr lang="en-US" dirty="0"/>
              <a:t>You might use the seven C’s as a checklist to ensure that you communicate properly.</a:t>
            </a:r>
          </a:p>
          <a:p>
            <a:endParaRPr lang="en-IN" dirty="0"/>
          </a:p>
        </p:txBody>
      </p:sp>
    </p:spTree>
    <p:extLst>
      <p:ext uri="{BB962C8B-B14F-4D97-AF65-F5344CB8AC3E}">
        <p14:creationId xmlns:p14="http://schemas.microsoft.com/office/powerpoint/2010/main" val="3451702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303"/>
        <p:cNvGrpSpPr/>
        <p:nvPr/>
      </p:nvGrpSpPr>
      <p:grpSpPr>
        <a:xfrm>
          <a:off x="0" y="0"/>
          <a:ext cx="0" cy="0"/>
          <a:chOff x="0" y="0"/>
          <a:chExt cx="0" cy="0"/>
        </a:xfrm>
      </p:grpSpPr>
      <p:sp>
        <p:nvSpPr>
          <p:cNvPr id="2" name="Title 1"/>
          <p:cNvSpPr>
            <a:spLocks noGrp="1"/>
          </p:cNvSpPr>
          <p:nvPr>
            <p:ph type="title"/>
          </p:nvPr>
        </p:nvSpPr>
        <p:spPr>
          <a:xfrm>
            <a:off x="301752" y="409432"/>
            <a:ext cx="8534400" cy="578119"/>
          </a:xfrm>
        </p:spPr>
        <p:txBody>
          <a:bodyPr>
            <a:normAutofit fontScale="90000"/>
          </a:bodyPr>
          <a:lstStyle/>
          <a:p>
            <a:r>
              <a:rPr lang="en-IN" dirty="0" smtClean="0"/>
              <a:t> </a:t>
            </a:r>
            <a:r>
              <a:rPr lang="en-IN" dirty="0"/>
              <a:t/>
            </a:r>
            <a:br>
              <a:rPr lang="en-IN" dirty="0"/>
            </a:br>
            <a:r>
              <a:rPr lang="en-IN" sz="3700" dirty="0" smtClean="0">
                <a:solidFill>
                  <a:schemeClr val="tx1"/>
                </a:solidFill>
                <a:latin typeface="Times New Roman" pitchFamily="18" charset="0"/>
                <a:cs typeface="Times New Roman" pitchFamily="18" charset="0"/>
              </a:rPr>
              <a:t>7C’s </a:t>
            </a:r>
            <a:r>
              <a:rPr lang="en-IN" sz="3700" dirty="0">
                <a:solidFill>
                  <a:schemeClr val="tx1"/>
                </a:solidFill>
                <a:latin typeface="Times New Roman" pitchFamily="18" charset="0"/>
                <a:cs typeface="Times New Roman" pitchFamily="18" charset="0"/>
              </a:rPr>
              <a:t>of effective communication</a:t>
            </a:r>
          </a:p>
        </p:txBody>
      </p:sp>
      <p:sp>
        <p:nvSpPr>
          <p:cNvPr id="304" name="Google Shape;304;p4"/>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411480" lvl="0" indent="-352425" algn="l" rtl="0">
              <a:spcBef>
                <a:spcPts val="700"/>
              </a:spcBef>
              <a:spcAft>
                <a:spcPts val="0"/>
              </a:spcAft>
              <a:buSzPts val="3000"/>
              <a:buFont typeface="Times New Roman"/>
              <a:buChar char="●"/>
            </a:pPr>
            <a:r>
              <a:rPr lang="en-US" sz="3000" dirty="0" smtClean="0">
                <a:latin typeface="Times New Roman"/>
                <a:ea typeface="Times New Roman"/>
                <a:cs typeface="Times New Roman"/>
                <a:sym typeface="Times New Roman"/>
              </a:rPr>
              <a:t>Credibility</a:t>
            </a:r>
            <a:endParaRPr sz="3000" dirty="0">
              <a:latin typeface="Times New Roman"/>
              <a:ea typeface="Times New Roman"/>
              <a:cs typeface="Times New Roman"/>
              <a:sym typeface="Times New Roman"/>
            </a:endParaRPr>
          </a:p>
          <a:p>
            <a:pPr marL="411480" lvl="0" indent="-352425" algn="l" rtl="0">
              <a:spcBef>
                <a:spcPts val="700"/>
              </a:spcBef>
              <a:spcAft>
                <a:spcPts val="0"/>
              </a:spcAft>
              <a:buSzPts val="3000"/>
              <a:buFont typeface="Times New Roman"/>
              <a:buChar char="●"/>
            </a:pPr>
            <a:r>
              <a:rPr lang="en-US" sz="3000" dirty="0">
                <a:latin typeface="Times New Roman"/>
                <a:ea typeface="Times New Roman"/>
                <a:cs typeface="Times New Roman"/>
                <a:sym typeface="Times New Roman"/>
              </a:rPr>
              <a:t>Courtesy</a:t>
            </a:r>
            <a:endParaRPr sz="3000" dirty="0">
              <a:latin typeface="Times New Roman"/>
              <a:ea typeface="Times New Roman"/>
              <a:cs typeface="Times New Roman"/>
              <a:sym typeface="Times New Roman"/>
            </a:endParaRPr>
          </a:p>
          <a:p>
            <a:pPr marL="411480" lvl="0" indent="-352425" algn="l" rtl="0">
              <a:spcBef>
                <a:spcPts val="700"/>
              </a:spcBef>
              <a:spcAft>
                <a:spcPts val="0"/>
              </a:spcAft>
              <a:buSzPts val="3000"/>
              <a:buFont typeface="Times New Roman"/>
              <a:buChar char="●"/>
            </a:pPr>
            <a:r>
              <a:rPr lang="en-US" sz="3000" dirty="0">
                <a:latin typeface="Times New Roman"/>
                <a:ea typeface="Times New Roman"/>
                <a:cs typeface="Times New Roman"/>
                <a:sym typeface="Times New Roman"/>
              </a:rPr>
              <a:t>Clarity</a:t>
            </a:r>
            <a:endParaRPr sz="3000" dirty="0">
              <a:latin typeface="Times New Roman"/>
              <a:ea typeface="Times New Roman"/>
              <a:cs typeface="Times New Roman"/>
              <a:sym typeface="Times New Roman"/>
            </a:endParaRPr>
          </a:p>
          <a:p>
            <a:pPr marL="411480" lvl="0" indent="-352425" algn="l" rtl="0">
              <a:spcBef>
                <a:spcPts val="700"/>
              </a:spcBef>
              <a:spcAft>
                <a:spcPts val="0"/>
              </a:spcAft>
              <a:buSzPts val="3000"/>
              <a:buFont typeface="Times New Roman"/>
              <a:buChar char="●"/>
            </a:pPr>
            <a:r>
              <a:rPr lang="en-US" sz="3000" dirty="0">
                <a:latin typeface="Times New Roman"/>
                <a:ea typeface="Times New Roman"/>
                <a:cs typeface="Times New Roman"/>
                <a:sym typeface="Times New Roman"/>
              </a:rPr>
              <a:t>Correctness</a:t>
            </a:r>
            <a:endParaRPr sz="3000" dirty="0">
              <a:latin typeface="Times New Roman"/>
              <a:ea typeface="Times New Roman"/>
              <a:cs typeface="Times New Roman"/>
              <a:sym typeface="Times New Roman"/>
            </a:endParaRPr>
          </a:p>
          <a:p>
            <a:pPr marL="411480" lvl="0" indent="-352425" algn="l" rtl="0">
              <a:spcBef>
                <a:spcPts val="700"/>
              </a:spcBef>
              <a:spcAft>
                <a:spcPts val="0"/>
              </a:spcAft>
              <a:buSzPts val="3000"/>
              <a:buFont typeface="Times New Roman"/>
              <a:buChar char="●"/>
            </a:pPr>
            <a:r>
              <a:rPr lang="en-US" sz="3000" dirty="0">
                <a:latin typeface="Times New Roman"/>
                <a:ea typeface="Times New Roman"/>
                <a:cs typeface="Times New Roman"/>
                <a:sym typeface="Times New Roman"/>
              </a:rPr>
              <a:t>Consistency </a:t>
            </a:r>
            <a:endParaRPr sz="3000" dirty="0">
              <a:latin typeface="Times New Roman"/>
              <a:ea typeface="Times New Roman"/>
              <a:cs typeface="Times New Roman"/>
              <a:sym typeface="Times New Roman"/>
            </a:endParaRPr>
          </a:p>
          <a:p>
            <a:pPr marL="411480" lvl="0" indent="-352425" algn="l" rtl="0">
              <a:spcBef>
                <a:spcPts val="700"/>
              </a:spcBef>
              <a:spcAft>
                <a:spcPts val="0"/>
              </a:spcAft>
              <a:buSzPts val="3000"/>
              <a:buFont typeface="Times New Roman"/>
              <a:buChar char="●"/>
            </a:pPr>
            <a:r>
              <a:rPr lang="en-US" sz="3000" dirty="0">
                <a:latin typeface="Times New Roman"/>
                <a:ea typeface="Times New Roman"/>
                <a:cs typeface="Times New Roman"/>
                <a:sym typeface="Times New Roman"/>
              </a:rPr>
              <a:t>Concreteness</a:t>
            </a:r>
            <a:endParaRPr sz="3000" dirty="0">
              <a:latin typeface="Times New Roman"/>
              <a:ea typeface="Times New Roman"/>
              <a:cs typeface="Times New Roman"/>
              <a:sym typeface="Times New Roman"/>
            </a:endParaRPr>
          </a:p>
          <a:p>
            <a:pPr marL="411480" lvl="0" indent="-352425" algn="l" rtl="0">
              <a:spcBef>
                <a:spcPts val="1200"/>
              </a:spcBef>
              <a:spcAft>
                <a:spcPts val="1200"/>
              </a:spcAft>
              <a:buSzPts val="3000"/>
              <a:buFont typeface="Times New Roman"/>
              <a:buChar char="●"/>
            </a:pPr>
            <a:r>
              <a:rPr lang="en-US" sz="3000" dirty="0">
                <a:latin typeface="Times New Roman"/>
                <a:ea typeface="Times New Roman"/>
                <a:cs typeface="Times New Roman"/>
                <a:sym typeface="Times New Roman"/>
              </a:rPr>
              <a:t>Conciseness</a:t>
            </a:r>
            <a:endParaRPr sz="30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308"/>
        <p:cNvGrpSpPr/>
        <p:nvPr/>
      </p:nvGrpSpPr>
      <p:grpSpPr>
        <a:xfrm>
          <a:off x="0" y="0"/>
          <a:ext cx="0" cy="0"/>
          <a:chOff x="0" y="0"/>
          <a:chExt cx="0" cy="0"/>
        </a:xfrm>
      </p:grpSpPr>
      <p:sp>
        <p:nvSpPr>
          <p:cNvPr id="309" name="Google Shape;309;p5"/>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rgbClr val="C1EDFF"/>
              </a:buClr>
              <a:buSzPts val="4000"/>
              <a:buFont typeface="Comic Sans MS"/>
              <a:buNone/>
            </a:pPr>
            <a:r>
              <a:rPr lang="en-US" b="1" dirty="0">
                <a:solidFill>
                  <a:schemeClr val="tx1"/>
                </a:solidFill>
                <a:latin typeface="Times New Roman" pitchFamily="18" charset="0"/>
                <a:ea typeface="Comic Sans MS"/>
                <a:cs typeface="Times New Roman" pitchFamily="18" charset="0"/>
                <a:sym typeface="Comic Sans MS"/>
              </a:rPr>
              <a:t>1. Credibility</a:t>
            </a:r>
            <a:endParaRPr b="1" dirty="0">
              <a:solidFill>
                <a:schemeClr val="tx1"/>
              </a:solidFill>
              <a:latin typeface="Times New Roman" pitchFamily="18" charset="0"/>
              <a:ea typeface="Comic Sans MS"/>
              <a:cs typeface="Times New Roman" pitchFamily="18" charset="0"/>
              <a:sym typeface="Comic Sans MS"/>
            </a:endParaRPr>
          </a:p>
        </p:txBody>
      </p:sp>
      <p:sp>
        <p:nvSpPr>
          <p:cNvPr id="310" name="Google Shape;310;p5"/>
          <p:cNvSpPr txBox="1">
            <a:spLocks noGrp="1"/>
          </p:cNvSpPr>
          <p:nvPr>
            <p:ph sz="quarter" idx="1"/>
          </p:nvPr>
        </p:nvSpPr>
        <p:spPr>
          <a:xfrm>
            <a:off x="245660" y="1340274"/>
            <a:ext cx="8441140" cy="5015400"/>
          </a:xfrm>
          <a:prstGeom prst="rect">
            <a:avLst/>
          </a:prstGeom>
          <a:noFill/>
          <a:ln>
            <a:noFill/>
          </a:ln>
        </p:spPr>
        <p:txBody>
          <a:bodyPr spcFirstLastPara="1" wrap="square" lIns="91425" tIns="45700" rIns="91425" bIns="45700" anchor="t" anchorCtr="0">
            <a:noAutofit/>
          </a:bodyPr>
          <a:lstStyle/>
          <a:p>
            <a:pPr marL="411480" lvl="0" indent="-365997" algn="just" rtl="0">
              <a:spcBef>
                <a:spcPts val="700"/>
              </a:spcBef>
              <a:spcAft>
                <a:spcPts val="0"/>
              </a:spcAft>
              <a:buSzPts val="3000"/>
              <a:buFont typeface="Times New Roman"/>
              <a:buChar char="●"/>
            </a:pPr>
            <a:r>
              <a:rPr lang="en-US" sz="3000" dirty="0">
                <a:latin typeface="Times New Roman"/>
                <a:ea typeface="Times New Roman"/>
                <a:cs typeface="Times New Roman"/>
                <a:sym typeface="Times New Roman"/>
              </a:rPr>
              <a:t>Building the trust is important for the effective communication.</a:t>
            </a:r>
            <a:endParaRPr sz="3000" dirty="0">
              <a:latin typeface="Times New Roman"/>
              <a:ea typeface="Times New Roman"/>
              <a:cs typeface="Times New Roman"/>
              <a:sym typeface="Times New Roman"/>
            </a:endParaRPr>
          </a:p>
          <a:p>
            <a:pPr marL="411480" lvl="0" indent="-365997" algn="just" rtl="0">
              <a:spcBef>
                <a:spcPts val="1200"/>
              </a:spcBef>
              <a:spcAft>
                <a:spcPts val="0"/>
              </a:spcAft>
              <a:buSzPts val="3000"/>
              <a:buFont typeface="Times New Roman"/>
              <a:buChar char="●"/>
            </a:pPr>
            <a:r>
              <a:rPr lang="en-US" sz="3000" dirty="0">
                <a:latin typeface="Times New Roman"/>
                <a:ea typeface="Times New Roman"/>
                <a:cs typeface="Times New Roman"/>
                <a:sym typeface="Times New Roman"/>
              </a:rPr>
              <a:t>Establishing credibility is not the outcome of a one shot statement.</a:t>
            </a:r>
            <a:endParaRPr sz="3000" dirty="0">
              <a:latin typeface="Times New Roman"/>
              <a:ea typeface="Times New Roman"/>
              <a:cs typeface="Times New Roman"/>
              <a:sym typeface="Times New Roman"/>
            </a:endParaRPr>
          </a:p>
          <a:p>
            <a:pPr marL="411480" lvl="0" indent="-365998" algn="just" rtl="0">
              <a:spcBef>
                <a:spcPts val="1200"/>
              </a:spcBef>
              <a:spcAft>
                <a:spcPts val="1200"/>
              </a:spcAft>
              <a:buSzPts val="3000"/>
              <a:buFont typeface="Times New Roman"/>
              <a:buChar char="●"/>
            </a:pPr>
            <a:r>
              <a:rPr lang="en-US" sz="3000" dirty="0">
                <a:latin typeface="Times New Roman"/>
                <a:ea typeface="Times New Roman"/>
                <a:cs typeface="Times New Roman"/>
                <a:sym typeface="Times New Roman"/>
              </a:rPr>
              <a:t>It is a long drawn out process in which the receiver, through constant interaction with sender respects credibility and is willing to accept the statements as being truthful and honest</a:t>
            </a:r>
            <a:endParaRPr sz="3000" dirty="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lnSpc>
                <a:spcPct val="150000"/>
              </a:lnSpc>
            </a:pPr>
            <a:r>
              <a:rPr lang="en-US" dirty="0" smtClean="0"/>
              <a:t>“Research </a:t>
            </a:r>
            <a:r>
              <a:rPr lang="en-US" dirty="0"/>
              <a:t>from Harvard University shows that sleep deprivation reduces cognitive function by up to 40</a:t>
            </a:r>
            <a:r>
              <a:rPr lang="en-US" dirty="0" smtClean="0"/>
              <a:t>%.”</a:t>
            </a:r>
            <a:endParaRPr lang="en-US" dirty="0"/>
          </a:p>
          <a:p>
            <a:pPr algn="just">
              <a:lnSpc>
                <a:spcPct val="150000"/>
              </a:lnSpc>
            </a:pPr>
            <a:r>
              <a:rPr lang="en-US" dirty="0"/>
              <a:t>(Here, the credibility comes from the citation of a reputable institution, which makes the statement more trustworthy.)</a:t>
            </a:r>
            <a:endParaRPr lang="en-IN" dirty="0"/>
          </a:p>
        </p:txBody>
      </p:sp>
    </p:spTree>
    <p:extLst>
      <p:ext uri="{BB962C8B-B14F-4D97-AF65-F5344CB8AC3E}">
        <p14:creationId xmlns:p14="http://schemas.microsoft.com/office/powerpoint/2010/main" val="4030947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314"/>
        <p:cNvGrpSpPr/>
        <p:nvPr/>
      </p:nvGrpSpPr>
      <p:grpSpPr>
        <a:xfrm>
          <a:off x="0" y="0"/>
          <a:ext cx="0" cy="0"/>
          <a:chOff x="0" y="0"/>
          <a:chExt cx="0" cy="0"/>
        </a:xfrm>
      </p:grpSpPr>
      <p:sp>
        <p:nvSpPr>
          <p:cNvPr id="315" name="Google Shape;315;p6"/>
          <p:cNvSpPr txBox="1">
            <a:spLocks noGrp="1"/>
          </p:cNvSpPr>
          <p:nvPr>
            <p:ph sz="quarter" idx="1"/>
          </p:nvPr>
        </p:nvSpPr>
        <p:spPr>
          <a:xfrm>
            <a:off x="218364" y="174050"/>
            <a:ext cx="8720920" cy="6492600"/>
          </a:xfrm>
          <a:prstGeom prst="rect">
            <a:avLst/>
          </a:prstGeom>
          <a:noFill/>
          <a:ln>
            <a:noFill/>
          </a:ln>
        </p:spPr>
        <p:txBody>
          <a:bodyPr spcFirstLastPara="1" wrap="square" lIns="91425" tIns="45700" rIns="91425" bIns="45700" anchor="t" anchorCtr="0">
            <a:normAutofit fontScale="77500" lnSpcReduction="20000"/>
          </a:bodyPr>
          <a:lstStyle/>
          <a:p>
            <a:pPr marL="411480" lvl="0" indent="-342900" algn="ctr" rtl="0">
              <a:lnSpc>
                <a:spcPct val="150000"/>
              </a:lnSpc>
              <a:spcBef>
                <a:spcPts val="700"/>
              </a:spcBef>
              <a:spcAft>
                <a:spcPts val="0"/>
              </a:spcAft>
              <a:buSzPct val="95000"/>
              <a:buNone/>
            </a:pPr>
            <a:r>
              <a:rPr lang="en-US" sz="4300" b="1" dirty="0">
                <a:latin typeface="Times New Roman"/>
                <a:ea typeface="Times New Roman"/>
                <a:cs typeface="Times New Roman"/>
                <a:sym typeface="Times New Roman"/>
              </a:rPr>
              <a:t>2. </a:t>
            </a:r>
            <a:r>
              <a:rPr lang="en-US" sz="4300" b="1" dirty="0" smtClean="0">
                <a:latin typeface="Times New Roman"/>
                <a:ea typeface="Times New Roman"/>
                <a:cs typeface="Times New Roman"/>
                <a:sym typeface="Times New Roman"/>
              </a:rPr>
              <a:t>Courtesy</a:t>
            </a:r>
          </a:p>
          <a:p>
            <a:pPr marL="411480" lvl="0" indent="-342900" algn="just" rtl="0">
              <a:lnSpc>
                <a:spcPct val="150000"/>
              </a:lnSpc>
              <a:spcBef>
                <a:spcPts val="700"/>
              </a:spcBef>
              <a:spcAft>
                <a:spcPts val="0"/>
              </a:spcAft>
              <a:buSzPct val="95000"/>
              <a:buNone/>
            </a:pPr>
            <a:endParaRPr sz="3000" b="1" dirty="0">
              <a:latin typeface="Times New Roman"/>
              <a:ea typeface="Times New Roman"/>
              <a:cs typeface="Times New Roman"/>
              <a:sym typeface="Times New Roman"/>
            </a:endParaRPr>
          </a:p>
          <a:p>
            <a:pPr marL="457200" lvl="0" indent="-379730" algn="just" rtl="0">
              <a:spcBef>
                <a:spcPts val="1200"/>
              </a:spcBef>
              <a:spcAft>
                <a:spcPts val="0"/>
              </a:spcAft>
              <a:buSzPct val="100000"/>
              <a:buFont typeface="Times New Roman"/>
              <a:buChar char="●"/>
            </a:pPr>
            <a:r>
              <a:rPr lang="en-US" sz="3100" dirty="0">
                <a:latin typeface="Times New Roman"/>
                <a:ea typeface="Times New Roman"/>
                <a:cs typeface="Times New Roman"/>
                <a:sym typeface="Times New Roman"/>
              </a:rPr>
              <a:t>Courteous communication is friendly, open, and honest, there are no hidden insults or passive-aggressive tones. You keep your reader’s viewpoint in mind, and you’re empathetic to their needs.</a:t>
            </a:r>
            <a:endParaRPr sz="3100" dirty="0">
              <a:latin typeface="Times New Roman"/>
              <a:ea typeface="Times New Roman"/>
              <a:cs typeface="Times New Roman"/>
              <a:sym typeface="Times New Roman"/>
            </a:endParaRPr>
          </a:p>
          <a:p>
            <a:pPr marL="457200" lvl="0" indent="-379730" algn="just" rtl="0">
              <a:lnSpc>
                <a:spcPct val="150000"/>
              </a:lnSpc>
              <a:spcBef>
                <a:spcPts val="700"/>
              </a:spcBef>
              <a:spcAft>
                <a:spcPts val="0"/>
              </a:spcAft>
              <a:buSzPct val="100000"/>
              <a:buFont typeface="Times New Roman"/>
              <a:buChar char="●"/>
            </a:pPr>
            <a:r>
              <a:rPr lang="en-US" sz="3100" dirty="0">
                <a:latin typeface="Times New Roman"/>
                <a:ea typeface="Times New Roman"/>
                <a:cs typeface="Times New Roman"/>
                <a:sym typeface="Times New Roman"/>
              </a:rPr>
              <a:t>Be Sincerely Tactful, Thoughtful and Appreciative.</a:t>
            </a:r>
            <a:endParaRPr sz="3100" dirty="0">
              <a:latin typeface="Times New Roman"/>
              <a:ea typeface="Times New Roman"/>
              <a:cs typeface="Times New Roman"/>
              <a:sym typeface="Times New Roman"/>
            </a:endParaRPr>
          </a:p>
          <a:p>
            <a:pPr marL="457200" lvl="0" indent="-379730" algn="just" rtl="0">
              <a:lnSpc>
                <a:spcPct val="150000"/>
              </a:lnSpc>
              <a:spcBef>
                <a:spcPts val="700"/>
              </a:spcBef>
              <a:spcAft>
                <a:spcPts val="0"/>
              </a:spcAft>
              <a:buSzPct val="100000"/>
              <a:buFont typeface="Times New Roman"/>
              <a:buChar char="●"/>
            </a:pPr>
            <a:r>
              <a:rPr lang="en-US" sz="3100" dirty="0">
                <a:latin typeface="Times New Roman"/>
                <a:ea typeface="Times New Roman"/>
                <a:cs typeface="Times New Roman"/>
                <a:sym typeface="Times New Roman"/>
              </a:rPr>
              <a:t>Use Expressions that Show Respect.</a:t>
            </a:r>
            <a:endParaRPr sz="3100" dirty="0">
              <a:latin typeface="Times New Roman"/>
              <a:ea typeface="Times New Roman"/>
              <a:cs typeface="Times New Roman"/>
              <a:sym typeface="Times New Roman"/>
            </a:endParaRPr>
          </a:p>
          <a:p>
            <a:pPr marL="457200" lvl="0" indent="-379730" algn="just" rtl="0">
              <a:lnSpc>
                <a:spcPct val="150000"/>
              </a:lnSpc>
              <a:spcBef>
                <a:spcPts val="700"/>
              </a:spcBef>
              <a:spcAft>
                <a:spcPts val="0"/>
              </a:spcAft>
              <a:buSzPct val="100000"/>
              <a:buFont typeface="Times New Roman"/>
              <a:buChar char="●"/>
            </a:pPr>
            <a:r>
              <a:rPr lang="en-US" sz="3100" dirty="0">
                <a:latin typeface="Times New Roman"/>
                <a:ea typeface="Times New Roman"/>
                <a:cs typeface="Times New Roman"/>
                <a:sym typeface="Times New Roman"/>
              </a:rPr>
              <a:t>Omit expressions that irritate, or hurt.</a:t>
            </a:r>
            <a:endParaRPr sz="3100" dirty="0">
              <a:latin typeface="Times New Roman"/>
              <a:ea typeface="Times New Roman"/>
              <a:cs typeface="Times New Roman"/>
              <a:sym typeface="Times New Roman"/>
            </a:endParaRPr>
          </a:p>
          <a:p>
            <a:pPr marL="457200" lvl="0" indent="-379730" algn="just" rtl="0">
              <a:lnSpc>
                <a:spcPct val="150000"/>
              </a:lnSpc>
              <a:spcBef>
                <a:spcPts val="700"/>
              </a:spcBef>
              <a:spcAft>
                <a:spcPts val="0"/>
              </a:spcAft>
              <a:buSzPct val="100000"/>
              <a:buFont typeface="Times New Roman"/>
              <a:buChar char="●"/>
            </a:pPr>
            <a:r>
              <a:rPr lang="en-US" sz="3100" dirty="0">
                <a:latin typeface="Times New Roman"/>
                <a:ea typeface="Times New Roman"/>
                <a:cs typeface="Times New Roman"/>
                <a:sym typeface="Times New Roman"/>
              </a:rPr>
              <a:t>Choose Non-discriminatory Expressions.</a:t>
            </a:r>
            <a:endParaRPr sz="3100" dirty="0">
              <a:latin typeface="Times New Roman"/>
              <a:ea typeface="Times New Roman"/>
              <a:cs typeface="Times New Roman"/>
              <a:sym typeface="Times New Roman"/>
            </a:endParaRPr>
          </a:p>
          <a:p>
            <a:pPr marL="457200" lvl="0" indent="-379730" algn="just" rtl="0">
              <a:lnSpc>
                <a:spcPct val="150000"/>
              </a:lnSpc>
              <a:spcBef>
                <a:spcPts val="700"/>
              </a:spcBef>
              <a:spcAft>
                <a:spcPts val="0"/>
              </a:spcAft>
              <a:buSzPct val="100000"/>
              <a:buFont typeface="Times New Roman"/>
              <a:buChar char="●"/>
            </a:pPr>
            <a:r>
              <a:rPr lang="en-US" sz="3100" dirty="0">
                <a:latin typeface="Times New Roman"/>
                <a:ea typeface="Times New Roman"/>
                <a:cs typeface="Times New Roman"/>
                <a:sym typeface="Times New Roman"/>
              </a:rPr>
              <a:t>Courteous message help to strengthen present business friendships, as well as make new friends.</a:t>
            </a:r>
            <a:endParaRPr sz="3100" dirty="0">
              <a:latin typeface="Times New Roman"/>
              <a:ea typeface="Times New Roman"/>
              <a:cs typeface="Times New Roman"/>
              <a:sym typeface="Times New Roman"/>
            </a:endParaRPr>
          </a:p>
          <a:p>
            <a:pPr marL="411480" lvl="0" indent="-342900" algn="just" rtl="0">
              <a:lnSpc>
                <a:spcPct val="150000"/>
              </a:lnSpc>
              <a:spcBef>
                <a:spcPts val="700"/>
              </a:spcBef>
              <a:spcAft>
                <a:spcPts val="0"/>
              </a:spcAft>
              <a:buNone/>
            </a:pPr>
            <a:r>
              <a:rPr lang="en-US" sz="3100" b="1" i="1" dirty="0">
                <a:latin typeface="Times New Roman"/>
                <a:ea typeface="Times New Roman"/>
                <a:cs typeface="Times New Roman"/>
                <a:sym typeface="Times New Roman"/>
              </a:rPr>
              <a:t>Courtesy strengthens relationship</a:t>
            </a:r>
            <a:endParaRPr sz="3100" dirty="0">
              <a:latin typeface="Times New Roman"/>
              <a:ea typeface="Times New Roman"/>
              <a:cs typeface="Times New Roman"/>
              <a:sym typeface="Times New Roman"/>
            </a:endParaRPr>
          </a:p>
          <a:p>
            <a:pPr marL="457200" lvl="0" indent="0" algn="just" rtl="0">
              <a:lnSpc>
                <a:spcPct val="150000"/>
              </a:lnSpc>
              <a:spcBef>
                <a:spcPts val="700"/>
              </a:spcBef>
              <a:spcAft>
                <a:spcPts val="1200"/>
              </a:spcAft>
              <a:buNone/>
            </a:pPr>
            <a:endParaRPr sz="3000" b="1"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lnSpc>
                <a:spcPct val="150000"/>
              </a:lnSpc>
            </a:pPr>
            <a:r>
              <a:rPr lang="en-US" dirty="0" smtClean="0"/>
              <a:t>“I </a:t>
            </a:r>
            <a:r>
              <a:rPr lang="en-US" dirty="0"/>
              <a:t>appreciate your time and effort in reviewing this proposal. If you have any questions, feel free to reach out, and </a:t>
            </a:r>
            <a:r>
              <a:rPr lang="en-US" dirty="0" smtClean="0"/>
              <a:t>I’ll </a:t>
            </a:r>
            <a:r>
              <a:rPr lang="en-US" dirty="0"/>
              <a:t>be happy to clarify</a:t>
            </a:r>
            <a:r>
              <a:rPr lang="en-US" dirty="0" smtClean="0"/>
              <a:t>.”</a:t>
            </a:r>
            <a:endParaRPr lang="en-US" dirty="0"/>
          </a:p>
          <a:p>
            <a:pPr algn="just">
              <a:lnSpc>
                <a:spcPct val="150000"/>
              </a:lnSpc>
            </a:pPr>
            <a:r>
              <a:rPr lang="en-US" dirty="0"/>
              <a:t>(This statement shows politeness and consideration for the </a:t>
            </a:r>
            <a:r>
              <a:rPr lang="en-US" dirty="0" smtClean="0"/>
              <a:t>audience’s </a:t>
            </a:r>
            <a:r>
              <a:rPr lang="en-US" dirty="0"/>
              <a:t>time and needs.)</a:t>
            </a:r>
            <a:endParaRPr lang="en-IN" dirty="0"/>
          </a:p>
        </p:txBody>
      </p:sp>
    </p:spTree>
    <p:extLst>
      <p:ext uri="{BB962C8B-B14F-4D97-AF65-F5344CB8AC3E}">
        <p14:creationId xmlns:p14="http://schemas.microsoft.com/office/powerpoint/2010/main" val="421358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319"/>
        <p:cNvGrpSpPr/>
        <p:nvPr/>
      </p:nvGrpSpPr>
      <p:grpSpPr>
        <a:xfrm>
          <a:off x="0" y="0"/>
          <a:ext cx="0" cy="0"/>
          <a:chOff x="0" y="0"/>
          <a:chExt cx="0" cy="0"/>
        </a:xfrm>
      </p:grpSpPr>
      <p:sp>
        <p:nvSpPr>
          <p:cNvPr id="2" name="Title 1"/>
          <p:cNvSpPr>
            <a:spLocks noGrp="1"/>
          </p:cNvSpPr>
          <p:nvPr>
            <p:ph type="title"/>
          </p:nvPr>
        </p:nvSpPr>
        <p:spPr>
          <a:xfrm>
            <a:off x="301752" y="341194"/>
            <a:ext cx="8534400" cy="646358"/>
          </a:xfrm>
        </p:spPr>
        <p:txBody>
          <a:bodyPr>
            <a:normAutofit fontScale="90000"/>
          </a:bodyPr>
          <a:lstStyle/>
          <a:p>
            <a:r>
              <a:rPr lang="en-IN" dirty="0" smtClean="0"/>
              <a:t/>
            </a:r>
            <a:br>
              <a:rPr lang="en-IN" dirty="0" smtClean="0"/>
            </a:br>
            <a:r>
              <a:rPr lang="en-IN" dirty="0"/>
              <a:t/>
            </a:r>
            <a:br>
              <a:rPr lang="en-IN" dirty="0"/>
            </a:br>
            <a:r>
              <a:rPr lang="en-IN" sz="3600" b="1" dirty="0">
                <a:solidFill>
                  <a:schemeClr val="tx1"/>
                </a:solidFill>
                <a:latin typeface="Times New Roman" pitchFamily="18" charset="0"/>
                <a:cs typeface="Times New Roman" pitchFamily="18" charset="0"/>
              </a:rPr>
              <a:t>3. Clarity</a:t>
            </a:r>
          </a:p>
        </p:txBody>
      </p:sp>
      <p:sp>
        <p:nvSpPr>
          <p:cNvPr id="320" name="Google Shape;320;p7"/>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457200" lvl="0" indent="-381000" algn="just" rtl="0">
              <a:spcBef>
                <a:spcPts val="1200"/>
              </a:spcBef>
              <a:spcAft>
                <a:spcPts val="0"/>
              </a:spcAft>
              <a:buSzPts val="2400"/>
              <a:buFont typeface="Times New Roman"/>
              <a:buChar char="●"/>
            </a:pPr>
            <a:r>
              <a:rPr lang="en-US" sz="2400" dirty="0" smtClean="0">
                <a:solidFill>
                  <a:srgbClr val="2D2D2D"/>
                </a:solidFill>
                <a:latin typeface="Times New Roman"/>
                <a:ea typeface="Times New Roman"/>
                <a:cs typeface="Times New Roman"/>
                <a:sym typeface="Times New Roman"/>
              </a:rPr>
              <a:t>Clear </a:t>
            </a:r>
            <a:r>
              <a:rPr lang="en-US" sz="2400" dirty="0">
                <a:solidFill>
                  <a:srgbClr val="2D2D2D"/>
                </a:solidFill>
                <a:latin typeface="Times New Roman"/>
                <a:ea typeface="Times New Roman"/>
                <a:cs typeface="Times New Roman"/>
                <a:sym typeface="Times New Roman"/>
              </a:rPr>
              <a:t>communication is the Third C. Clarity requires you to deliver your message without adding unnecessary or confusing vocabulary, phrasing and terminology. A clear delivery may relax listeners, helping them feel confident about the information you share. Here are some ways you can improve clarity:</a:t>
            </a:r>
            <a:endParaRPr sz="2400" dirty="0">
              <a:solidFill>
                <a:srgbClr val="2D2D2D"/>
              </a:solidFill>
              <a:latin typeface="Times New Roman"/>
              <a:ea typeface="Times New Roman"/>
              <a:cs typeface="Times New Roman"/>
              <a:sym typeface="Times New Roman"/>
            </a:endParaRPr>
          </a:p>
          <a:p>
            <a:pPr marL="457200" lvl="0" indent="-381000" algn="just" rtl="0">
              <a:spcBef>
                <a:spcPts val="0"/>
              </a:spcBef>
              <a:spcAft>
                <a:spcPts val="0"/>
              </a:spcAft>
              <a:buClr>
                <a:srgbClr val="2D2D2D"/>
              </a:buClr>
              <a:buSzPts val="2400"/>
              <a:buFont typeface="Times New Roman"/>
              <a:buChar char="●"/>
            </a:pPr>
            <a:r>
              <a:rPr lang="en-US" sz="2400" dirty="0">
                <a:solidFill>
                  <a:srgbClr val="2D2D2D"/>
                </a:solidFill>
                <a:latin typeface="Times New Roman"/>
                <a:ea typeface="Times New Roman"/>
                <a:cs typeface="Times New Roman"/>
                <a:sym typeface="Times New Roman"/>
              </a:rPr>
              <a:t>Limit your use of idioms or omit them entirely</a:t>
            </a:r>
            <a:endParaRPr sz="2400" dirty="0">
              <a:solidFill>
                <a:srgbClr val="2D2D2D"/>
              </a:solidFill>
              <a:latin typeface="Times New Roman"/>
              <a:ea typeface="Times New Roman"/>
              <a:cs typeface="Times New Roman"/>
              <a:sym typeface="Times New Roman"/>
            </a:endParaRPr>
          </a:p>
          <a:p>
            <a:pPr marL="457200" lvl="0" indent="-381000" algn="just" rtl="0">
              <a:spcBef>
                <a:spcPts val="0"/>
              </a:spcBef>
              <a:spcAft>
                <a:spcPts val="0"/>
              </a:spcAft>
              <a:buClr>
                <a:srgbClr val="2D2D2D"/>
              </a:buClr>
              <a:buSzPts val="2400"/>
              <a:buFont typeface="Times New Roman"/>
              <a:buChar char="●"/>
            </a:pPr>
            <a:r>
              <a:rPr lang="en-US" sz="2400" dirty="0">
                <a:solidFill>
                  <a:srgbClr val="2D2D2D"/>
                </a:solidFill>
                <a:latin typeface="Times New Roman"/>
                <a:ea typeface="Times New Roman"/>
                <a:cs typeface="Times New Roman"/>
                <a:sym typeface="Times New Roman"/>
              </a:rPr>
              <a:t>Decrease use of overly technical terms or jargon</a:t>
            </a:r>
            <a:endParaRPr sz="2400" dirty="0">
              <a:solidFill>
                <a:srgbClr val="2D2D2D"/>
              </a:solidFill>
              <a:latin typeface="Times New Roman"/>
              <a:ea typeface="Times New Roman"/>
              <a:cs typeface="Times New Roman"/>
              <a:sym typeface="Times New Roman"/>
            </a:endParaRPr>
          </a:p>
          <a:p>
            <a:pPr marL="457200" lvl="0" indent="-381000" algn="just" rtl="0">
              <a:spcBef>
                <a:spcPts val="0"/>
              </a:spcBef>
              <a:spcAft>
                <a:spcPts val="0"/>
              </a:spcAft>
              <a:buClr>
                <a:srgbClr val="2D2D2D"/>
              </a:buClr>
              <a:buSzPts val="2400"/>
              <a:buFont typeface="Times New Roman"/>
              <a:buChar char="●"/>
            </a:pPr>
            <a:r>
              <a:rPr lang="en-US" sz="2400" dirty="0">
                <a:solidFill>
                  <a:srgbClr val="2D2D2D"/>
                </a:solidFill>
                <a:latin typeface="Times New Roman"/>
                <a:ea typeface="Times New Roman"/>
                <a:cs typeface="Times New Roman"/>
                <a:sym typeface="Times New Roman"/>
              </a:rPr>
              <a:t>Preface technical terms with introductions</a:t>
            </a:r>
            <a:endParaRPr sz="2400" dirty="0">
              <a:solidFill>
                <a:srgbClr val="2D2D2D"/>
              </a:solidFill>
              <a:latin typeface="Times New Roman"/>
              <a:ea typeface="Times New Roman"/>
              <a:cs typeface="Times New Roman"/>
              <a:sym typeface="Times New Roman"/>
            </a:endParaRPr>
          </a:p>
          <a:p>
            <a:pPr marL="457200" lvl="0" indent="-381000" algn="just" rtl="0">
              <a:spcBef>
                <a:spcPts val="0"/>
              </a:spcBef>
              <a:spcAft>
                <a:spcPts val="0"/>
              </a:spcAft>
              <a:buClr>
                <a:srgbClr val="2D2D2D"/>
              </a:buClr>
              <a:buSzPts val="2400"/>
              <a:buFont typeface="Times New Roman"/>
              <a:buChar char="●"/>
            </a:pPr>
            <a:r>
              <a:rPr lang="en-US" sz="2400" dirty="0">
                <a:solidFill>
                  <a:srgbClr val="2D2D2D"/>
                </a:solidFill>
                <a:latin typeface="Times New Roman"/>
                <a:ea typeface="Times New Roman"/>
                <a:cs typeface="Times New Roman"/>
                <a:sym typeface="Times New Roman"/>
              </a:rPr>
              <a:t>Omit slang terms</a:t>
            </a:r>
            <a:endParaRPr sz="2400" dirty="0">
              <a:solidFill>
                <a:srgbClr val="2D2D2D"/>
              </a:solidFill>
              <a:latin typeface="Times New Roman"/>
              <a:ea typeface="Times New Roman"/>
              <a:cs typeface="Times New Roman"/>
              <a:sym typeface="Times New Roman"/>
            </a:endParaRPr>
          </a:p>
          <a:p>
            <a:pPr marL="457200" lvl="0" indent="-381000" algn="just" rtl="0">
              <a:spcBef>
                <a:spcPts val="0"/>
              </a:spcBef>
              <a:spcAft>
                <a:spcPts val="0"/>
              </a:spcAft>
              <a:buClr>
                <a:srgbClr val="2D2D2D"/>
              </a:buClr>
              <a:buSzPts val="2400"/>
              <a:buFont typeface="Times New Roman"/>
              <a:buChar char="●"/>
            </a:pPr>
            <a:r>
              <a:rPr lang="en-US" sz="2400" dirty="0">
                <a:solidFill>
                  <a:srgbClr val="2D2D2D"/>
                </a:solidFill>
                <a:latin typeface="Times New Roman"/>
                <a:ea typeface="Times New Roman"/>
                <a:cs typeface="Times New Roman"/>
                <a:sym typeface="Times New Roman"/>
              </a:rPr>
              <a:t>Use active voice and present tense</a:t>
            </a:r>
            <a:endParaRPr sz="2400" dirty="0">
              <a:solidFill>
                <a:srgbClr val="2D2D2D"/>
              </a:solidFill>
              <a:latin typeface="Times New Roman"/>
              <a:ea typeface="Times New Roman"/>
              <a:cs typeface="Times New Roman"/>
              <a:sym typeface="Times New Roman"/>
            </a:endParaRPr>
          </a:p>
          <a:p>
            <a:pPr marL="457200" lvl="0" indent="0" algn="l" rtl="0">
              <a:spcBef>
                <a:spcPts val="700"/>
              </a:spcBef>
              <a:spcAft>
                <a:spcPts val="1200"/>
              </a:spcAft>
              <a:buNone/>
            </a:pPr>
            <a:endParaRPr sz="2400" dirty="0">
              <a:solidFill>
                <a:srgbClr val="2D2D2D"/>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lnSpc>
                <a:spcPct val="150000"/>
              </a:lnSpc>
            </a:pPr>
            <a:r>
              <a:rPr lang="en-US" dirty="0" smtClean="0"/>
              <a:t>“The </a:t>
            </a:r>
            <a:r>
              <a:rPr lang="en-US" dirty="0"/>
              <a:t>meeting will be held at 10 AM on Wednesday in Room 204</a:t>
            </a:r>
            <a:r>
              <a:rPr lang="en-US" dirty="0" smtClean="0"/>
              <a:t>.”</a:t>
            </a:r>
            <a:endParaRPr lang="en-US" dirty="0"/>
          </a:p>
          <a:p>
            <a:pPr algn="just">
              <a:lnSpc>
                <a:spcPct val="150000"/>
              </a:lnSpc>
            </a:pPr>
            <a:r>
              <a:rPr lang="en-US" dirty="0"/>
              <a:t>(There’s no confusion—clear time, date, and location.)</a:t>
            </a:r>
            <a:endParaRPr lang="en-IN" dirty="0"/>
          </a:p>
        </p:txBody>
      </p:sp>
    </p:spTree>
    <p:extLst>
      <p:ext uri="{BB962C8B-B14F-4D97-AF65-F5344CB8AC3E}">
        <p14:creationId xmlns:p14="http://schemas.microsoft.com/office/powerpoint/2010/main" val="2396997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324"/>
        <p:cNvGrpSpPr/>
        <p:nvPr/>
      </p:nvGrpSpPr>
      <p:grpSpPr>
        <a:xfrm>
          <a:off x="0" y="0"/>
          <a:ext cx="0" cy="0"/>
          <a:chOff x="0" y="0"/>
          <a:chExt cx="0" cy="0"/>
        </a:xfrm>
      </p:grpSpPr>
      <p:sp>
        <p:nvSpPr>
          <p:cNvPr id="325" name="Google Shape;325;g2bcba6baa25_0_876"/>
          <p:cNvSpPr txBox="1">
            <a:spLocks noGrp="1"/>
          </p:cNvSpPr>
          <p:nvPr>
            <p:ph type="title"/>
          </p:nvPr>
        </p:nvSpPr>
        <p:spPr>
          <a:prstGeom prst="rect">
            <a:avLst/>
          </a:prstGeom>
        </p:spPr>
        <p:txBody>
          <a:bodyPr spcFirstLastPara="1" wrap="square" lIns="91425" tIns="45700" rIns="91425" bIns="45700" anchor="t" anchorCtr="0">
            <a:noAutofit/>
          </a:bodyPr>
          <a:lstStyle/>
          <a:p>
            <a:pPr marL="0" lvl="0" indent="0" rtl="0">
              <a:spcBef>
                <a:spcPts val="0"/>
              </a:spcBef>
              <a:spcAft>
                <a:spcPts val="0"/>
              </a:spcAft>
              <a:buNone/>
            </a:pPr>
            <a:r>
              <a:rPr lang="en-US" dirty="0">
                <a:solidFill>
                  <a:schemeClr val="tx1"/>
                </a:solidFill>
                <a:latin typeface="Times New Roman" pitchFamily="18" charset="0"/>
                <a:ea typeface="Comic Sans MS"/>
                <a:cs typeface="Times New Roman" pitchFamily="18" charset="0"/>
                <a:sym typeface="Comic Sans MS"/>
              </a:rPr>
              <a:t>4. Correctness </a:t>
            </a:r>
            <a:endParaRPr dirty="0">
              <a:solidFill>
                <a:schemeClr val="tx1"/>
              </a:solidFill>
              <a:latin typeface="Times New Roman" pitchFamily="18" charset="0"/>
              <a:ea typeface="Comic Sans MS"/>
              <a:cs typeface="Times New Roman" pitchFamily="18" charset="0"/>
              <a:sym typeface="Comic Sans MS"/>
            </a:endParaRPr>
          </a:p>
        </p:txBody>
      </p:sp>
      <p:sp>
        <p:nvSpPr>
          <p:cNvPr id="326" name="Google Shape;326;g2bcba6baa25_0_876"/>
          <p:cNvSpPr txBox="1">
            <a:spLocks noGrp="1"/>
          </p:cNvSpPr>
          <p:nvPr>
            <p:ph sz="quarter" idx="1"/>
          </p:nvPr>
        </p:nvSpPr>
        <p:spPr>
          <a:prstGeom prst="rect">
            <a:avLst/>
          </a:prstGeom>
        </p:spPr>
        <p:txBody>
          <a:bodyPr spcFirstLastPara="1" wrap="square" lIns="91425" tIns="45700" rIns="91425" bIns="45700" anchor="t" anchorCtr="0">
            <a:normAutofit/>
          </a:bodyPr>
          <a:lstStyle/>
          <a:p>
            <a:pPr marL="457200" lvl="0" indent="-381000" algn="just" rtl="0">
              <a:spcBef>
                <a:spcPts val="700"/>
              </a:spcBef>
              <a:spcAft>
                <a:spcPts val="0"/>
              </a:spcAft>
              <a:buSzPts val="2400"/>
              <a:buFont typeface="Times New Roman"/>
              <a:buChar char="●"/>
            </a:pPr>
            <a:r>
              <a:rPr lang="en-US" sz="2800" dirty="0">
                <a:solidFill>
                  <a:srgbClr val="2D2D2D"/>
                </a:solidFill>
                <a:latin typeface="Times New Roman"/>
                <a:ea typeface="Times New Roman"/>
                <a:cs typeface="Times New Roman"/>
                <a:sym typeface="Times New Roman"/>
              </a:rPr>
              <a:t>The fourth C refers to correct communication. Ensure your communication is factual and grammatically accurate to ensure your listener receives correct information. If an audience is aware of an error, this may distract them from the rest of your message.</a:t>
            </a:r>
            <a:endParaRPr sz="2800" dirty="0">
              <a:solidFill>
                <a:srgbClr val="2D2D2D"/>
              </a:solidFill>
              <a:latin typeface="Times New Roman"/>
              <a:ea typeface="Times New Roman"/>
              <a:cs typeface="Times New Roman"/>
              <a:sym typeface="Times New Roman"/>
            </a:endParaRPr>
          </a:p>
          <a:p>
            <a:pPr marL="457200" lvl="0" indent="-381000" algn="just" rtl="0">
              <a:spcBef>
                <a:spcPts val="0"/>
              </a:spcBef>
              <a:spcAft>
                <a:spcPts val="0"/>
              </a:spcAft>
              <a:buClr>
                <a:srgbClr val="2D2D2D"/>
              </a:buClr>
              <a:buSzPts val="2400"/>
              <a:buFont typeface="Times New Roman"/>
              <a:buChar char="●"/>
            </a:pPr>
            <a:r>
              <a:rPr lang="en-US" sz="2800" dirty="0">
                <a:solidFill>
                  <a:srgbClr val="2D2D2D"/>
                </a:solidFill>
                <a:latin typeface="Times New Roman"/>
                <a:ea typeface="Times New Roman"/>
                <a:cs typeface="Times New Roman"/>
                <a:sym typeface="Times New Roman"/>
              </a:rPr>
              <a:t>Additionally, incorrect information can reduce your credibility in future communication opportunities. Correct communication is more effective because it demonstrates your care to provide accurate information to your audience.</a:t>
            </a:r>
            <a:endParaRPr sz="2800" dirty="0">
              <a:solidFill>
                <a:srgbClr val="2D2D2D"/>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lnSpc>
                <a:spcPct val="200000"/>
              </a:lnSpc>
            </a:pPr>
            <a:r>
              <a:rPr lang="en-US" dirty="0" smtClean="0"/>
              <a:t>“The </a:t>
            </a:r>
            <a:r>
              <a:rPr lang="en-US" dirty="0"/>
              <a:t>capital of France is Paris</a:t>
            </a:r>
            <a:r>
              <a:rPr lang="en-US" dirty="0" smtClean="0"/>
              <a:t>.”</a:t>
            </a:r>
            <a:endParaRPr lang="en-US" dirty="0"/>
          </a:p>
          <a:p>
            <a:pPr algn="just">
              <a:lnSpc>
                <a:spcPct val="200000"/>
              </a:lnSpc>
            </a:pPr>
            <a:r>
              <a:rPr lang="en-US" dirty="0"/>
              <a:t>(This is both grammatically correct and factually accurate.)</a:t>
            </a:r>
            <a:endParaRPr lang="en-IN" dirty="0"/>
          </a:p>
        </p:txBody>
      </p:sp>
    </p:spTree>
    <p:extLst>
      <p:ext uri="{BB962C8B-B14F-4D97-AF65-F5344CB8AC3E}">
        <p14:creationId xmlns:p14="http://schemas.microsoft.com/office/powerpoint/2010/main" val="3329774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330"/>
        <p:cNvGrpSpPr/>
        <p:nvPr/>
      </p:nvGrpSpPr>
      <p:grpSpPr>
        <a:xfrm>
          <a:off x="0" y="0"/>
          <a:ext cx="0" cy="0"/>
          <a:chOff x="0" y="0"/>
          <a:chExt cx="0" cy="0"/>
        </a:xfrm>
      </p:grpSpPr>
      <p:sp>
        <p:nvSpPr>
          <p:cNvPr id="331" name="Google Shape;331;g2bcba6baa25_0_883"/>
          <p:cNvSpPr txBox="1">
            <a:spLocks noGrp="1"/>
          </p:cNvSpPr>
          <p:nvPr>
            <p:ph type="title"/>
          </p:nvPr>
        </p:nvSpPr>
        <p:spPr>
          <a:prstGeom prst="rect">
            <a:avLst/>
          </a:prstGeom>
        </p:spPr>
        <p:txBody>
          <a:bodyPr spcFirstLastPara="1" wrap="square" lIns="91425" tIns="45700" rIns="91425" bIns="45700" anchor="t" anchorCtr="0">
            <a:noAutofit/>
          </a:bodyPr>
          <a:lstStyle/>
          <a:p>
            <a:pPr marL="0" lvl="0" indent="0" rtl="0">
              <a:spcBef>
                <a:spcPts val="0"/>
              </a:spcBef>
              <a:spcAft>
                <a:spcPts val="0"/>
              </a:spcAft>
              <a:buNone/>
            </a:pPr>
            <a:r>
              <a:rPr lang="en-US" dirty="0">
                <a:solidFill>
                  <a:schemeClr val="tx1"/>
                </a:solidFill>
                <a:latin typeface="Times New Roman" pitchFamily="18" charset="0"/>
                <a:ea typeface="Comic Sans MS"/>
                <a:cs typeface="Times New Roman" pitchFamily="18" charset="0"/>
                <a:sym typeface="Comic Sans MS"/>
              </a:rPr>
              <a:t>5. Consistency</a:t>
            </a:r>
            <a:endParaRPr dirty="0">
              <a:solidFill>
                <a:schemeClr val="tx1"/>
              </a:solidFill>
              <a:latin typeface="Times New Roman" pitchFamily="18" charset="0"/>
              <a:ea typeface="Comic Sans MS"/>
              <a:cs typeface="Times New Roman" pitchFamily="18" charset="0"/>
              <a:sym typeface="Comic Sans MS"/>
            </a:endParaRPr>
          </a:p>
        </p:txBody>
      </p:sp>
      <p:sp>
        <p:nvSpPr>
          <p:cNvPr id="332" name="Google Shape;332;g2bcba6baa25_0_883"/>
          <p:cNvSpPr txBox="1">
            <a:spLocks noGrp="1"/>
          </p:cNvSpPr>
          <p:nvPr>
            <p:ph sz="quarter" idx="1"/>
          </p:nvPr>
        </p:nvSpPr>
        <p:spPr>
          <a:prstGeom prst="rect">
            <a:avLst/>
          </a:prstGeom>
        </p:spPr>
        <p:txBody>
          <a:bodyPr spcFirstLastPara="1" wrap="square" lIns="91425" tIns="45700" rIns="91425" bIns="45700" anchor="t" anchorCtr="0">
            <a:normAutofit/>
          </a:bodyPr>
          <a:lstStyle/>
          <a:p>
            <a:pPr marL="457200" lvl="0" indent="-419100" algn="just" rtl="0">
              <a:spcBef>
                <a:spcPts val="700"/>
              </a:spcBef>
              <a:spcAft>
                <a:spcPts val="0"/>
              </a:spcAft>
              <a:buSzPts val="3000"/>
              <a:buFont typeface="Times New Roman"/>
              <a:buChar char="●"/>
            </a:pPr>
            <a:r>
              <a:rPr lang="en-US" sz="3000" dirty="0">
                <a:solidFill>
                  <a:srgbClr val="2D2D2D"/>
                </a:solidFill>
                <a:latin typeface="Times New Roman"/>
                <a:ea typeface="Times New Roman"/>
                <a:cs typeface="Times New Roman"/>
                <a:sym typeface="Times New Roman"/>
              </a:rPr>
              <a:t>The fifth C of communication is consistency. Coherence often comes from the structure of a message. </a:t>
            </a:r>
            <a:endParaRPr lang="en-US" sz="3000" dirty="0" smtClean="0">
              <a:solidFill>
                <a:srgbClr val="2D2D2D"/>
              </a:solidFill>
              <a:latin typeface="Times New Roman"/>
              <a:ea typeface="Times New Roman"/>
              <a:cs typeface="Times New Roman"/>
              <a:sym typeface="Times New Roman"/>
            </a:endParaRPr>
          </a:p>
          <a:p>
            <a:pPr marL="457200" lvl="0" indent="-419100" algn="just" rtl="0">
              <a:spcBef>
                <a:spcPts val="700"/>
              </a:spcBef>
              <a:spcAft>
                <a:spcPts val="0"/>
              </a:spcAft>
              <a:buSzPts val="3000"/>
              <a:buFont typeface="Times New Roman"/>
              <a:buChar char="●"/>
            </a:pPr>
            <a:r>
              <a:rPr lang="en-US" sz="3000" dirty="0" smtClean="0">
                <a:solidFill>
                  <a:srgbClr val="2D2D2D"/>
                </a:solidFill>
                <a:latin typeface="Times New Roman"/>
                <a:ea typeface="Times New Roman"/>
                <a:cs typeface="Times New Roman"/>
                <a:sym typeface="Times New Roman"/>
              </a:rPr>
              <a:t>Organizing </a:t>
            </a:r>
            <a:r>
              <a:rPr lang="en-US" sz="3000" dirty="0">
                <a:solidFill>
                  <a:srgbClr val="2D2D2D"/>
                </a:solidFill>
                <a:latin typeface="Times New Roman"/>
                <a:ea typeface="Times New Roman"/>
                <a:cs typeface="Times New Roman"/>
                <a:sym typeface="Times New Roman"/>
              </a:rPr>
              <a:t>your message so that each idea flows neatly into the next makes it easier to follow and remember. </a:t>
            </a:r>
            <a:endParaRPr lang="en-US" sz="3000" dirty="0" smtClean="0">
              <a:solidFill>
                <a:srgbClr val="2D2D2D"/>
              </a:solidFill>
              <a:latin typeface="Times New Roman"/>
              <a:ea typeface="Times New Roman"/>
              <a:cs typeface="Times New Roman"/>
              <a:sym typeface="Times New Roman"/>
            </a:endParaRPr>
          </a:p>
          <a:p>
            <a:pPr marL="457200" lvl="0" indent="-419100" algn="just" rtl="0">
              <a:spcBef>
                <a:spcPts val="700"/>
              </a:spcBef>
              <a:spcAft>
                <a:spcPts val="0"/>
              </a:spcAft>
              <a:buSzPts val="3000"/>
              <a:buFont typeface="Times New Roman"/>
              <a:buChar char="●"/>
            </a:pPr>
            <a:r>
              <a:rPr lang="en-US" sz="3000" dirty="0" smtClean="0">
                <a:solidFill>
                  <a:srgbClr val="2D2D2D"/>
                </a:solidFill>
                <a:latin typeface="Times New Roman"/>
                <a:ea typeface="Times New Roman"/>
                <a:cs typeface="Times New Roman"/>
                <a:sym typeface="Times New Roman"/>
              </a:rPr>
              <a:t>Building </a:t>
            </a:r>
            <a:r>
              <a:rPr lang="en-US" sz="3000" dirty="0">
                <a:solidFill>
                  <a:srgbClr val="2D2D2D"/>
                </a:solidFill>
                <a:latin typeface="Times New Roman"/>
                <a:ea typeface="Times New Roman"/>
                <a:cs typeface="Times New Roman"/>
                <a:sym typeface="Times New Roman"/>
              </a:rPr>
              <a:t>logically on your introductory statements to a conclusive summary is the usual approach to essays, speeches and other communications.</a:t>
            </a:r>
            <a:endParaRPr sz="3000"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lnSpc>
                <a:spcPct val="200000"/>
              </a:lnSpc>
            </a:pPr>
            <a:r>
              <a:rPr lang="en-US" dirty="0"/>
              <a:t>If a company promotes a “green” initiative, it should consistently reflect that in its policies, marketing, and practices, such as using eco-friendly materials and reducing waste.</a:t>
            </a:r>
            <a:endParaRPr lang="en-IN" dirty="0"/>
          </a:p>
        </p:txBody>
      </p:sp>
    </p:spTree>
    <p:extLst>
      <p:ext uri="{BB962C8B-B14F-4D97-AF65-F5344CB8AC3E}">
        <p14:creationId xmlns:p14="http://schemas.microsoft.com/office/powerpoint/2010/main" val="4217081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336"/>
        <p:cNvGrpSpPr/>
        <p:nvPr/>
      </p:nvGrpSpPr>
      <p:grpSpPr>
        <a:xfrm>
          <a:off x="0" y="0"/>
          <a:ext cx="0" cy="0"/>
          <a:chOff x="0" y="0"/>
          <a:chExt cx="0" cy="0"/>
        </a:xfrm>
      </p:grpSpPr>
      <p:sp>
        <p:nvSpPr>
          <p:cNvPr id="337" name="Google Shape;337;g2bcba6baa25_0_889"/>
          <p:cNvSpPr txBox="1">
            <a:spLocks noGrp="1"/>
          </p:cNvSpPr>
          <p:nvPr>
            <p:ph type="title"/>
          </p:nvPr>
        </p:nvSpPr>
        <p:spPr>
          <a:xfrm>
            <a:off x="450376" y="313899"/>
            <a:ext cx="8236424" cy="678171"/>
          </a:xfrm>
          <a:prstGeom prst="rect">
            <a:avLst/>
          </a:prstGeom>
        </p:spPr>
        <p:txBody>
          <a:bodyPr spcFirstLastPara="1" wrap="square" lIns="91425" tIns="45700" rIns="91425" bIns="45700" anchor="t" anchorCtr="0">
            <a:noAutofit/>
          </a:bodyPr>
          <a:lstStyle/>
          <a:p>
            <a:pPr marL="0" lvl="0" indent="0" rtl="0">
              <a:spcBef>
                <a:spcPts val="0"/>
              </a:spcBef>
              <a:spcAft>
                <a:spcPts val="0"/>
              </a:spcAft>
              <a:buNone/>
            </a:pPr>
            <a:r>
              <a:rPr lang="en-US" dirty="0">
                <a:solidFill>
                  <a:schemeClr val="tx1"/>
                </a:solidFill>
                <a:latin typeface="Times New Roman" pitchFamily="18" charset="0"/>
                <a:cs typeface="Times New Roman" pitchFamily="18" charset="0"/>
              </a:rPr>
              <a:t>6</a:t>
            </a:r>
            <a:r>
              <a:rPr lang="en-US" dirty="0">
                <a:solidFill>
                  <a:schemeClr val="tx1"/>
                </a:solidFill>
                <a:latin typeface="Times New Roman" pitchFamily="18" charset="0"/>
                <a:ea typeface="Comic Sans MS"/>
                <a:cs typeface="Times New Roman" pitchFamily="18" charset="0"/>
                <a:sym typeface="Comic Sans MS"/>
              </a:rPr>
              <a:t>. Concreteness</a:t>
            </a:r>
            <a:endParaRPr dirty="0">
              <a:solidFill>
                <a:schemeClr val="tx1"/>
              </a:solidFill>
              <a:latin typeface="Times New Roman" pitchFamily="18" charset="0"/>
              <a:ea typeface="Comic Sans MS"/>
              <a:cs typeface="Times New Roman" pitchFamily="18" charset="0"/>
              <a:sym typeface="Comic Sans MS"/>
            </a:endParaRPr>
          </a:p>
        </p:txBody>
      </p:sp>
      <p:sp>
        <p:nvSpPr>
          <p:cNvPr id="338" name="Google Shape;338;g2bcba6baa25_0_889"/>
          <p:cNvSpPr txBox="1">
            <a:spLocks noGrp="1"/>
          </p:cNvSpPr>
          <p:nvPr>
            <p:ph sz="quarter" idx="1"/>
          </p:nvPr>
        </p:nvSpPr>
        <p:spPr>
          <a:xfrm>
            <a:off x="435150" y="1433014"/>
            <a:ext cx="8251800" cy="5186149"/>
          </a:xfrm>
          <a:prstGeom prst="rect">
            <a:avLst/>
          </a:prstGeom>
        </p:spPr>
        <p:txBody>
          <a:bodyPr spcFirstLastPara="1" wrap="square" lIns="91425" tIns="45700" rIns="91425" bIns="45700" anchor="t" anchorCtr="0">
            <a:noAutofit/>
          </a:bodyPr>
          <a:lstStyle/>
          <a:p>
            <a:pPr marL="457200" lvl="0" indent="-400050" algn="just" rtl="0">
              <a:spcBef>
                <a:spcPts val="700"/>
              </a:spcBef>
              <a:spcAft>
                <a:spcPts val="0"/>
              </a:spcAft>
              <a:buSzPts val="2700"/>
              <a:buFont typeface="Times New Roman"/>
              <a:buChar char="●"/>
            </a:pPr>
            <a:r>
              <a:rPr lang="en-US" sz="2700" dirty="0">
                <a:latin typeface="Times New Roman"/>
                <a:ea typeface="Times New Roman"/>
                <a:cs typeface="Times New Roman"/>
                <a:sym typeface="Times New Roman"/>
              </a:rPr>
              <a:t>It’s important to ensure that your message is logical, specific and valid. </a:t>
            </a:r>
            <a:endParaRPr lang="en-US" sz="2700" dirty="0" smtClean="0">
              <a:latin typeface="Times New Roman"/>
              <a:ea typeface="Times New Roman"/>
              <a:cs typeface="Times New Roman"/>
              <a:sym typeface="Times New Roman"/>
            </a:endParaRPr>
          </a:p>
          <a:p>
            <a:pPr marL="457200" lvl="0" indent="-400050" algn="just" rtl="0">
              <a:spcBef>
                <a:spcPts val="700"/>
              </a:spcBef>
              <a:spcAft>
                <a:spcPts val="0"/>
              </a:spcAft>
              <a:buSzPts val="2700"/>
              <a:buFont typeface="Times New Roman"/>
              <a:buChar char="●"/>
            </a:pPr>
            <a:r>
              <a:rPr lang="en-US" sz="2700" dirty="0" smtClean="0">
                <a:latin typeface="Times New Roman"/>
                <a:ea typeface="Times New Roman"/>
                <a:cs typeface="Times New Roman"/>
                <a:sym typeface="Times New Roman"/>
              </a:rPr>
              <a:t>If </a:t>
            </a:r>
            <a:r>
              <a:rPr lang="en-US" sz="2700" dirty="0">
                <a:latin typeface="Times New Roman"/>
                <a:ea typeface="Times New Roman"/>
                <a:cs typeface="Times New Roman"/>
                <a:sym typeface="Times New Roman"/>
              </a:rPr>
              <a:t>you’re making an argument, use evidence from credible sources to enhance the concreteness of your communication. </a:t>
            </a:r>
            <a:endParaRPr lang="en-US" sz="2700" dirty="0" smtClean="0">
              <a:latin typeface="Times New Roman"/>
              <a:ea typeface="Times New Roman"/>
              <a:cs typeface="Times New Roman"/>
              <a:sym typeface="Times New Roman"/>
            </a:endParaRPr>
          </a:p>
          <a:p>
            <a:pPr marL="457200" lvl="0" indent="-400050" algn="just" rtl="0">
              <a:spcBef>
                <a:spcPts val="700"/>
              </a:spcBef>
              <a:spcAft>
                <a:spcPts val="0"/>
              </a:spcAft>
              <a:buSzPts val="2700"/>
              <a:buFont typeface="Times New Roman"/>
              <a:buChar char="●"/>
            </a:pPr>
            <a:r>
              <a:rPr lang="en-US" sz="2700" dirty="0" smtClean="0">
                <a:latin typeface="Times New Roman"/>
                <a:ea typeface="Times New Roman"/>
                <a:cs typeface="Times New Roman"/>
                <a:sym typeface="Times New Roman"/>
              </a:rPr>
              <a:t>Adding </a:t>
            </a:r>
            <a:r>
              <a:rPr lang="en-US" sz="2700" dirty="0">
                <a:latin typeface="Times New Roman"/>
                <a:ea typeface="Times New Roman"/>
                <a:cs typeface="Times New Roman"/>
                <a:sym typeface="Times New Roman"/>
              </a:rPr>
              <a:t>examples to your message is a great method that demonstrates the concreteness of your argument.</a:t>
            </a:r>
            <a:endParaRPr sz="2700" dirty="0">
              <a:latin typeface="Times New Roman"/>
              <a:ea typeface="Times New Roman"/>
              <a:cs typeface="Times New Roman"/>
              <a:sym typeface="Times New Roman"/>
            </a:endParaRPr>
          </a:p>
          <a:p>
            <a:pPr marL="457200" lvl="0" indent="-400050" algn="just" rtl="0">
              <a:spcBef>
                <a:spcPts val="700"/>
              </a:spcBef>
              <a:spcAft>
                <a:spcPts val="0"/>
              </a:spcAft>
              <a:buSzPts val="2700"/>
              <a:buFont typeface="Times New Roman"/>
              <a:buChar char="●"/>
            </a:pPr>
            <a:r>
              <a:rPr lang="en-US" sz="2700" dirty="0">
                <a:latin typeface="Times New Roman"/>
                <a:ea typeface="Times New Roman"/>
                <a:cs typeface="Times New Roman"/>
                <a:sym typeface="Times New Roman"/>
              </a:rPr>
              <a:t>Use specific facts and figures.</a:t>
            </a:r>
            <a:endParaRPr sz="2700" dirty="0">
              <a:latin typeface="Times New Roman"/>
              <a:ea typeface="Times New Roman"/>
              <a:cs typeface="Times New Roman"/>
              <a:sym typeface="Times New Roman"/>
            </a:endParaRPr>
          </a:p>
          <a:p>
            <a:pPr marL="457200" lvl="0" indent="-400050" algn="just" rtl="0">
              <a:spcBef>
                <a:spcPts val="700"/>
              </a:spcBef>
              <a:spcAft>
                <a:spcPts val="0"/>
              </a:spcAft>
              <a:buSzPts val="2700"/>
              <a:buFont typeface="Times New Roman"/>
              <a:buChar char="●"/>
            </a:pPr>
            <a:r>
              <a:rPr lang="en-US" sz="2700" dirty="0">
                <a:latin typeface="Times New Roman"/>
                <a:ea typeface="Times New Roman"/>
                <a:cs typeface="Times New Roman"/>
                <a:sym typeface="Times New Roman"/>
              </a:rPr>
              <a:t>Put Action in your Verbs.</a:t>
            </a:r>
            <a:endParaRPr sz="2700" dirty="0">
              <a:latin typeface="Times New Roman"/>
              <a:ea typeface="Times New Roman"/>
              <a:cs typeface="Times New Roman"/>
              <a:sym typeface="Times New Roman"/>
            </a:endParaRPr>
          </a:p>
          <a:p>
            <a:pPr marL="457200" lvl="0" indent="-400050" algn="just" rtl="0">
              <a:spcBef>
                <a:spcPts val="700"/>
              </a:spcBef>
              <a:spcAft>
                <a:spcPts val="0"/>
              </a:spcAft>
              <a:buSzPts val="2700"/>
              <a:buFont typeface="Times New Roman"/>
              <a:buChar char="●"/>
            </a:pPr>
            <a:r>
              <a:rPr lang="en-US" sz="2700" dirty="0">
                <a:latin typeface="Times New Roman"/>
                <a:ea typeface="Times New Roman"/>
                <a:cs typeface="Times New Roman"/>
                <a:sym typeface="Times New Roman"/>
              </a:rPr>
              <a:t>Choose vivid, image-building words.</a:t>
            </a:r>
            <a:endParaRPr sz="2700" dirty="0">
              <a:latin typeface="Times New Roman"/>
              <a:ea typeface="Times New Roman"/>
              <a:cs typeface="Times New Roman"/>
              <a:sym typeface="Times New Roman"/>
            </a:endParaRPr>
          </a:p>
          <a:p>
            <a:pPr marL="457200" lvl="0" indent="0" algn="l" rtl="0">
              <a:spcBef>
                <a:spcPts val="700"/>
              </a:spcBef>
              <a:spcAft>
                <a:spcPts val="1200"/>
              </a:spcAft>
              <a:buNone/>
            </a:pPr>
            <a:endParaRPr sz="2700" dirty="0">
              <a:solidFill>
                <a:srgbClr val="2D2D2D"/>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lnSpc>
                <a:spcPct val="150000"/>
              </a:lnSpc>
            </a:pPr>
            <a:r>
              <a:rPr lang="en-US" dirty="0" smtClean="0"/>
              <a:t>“Our </a:t>
            </a:r>
            <a:r>
              <a:rPr lang="en-US" dirty="0"/>
              <a:t>team increased sales by 15% in the last quarter, bringing in an additional </a:t>
            </a:r>
            <a:r>
              <a:rPr lang="en-US" dirty="0" smtClean="0"/>
              <a:t>100,000 </a:t>
            </a:r>
            <a:r>
              <a:rPr lang="en-US" dirty="0"/>
              <a:t>in revenue</a:t>
            </a:r>
            <a:r>
              <a:rPr lang="en-US" dirty="0" smtClean="0"/>
              <a:t>.”</a:t>
            </a:r>
            <a:endParaRPr lang="en-US" dirty="0"/>
          </a:p>
          <a:p>
            <a:pPr algn="just">
              <a:lnSpc>
                <a:spcPct val="150000"/>
              </a:lnSpc>
            </a:pPr>
            <a:r>
              <a:rPr lang="en-US" dirty="0"/>
              <a:t>(This gives </a:t>
            </a:r>
            <a:r>
              <a:rPr lang="en-US" dirty="0" smtClean="0"/>
              <a:t>solid, </a:t>
            </a:r>
            <a:r>
              <a:rPr lang="en-US" dirty="0"/>
              <a:t>measurable information rather than just saying </a:t>
            </a:r>
            <a:r>
              <a:rPr lang="en-US" dirty="0" smtClean="0"/>
              <a:t>“sales </a:t>
            </a:r>
            <a:r>
              <a:rPr lang="en-US" dirty="0"/>
              <a:t>increased</a:t>
            </a:r>
            <a:r>
              <a:rPr lang="en-US" dirty="0" smtClean="0"/>
              <a:t>.”)</a:t>
            </a:r>
            <a:endParaRPr lang="en-IN" dirty="0"/>
          </a:p>
        </p:txBody>
      </p:sp>
    </p:spTree>
    <p:extLst>
      <p:ext uri="{BB962C8B-B14F-4D97-AF65-F5344CB8AC3E}">
        <p14:creationId xmlns:p14="http://schemas.microsoft.com/office/powerpoint/2010/main" val="1203368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342"/>
        <p:cNvGrpSpPr/>
        <p:nvPr/>
      </p:nvGrpSpPr>
      <p:grpSpPr>
        <a:xfrm>
          <a:off x="0" y="0"/>
          <a:ext cx="0" cy="0"/>
          <a:chOff x="0" y="0"/>
          <a:chExt cx="0" cy="0"/>
        </a:xfrm>
      </p:grpSpPr>
      <p:sp>
        <p:nvSpPr>
          <p:cNvPr id="343" name="Google Shape;343;p8"/>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rgbClr val="C1EDFF"/>
              </a:buClr>
              <a:buSzPts val="4000"/>
              <a:buFont typeface="Comic Sans MS"/>
              <a:buNone/>
            </a:pPr>
            <a:r>
              <a:rPr lang="en-US" b="1" dirty="0">
                <a:solidFill>
                  <a:schemeClr val="tx1"/>
                </a:solidFill>
                <a:latin typeface="Times New Roman" pitchFamily="18" charset="0"/>
                <a:ea typeface="Comic Sans MS"/>
                <a:cs typeface="Times New Roman" pitchFamily="18" charset="0"/>
                <a:sym typeface="Comic Sans MS"/>
              </a:rPr>
              <a:t>7. Conciseness</a:t>
            </a:r>
            <a:endParaRPr b="1" dirty="0">
              <a:solidFill>
                <a:schemeClr val="tx1"/>
              </a:solidFill>
              <a:latin typeface="Times New Roman" pitchFamily="18" charset="0"/>
              <a:ea typeface="Comic Sans MS"/>
              <a:cs typeface="Times New Roman" pitchFamily="18" charset="0"/>
              <a:sym typeface="Comic Sans MS"/>
            </a:endParaRPr>
          </a:p>
        </p:txBody>
      </p:sp>
      <p:sp>
        <p:nvSpPr>
          <p:cNvPr id="344" name="Google Shape;344;p8"/>
          <p:cNvSpPr txBox="1">
            <a:spLocks noGrp="1"/>
          </p:cNvSpPr>
          <p:nvPr>
            <p:ph sz="quarter" idx="1"/>
          </p:nvPr>
        </p:nvSpPr>
        <p:spPr>
          <a:xfrm>
            <a:off x="218364" y="1410000"/>
            <a:ext cx="8454789" cy="5181869"/>
          </a:xfrm>
          <a:prstGeom prst="rect">
            <a:avLst/>
          </a:prstGeom>
          <a:noFill/>
          <a:ln>
            <a:noFill/>
          </a:ln>
        </p:spPr>
        <p:txBody>
          <a:bodyPr spcFirstLastPara="1" wrap="square" lIns="91425" tIns="45700" rIns="91425" bIns="45700" anchor="t" anchorCtr="0">
            <a:noAutofit/>
          </a:bodyPr>
          <a:lstStyle/>
          <a:p>
            <a:pPr marL="457200" lvl="0" indent="-419100" algn="just" rtl="0">
              <a:spcBef>
                <a:spcPts val="700"/>
              </a:spcBef>
              <a:spcAft>
                <a:spcPts val="0"/>
              </a:spcAft>
              <a:buSzPts val="3000"/>
              <a:buFont typeface="Times New Roman"/>
              <a:buChar char="●"/>
            </a:pPr>
            <a:r>
              <a:rPr lang="en-US" sz="3000" dirty="0">
                <a:solidFill>
                  <a:srgbClr val="2D2D2D"/>
                </a:solidFill>
                <a:latin typeface="Times New Roman"/>
                <a:ea typeface="Times New Roman"/>
                <a:cs typeface="Times New Roman"/>
                <a:sym typeface="Times New Roman"/>
              </a:rPr>
              <a:t>Concise statements often have a greater impact on listeners. Brief, well-delivered messages are also more memorable. </a:t>
            </a:r>
            <a:endParaRPr lang="en-US" sz="3000" dirty="0" smtClean="0">
              <a:solidFill>
                <a:srgbClr val="2D2D2D"/>
              </a:solidFill>
              <a:latin typeface="Times New Roman"/>
              <a:ea typeface="Times New Roman"/>
              <a:cs typeface="Times New Roman"/>
              <a:sym typeface="Times New Roman"/>
            </a:endParaRPr>
          </a:p>
          <a:p>
            <a:pPr marL="457200" lvl="0" indent="-419100" algn="just" rtl="0">
              <a:spcBef>
                <a:spcPts val="700"/>
              </a:spcBef>
              <a:spcAft>
                <a:spcPts val="0"/>
              </a:spcAft>
              <a:buSzPts val="3000"/>
              <a:buFont typeface="Times New Roman"/>
              <a:buChar char="●"/>
            </a:pPr>
            <a:r>
              <a:rPr lang="en-US" sz="3000" dirty="0" smtClean="0">
                <a:solidFill>
                  <a:srgbClr val="2D2D2D"/>
                </a:solidFill>
                <a:latin typeface="Times New Roman"/>
                <a:ea typeface="Times New Roman"/>
                <a:cs typeface="Times New Roman"/>
                <a:sym typeface="Times New Roman"/>
              </a:rPr>
              <a:t>The </a:t>
            </a:r>
            <a:r>
              <a:rPr lang="en-US" sz="3000" dirty="0">
                <a:solidFill>
                  <a:srgbClr val="2D2D2D"/>
                </a:solidFill>
                <a:latin typeface="Times New Roman"/>
                <a:ea typeface="Times New Roman"/>
                <a:cs typeface="Times New Roman"/>
                <a:sym typeface="Times New Roman"/>
              </a:rPr>
              <a:t>more details you include, the more challenging it can be for listeners to follow and recall, especially if the subject matter is new to them. </a:t>
            </a:r>
            <a:endParaRPr lang="en-US" sz="3000" dirty="0" smtClean="0">
              <a:solidFill>
                <a:srgbClr val="2D2D2D"/>
              </a:solidFill>
              <a:latin typeface="Times New Roman"/>
              <a:ea typeface="Times New Roman"/>
              <a:cs typeface="Times New Roman"/>
              <a:sym typeface="Times New Roman"/>
            </a:endParaRPr>
          </a:p>
          <a:p>
            <a:pPr marL="457200" lvl="0" indent="-419100" algn="just" rtl="0">
              <a:spcBef>
                <a:spcPts val="700"/>
              </a:spcBef>
              <a:spcAft>
                <a:spcPts val="0"/>
              </a:spcAft>
              <a:buSzPts val="3000"/>
              <a:buFont typeface="Times New Roman"/>
              <a:buChar char="●"/>
            </a:pPr>
            <a:r>
              <a:rPr lang="en-US" sz="3000" dirty="0" smtClean="0">
                <a:solidFill>
                  <a:srgbClr val="2D2D2D"/>
                </a:solidFill>
                <a:latin typeface="Times New Roman"/>
                <a:ea typeface="Times New Roman"/>
                <a:cs typeface="Times New Roman"/>
                <a:sym typeface="Times New Roman"/>
              </a:rPr>
              <a:t>Being </a:t>
            </a:r>
            <a:r>
              <a:rPr lang="en-US" sz="3000" dirty="0">
                <a:solidFill>
                  <a:srgbClr val="2D2D2D"/>
                </a:solidFill>
                <a:latin typeface="Times New Roman"/>
                <a:ea typeface="Times New Roman"/>
                <a:cs typeface="Times New Roman"/>
                <a:sym typeface="Times New Roman"/>
              </a:rPr>
              <a:t>concise ensures that you cover the fundamental issues or ideas in your message, making your main point clear.</a:t>
            </a:r>
            <a:endParaRPr sz="3000" dirty="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r>
              <a:rPr lang="en-US" dirty="0"/>
              <a:t>Instead of saying, </a:t>
            </a:r>
            <a:r>
              <a:rPr lang="en-US" dirty="0" smtClean="0"/>
              <a:t>“</a:t>
            </a:r>
            <a:r>
              <a:rPr lang="en-US" dirty="0"/>
              <a:t>I am writing to inform you that the meeting we had scheduled for tomorrow has been postponed to next Tuesday due to unforeseen circumstances</a:t>
            </a:r>
            <a:r>
              <a:rPr lang="en-US" dirty="0" smtClean="0"/>
              <a:t>,” </a:t>
            </a:r>
          </a:p>
          <a:p>
            <a:pPr marL="0" indent="0" algn="just">
              <a:buNone/>
            </a:pPr>
            <a:r>
              <a:rPr lang="en-US" dirty="0"/>
              <a:t> </a:t>
            </a:r>
            <a:r>
              <a:rPr lang="en-US" dirty="0" smtClean="0"/>
              <a:t>                                            say</a:t>
            </a:r>
            <a:r>
              <a:rPr lang="en-US" dirty="0"/>
              <a:t>:</a:t>
            </a:r>
          </a:p>
          <a:p>
            <a:pPr marL="0" indent="0" algn="just">
              <a:buNone/>
            </a:pPr>
            <a:r>
              <a:rPr lang="en-US" dirty="0" smtClean="0"/>
              <a:t>            “</a:t>
            </a:r>
            <a:r>
              <a:rPr lang="en-US" dirty="0"/>
              <a:t>The meeting is postponed to next Tuesday</a:t>
            </a:r>
            <a:r>
              <a:rPr lang="en-US" dirty="0" smtClean="0"/>
              <a:t>.”</a:t>
            </a:r>
            <a:endParaRPr lang="en-US" dirty="0"/>
          </a:p>
          <a:p>
            <a:pPr algn="just"/>
            <a:r>
              <a:rPr lang="en-US" dirty="0"/>
              <a:t>(Here, the key message is delivered in a shorter, more direct way.)</a:t>
            </a:r>
            <a:endParaRPr lang="en-IN" dirty="0"/>
          </a:p>
        </p:txBody>
      </p:sp>
    </p:spTree>
    <p:extLst>
      <p:ext uri="{BB962C8B-B14F-4D97-AF65-F5344CB8AC3E}">
        <p14:creationId xmlns:p14="http://schemas.microsoft.com/office/powerpoint/2010/main" val="835374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S’s </a:t>
            </a:r>
            <a:r>
              <a:rPr lang="en-US" dirty="0"/>
              <a:t>of Communication</a:t>
            </a:r>
            <a:endParaRPr lang="en-IN" dirty="0"/>
          </a:p>
        </p:txBody>
      </p:sp>
      <p:sp>
        <p:nvSpPr>
          <p:cNvPr id="3" name="Content Placeholder 2"/>
          <p:cNvSpPr>
            <a:spLocks noGrp="1"/>
          </p:cNvSpPr>
          <p:nvPr>
            <p:ph sz="quarter" idx="1"/>
          </p:nvPr>
        </p:nvSpPr>
        <p:spPr/>
        <p:txBody>
          <a:bodyPr>
            <a:normAutofit lnSpcReduction="10000"/>
          </a:bodyPr>
          <a:lstStyle/>
          <a:p>
            <a:pPr algn="just"/>
            <a:r>
              <a:rPr lang="en-US" dirty="0"/>
              <a:t>4S’s of communication helps in making good and effective communication. </a:t>
            </a:r>
            <a:endParaRPr lang="en-US" dirty="0" smtClean="0"/>
          </a:p>
          <a:p>
            <a:pPr algn="just"/>
            <a:r>
              <a:rPr lang="en-US" dirty="0" smtClean="0"/>
              <a:t>4S’s are: </a:t>
            </a:r>
          </a:p>
          <a:p>
            <a:pPr marL="0" indent="0" algn="just">
              <a:buNone/>
            </a:pPr>
            <a:r>
              <a:rPr lang="en-US" dirty="0" smtClean="0"/>
              <a:t>            1. Shortness</a:t>
            </a:r>
          </a:p>
          <a:p>
            <a:pPr marL="0" indent="0" algn="just">
              <a:buNone/>
            </a:pPr>
            <a:r>
              <a:rPr lang="en-US" dirty="0"/>
              <a:t> </a:t>
            </a:r>
            <a:r>
              <a:rPr lang="en-US" dirty="0" smtClean="0"/>
              <a:t>           2. Simplicity </a:t>
            </a:r>
          </a:p>
          <a:p>
            <a:pPr marL="0" indent="0" algn="just">
              <a:buNone/>
            </a:pPr>
            <a:r>
              <a:rPr lang="en-US" dirty="0"/>
              <a:t> </a:t>
            </a:r>
            <a:r>
              <a:rPr lang="en-US" dirty="0" smtClean="0"/>
              <a:t>           3. Strength</a:t>
            </a:r>
          </a:p>
          <a:p>
            <a:pPr marL="0" indent="0" algn="just">
              <a:buNone/>
            </a:pPr>
            <a:r>
              <a:rPr lang="en-US" dirty="0"/>
              <a:t> </a:t>
            </a:r>
            <a:r>
              <a:rPr lang="en-US" dirty="0" smtClean="0"/>
              <a:t>           4. Sincerity </a:t>
            </a:r>
          </a:p>
          <a:p>
            <a:pPr algn="just"/>
            <a:r>
              <a:rPr lang="en-US" dirty="0"/>
              <a:t>They aid in creating excellent and efficient communication—necessary for an ideal and efficient business environment. </a:t>
            </a:r>
            <a:endParaRPr lang="en-IN" dirty="0"/>
          </a:p>
        </p:txBody>
      </p:sp>
    </p:spTree>
    <p:extLst>
      <p:ext uri="{BB962C8B-B14F-4D97-AF65-F5344CB8AC3E}">
        <p14:creationId xmlns:p14="http://schemas.microsoft.com/office/powerpoint/2010/main" val="122798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1. Shortness</a:t>
            </a:r>
            <a:endParaRPr lang="en-IN" dirty="0"/>
          </a:p>
        </p:txBody>
      </p:sp>
      <p:sp>
        <p:nvSpPr>
          <p:cNvPr id="3" name="Content Placeholder 2"/>
          <p:cNvSpPr>
            <a:spLocks noGrp="1"/>
          </p:cNvSpPr>
          <p:nvPr>
            <p:ph sz="quarter" idx="1"/>
          </p:nvPr>
        </p:nvSpPr>
        <p:spPr/>
        <p:txBody>
          <a:bodyPr/>
          <a:lstStyle/>
          <a:p>
            <a:pPr algn="just"/>
            <a:r>
              <a:rPr lang="en-US" dirty="0"/>
              <a:t>The saying </a:t>
            </a:r>
            <a:r>
              <a:rPr lang="en-US" dirty="0" smtClean="0"/>
              <a:t>“brevity </a:t>
            </a:r>
            <a:r>
              <a:rPr lang="en-US" dirty="0"/>
              <a:t>is the soul of </a:t>
            </a:r>
            <a:r>
              <a:rPr lang="en-US" dirty="0" smtClean="0"/>
              <a:t>wit” </a:t>
            </a:r>
            <a:r>
              <a:rPr lang="en-US" dirty="0"/>
              <a:t>holds true for communication as well. Keeping things concise enhances clarity and impact</a:t>
            </a:r>
            <a:r>
              <a:rPr lang="en-US" dirty="0" smtClean="0"/>
              <a:t>.</a:t>
            </a:r>
          </a:p>
          <a:p>
            <a:pPr algn="just"/>
            <a:r>
              <a:rPr lang="en-US" dirty="0" smtClean="0"/>
              <a:t>Communicate </a:t>
            </a:r>
            <a:r>
              <a:rPr lang="en-US" dirty="0"/>
              <a:t>concisely, focusing on the key points. Eliminate unnecessary details to make the message clear and memorable</a:t>
            </a:r>
            <a:r>
              <a:rPr lang="en-US" dirty="0" smtClean="0"/>
              <a:t>.</a:t>
            </a:r>
          </a:p>
          <a:p>
            <a:pPr algn="just"/>
            <a:r>
              <a:rPr lang="en-US" dirty="0"/>
              <a:t>Messages filled with complex words lack impact. Many </a:t>
            </a:r>
            <a:r>
              <a:rPr lang="en-US" dirty="0" smtClean="0"/>
              <a:t>think using </a:t>
            </a:r>
            <a:r>
              <a:rPr lang="en-US" dirty="0"/>
              <a:t>high-sounding </a:t>
            </a:r>
            <a:r>
              <a:rPr lang="en-US" dirty="0" smtClean="0"/>
              <a:t>words impresses</a:t>
            </a:r>
            <a:r>
              <a:rPr lang="en-US" dirty="0"/>
              <a:t>, but they waste time as recipients struggle to grasp the true meaning.</a:t>
            </a:r>
            <a:endParaRPr lang="en-IN" dirty="0"/>
          </a:p>
        </p:txBody>
      </p:sp>
    </p:spTree>
    <p:extLst>
      <p:ext uri="{BB962C8B-B14F-4D97-AF65-F5344CB8AC3E}">
        <p14:creationId xmlns:p14="http://schemas.microsoft.com/office/powerpoint/2010/main" val="2808062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r>
              <a:rPr lang="en-US" dirty="0"/>
              <a:t> Instead of saying, “I would like to express my gratitude to each and every one of you for taking out time from your busy schedules to attend this important meeting today,” say, </a:t>
            </a:r>
            <a:endParaRPr lang="en-US" dirty="0" smtClean="0"/>
          </a:p>
          <a:p>
            <a:pPr marL="0" indent="0" algn="just">
              <a:buNone/>
            </a:pPr>
            <a:r>
              <a:rPr lang="en-US" dirty="0"/>
              <a:t> </a:t>
            </a:r>
            <a:r>
              <a:rPr lang="en-US" dirty="0" smtClean="0"/>
              <a:t>               “</a:t>
            </a:r>
            <a:r>
              <a:rPr lang="en-US" dirty="0"/>
              <a:t>Thank you for attending this meeting.”</a:t>
            </a:r>
          </a:p>
          <a:p>
            <a:pPr algn="just"/>
            <a:endParaRPr lang="en-US" dirty="0"/>
          </a:p>
          <a:p>
            <a:pPr algn="just"/>
            <a:r>
              <a:rPr lang="en-US" dirty="0"/>
              <a:t>• Purpose: Saves time and ensures clarity.</a:t>
            </a:r>
            <a:endParaRPr lang="en-IN" dirty="0"/>
          </a:p>
        </p:txBody>
      </p:sp>
    </p:spTree>
    <p:extLst>
      <p:ext uri="{BB962C8B-B14F-4D97-AF65-F5344CB8AC3E}">
        <p14:creationId xmlns:p14="http://schemas.microsoft.com/office/powerpoint/2010/main" val="1659413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2. Simplicity</a:t>
            </a:r>
            <a:endParaRPr lang="en-IN" dirty="0"/>
          </a:p>
        </p:txBody>
      </p:sp>
      <p:sp>
        <p:nvSpPr>
          <p:cNvPr id="3" name="Content Placeholder 2"/>
          <p:cNvSpPr>
            <a:spLocks noGrp="1"/>
          </p:cNvSpPr>
          <p:nvPr>
            <p:ph sz="quarter" idx="1"/>
          </p:nvPr>
        </p:nvSpPr>
        <p:spPr/>
        <p:txBody>
          <a:bodyPr/>
          <a:lstStyle/>
          <a:p>
            <a:pPr algn="just"/>
            <a:r>
              <a:rPr lang="en-US" dirty="0" smtClean="0"/>
              <a:t>Simplicity both in the usage of words and ideas reveals a clarity in the thinking Process. </a:t>
            </a:r>
          </a:p>
          <a:p>
            <a:pPr algn="just"/>
            <a:r>
              <a:rPr lang="en-US" dirty="0" smtClean="0"/>
              <a:t>Using </a:t>
            </a:r>
            <a:r>
              <a:rPr lang="en-US" dirty="0"/>
              <a:t>simple language that the audience can easily comprehend. Avoiding jargon, complex words, or overly technical terms</a:t>
            </a:r>
            <a:r>
              <a:rPr lang="en-US" dirty="0" smtClean="0"/>
              <a:t>.</a:t>
            </a:r>
          </a:p>
          <a:p>
            <a:pPr algn="just"/>
            <a:r>
              <a:rPr lang="en-US" dirty="0" smtClean="0"/>
              <a:t>Reveal clarity in the thinking process by using simple terminology and equally simple concepts. </a:t>
            </a:r>
            <a:endParaRPr lang="en-IN" dirty="0"/>
          </a:p>
        </p:txBody>
      </p:sp>
    </p:spTree>
    <p:extLst>
      <p:ext uri="{BB962C8B-B14F-4D97-AF65-F5344CB8AC3E}">
        <p14:creationId xmlns:p14="http://schemas.microsoft.com/office/powerpoint/2010/main" val="1073757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r>
              <a:rPr lang="en-US" dirty="0"/>
              <a:t>Use “Let’s meet at 3 PM” instead of “We should convene at approximately </a:t>
            </a:r>
            <a:r>
              <a:rPr lang="en-US" dirty="0" smtClean="0"/>
              <a:t>15:00 </a:t>
            </a:r>
            <a:r>
              <a:rPr lang="en-US" dirty="0"/>
              <a:t>hours.”</a:t>
            </a:r>
          </a:p>
          <a:p>
            <a:pPr algn="just"/>
            <a:endParaRPr lang="en-US" dirty="0"/>
          </a:p>
          <a:p>
            <a:pPr algn="just"/>
            <a:r>
              <a:rPr lang="en-US" dirty="0"/>
              <a:t>• Purpose: Avoids unnecessary complexity to make the message accessible to all.</a:t>
            </a:r>
            <a:endParaRPr lang="en-IN" dirty="0"/>
          </a:p>
        </p:txBody>
      </p:sp>
    </p:spTree>
    <p:extLst>
      <p:ext uri="{BB962C8B-B14F-4D97-AF65-F5344CB8AC3E}">
        <p14:creationId xmlns:p14="http://schemas.microsoft.com/office/powerpoint/2010/main" val="4108077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3. Strength</a:t>
            </a:r>
            <a:endParaRPr lang="en-IN" dirty="0"/>
          </a:p>
        </p:txBody>
      </p:sp>
      <p:sp>
        <p:nvSpPr>
          <p:cNvPr id="3" name="Content Placeholder 2"/>
          <p:cNvSpPr>
            <a:spLocks noGrp="1"/>
          </p:cNvSpPr>
          <p:nvPr>
            <p:ph sz="quarter" idx="1"/>
          </p:nvPr>
        </p:nvSpPr>
        <p:spPr/>
        <p:txBody>
          <a:bodyPr/>
          <a:lstStyle/>
          <a:p>
            <a:pPr algn="just"/>
            <a:r>
              <a:rPr lang="en-US" dirty="0"/>
              <a:t>Communicating with confidence and </a:t>
            </a:r>
            <a:r>
              <a:rPr lang="en-US" dirty="0" smtClean="0"/>
              <a:t>credibility. </a:t>
            </a:r>
            <a:r>
              <a:rPr lang="en-US" dirty="0"/>
              <a:t>Strong communication conveys authority and conviction, making the message impactful</a:t>
            </a:r>
            <a:r>
              <a:rPr lang="en-US" dirty="0" smtClean="0"/>
              <a:t>.</a:t>
            </a:r>
          </a:p>
          <a:p>
            <a:pPr algn="just"/>
            <a:r>
              <a:rPr lang="en-US" dirty="0" smtClean="0"/>
              <a:t>A message is stronger when the sender believes in it. If the sender is confident, their words will carry more weight. </a:t>
            </a:r>
          </a:p>
          <a:p>
            <a:pPr algn="just"/>
            <a:r>
              <a:rPr lang="en-US" dirty="0" smtClean="0"/>
              <a:t>On the other hand, if the sender is unsure or does not believe in what they are saying, it can make the communication feel insecure. </a:t>
            </a:r>
            <a:endParaRPr lang="en-IN" dirty="0"/>
          </a:p>
        </p:txBody>
      </p:sp>
    </p:spTree>
    <p:extLst>
      <p:ext uri="{BB962C8B-B14F-4D97-AF65-F5344CB8AC3E}">
        <p14:creationId xmlns:p14="http://schemas.microsoft.com/office/powerpoint/2010/main" val="3409389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r>
              <a:rPr lang="en-US" dirty="0"/>
              <a:t> “We need this report by Friday to meet our goals” instead of “It would be nice to have the report by Friday, but if not, it’s okay.”</a:t>
            </a:r>
          </a:p>
          <a:p>
            <a:pPr algn="just"/>
            <a:endParaRPr lang="en-US" dirty="0"/>
          </a:p>
          <a:p>
            <a:pPr algn="just"/>
            <a:r>
              <a:rPr lang="en-US" dirty="0"/>
              <a:t>• Purpose: Shows confidence and assertiveness in communication.</a:t>
            </a:r>
          </a:p>
          <a:p>
            <a:pPr algn="just"/>
            <a:endParaRPr lang="en-US" dirty="0"/>
          </a:p>
          <a:p>
            <a:pPr algn="just"/>
            <a:endParaRPr lang="en-IN" dirty="0"/>
          </a:p>
        </p:txBody>
      </p:sp>
    </p:spTree>
    <p:extLst>
      <p:ext uri="{BB962C8B-B14F-4D97-AF65-F5344CB8AC3E}">
        <p14:creationId xmlns:p14="http://schemas.microsoft.com/office/powerpoint/2010/main" val="1781514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4. Sincerity</a:t>
            </a:r>
            <a:endParaRPr lang="en-IN" dirty="0"/>
          </a:p>
        </p:txBody>
      </p:sp>
      <p:sp>
        <p:nvSpPr>
          <p:cNvPr id="3" name="Content Placeholder 2"/>
          <p:cNvSpPr>
            <a:spLocks noGrp="1"/>
          </p:cNvSpPr>
          <p:nvPr>
            <p:ph sz="quarter" idx="1"/>
          </p:nvPr>
        </p:nvSpPr>
        <p:spPr/>
        <p:txBody>
          <a:bodyPr/>
          <a:lstStyle/>
          <a:p>
            <a:pPr algn="just"/>
            <a:r>
              <a:rPr lang="en-US" dirty="0"/>
              <a:t>Being honest and genuine in communication. When the message comes from a place of sincerity, it fosters trust and connection with the audience</a:t>
            </a:r>
            <a:r>
              <a:rPr lang="en-US" dirty="0" smtClean="0"/>
              <a:t>.</a:t>
            </a:r>
          </a:p>
          <a:p>
            <a:pPr algn="just"/>
            <a:r>
              <a:rPr lang="en-US" dirty="0" smtClean="0"/>
              <a:t>If there’s even a hint of deceit from the sender, an observant receiver will likely pick up on it, which can hinder successful communication. </a:t>
            </a:r>
            <a:endParaRPr lang="en-IN" dirty="0"/>
          </a:p>
        </p:txBody>
      </p:sp>
    </p:spTree>
    <p:extLst>
      <p:ext uri="{BB962C8B-B14F-4D97-AF65-F5344CB8AC3E}">
        <p14:creationId xmlns:p14="http://schemas.microsoft.com/office/powerpoint/2010/main" val="2522574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sz="quarter" idx="1"/>
          </p:nvPr>
        </p:nvSpPr>
        <p:spPr/>
        <p:txBody>
          <a:bodyPr/>
          <a:lstStyle/>
          <a:p>
            <a:pPr algn="just"/>
            <a:r>
              <a:rPr lang="en-US" dirty="0"/>
              <a:t> “I truly appreciate your hard work on this project” instead of “Great job,” when you don’t mean it.</a:t>
            </a:r>
          </a:p>
          <a:p>
            <a:pPr algn="just"/>
            <a:endParaRPr lang="en-US" dirty="0"/>
          </a:p>
          <a:p>
            <a:pPr algn="just"/>
            <a:r>
              <a:rPr lang="en-US" dirty="0"/>
              <a:t>• Purpose: Builds trust and conveys genuine feelings.</a:t>
            </a:r>
            <a:endParaRPr lang="en-IN" dirty="0"/>
          </a:p>
        </p:txBody>
      </p:sp>
    </p:spTree>
    <p:extLst>
      <p:ext uri="{BB962C8B-B14F-4D97-AF65-F5344CB8AC3E}">
        <p14:creationId xmlns:p14="http://schemas.microsoft.com/office/powerpoint/2010/main" val="775033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Differences</a:t>
            </a:r>
            <a:endParaRPr lang="en-IN" dirty="0"/>
          </a:p>
        </p:txBody>
      </p:sp>
      <p:sp>
        <p:nvSpPr>
          <p:cNvPr id="3" name="Content Placeholder 2"/>
          <p:cNvSpPr>
            <a:spLocks noGrp="1"/>
          </p:cNvSpPr>
          <p:nvPr>
            <p:ph sz="quarter" idx="1"/>
          </p:nvPr>
        </p:nvSpPr>
        <p:spPr/>
        <p:txBody>
          <a:bodyPr>
            <a:normAutofit/>
          </a:bodyPr>
          <a:lstStyle/>
          <a:p>
            <a:pPr algn="just"/>
            <a:r>
              <a:rPr lang="en-US" sz="3200" dirty="0" smtClean="0">
                <a:latin typeface="Times New Roman" pitchFamily="18" charset="0"/>
                <a:cs typeface="Times New Roman" pitchFamily="18" charset="0"/>
              </a:rPr>
              <a:t>The </a:t>
            </a:r>
            <a:r>
              <a:rPr lang="en-US" sz="3200" dirty="0">
                <a:latin typeface="Times New Roman" pitchFamily="18" charset="0"/>
                <a:cs typeface="Times New Roman" pitchFamily="18" charset="0"/>
              </a:rPr>
              <a:t>4 </a:t>
            </a:r>
            <a:r>
              <a:rPr lang="en-US" sz="3200" dirty="0" smtClean="0">
                <a:latin typeface="Times New Roman" pitchFamily="18" charset="0"/>
                <a:cs typeface="Times New Roman" pitchFamily="18" charset="0"/>
              </a:rPr>
              <a:t>S’s </a:t>
            </a:r>
            <a:r>
              <a:rPr lang="en-US" sz="3200" dirty="0">
                <a:latin typeface="Times New Roman" pitchFamily="18" charset="0"/>
                <a:cs typeface="Times New Roman" pitchFamily="18" charset="0"/>
              </a:rPr>
              <a:t>focus on the style of delivering a message, which refers to how you communicate it effectively. </a:t>
            </a:r>
            <a:endParaRPr lang="en-US" sz="3200" dirty="0" smtClean="0">
              <a:latin typeface="Times New Roman" pitchFamily="18" charset="0"/>
              <a:cs typeface="Times New Roman" pitchFamily="18" charset="0"/>
            </a:endParaRPr>
          </a:p>
          <a:p>
            <a:pPr algn="just"/>
            <a:r>
              <a:rPr lang="en-US" sz="3200" dirty="0" smtClean="0">
                <a:latin typeface="Times New Roman" pitchFamily="18" charset="0"/>
                <a:cs typeface="Times New Roman" pitchFamily="18" charset="0"/>
              </a:rPr>
              <a:t>This </a:t>
            </a:r>
            <a:r>
              <a:rPr lang="en-US" sz="3200" dirty="0">
                <a:latin typeface="Times New Roman" pitchFamily="18" charset="0"/>
                <a:cs typeface="Times New Roman" pitchFamily="18" charset="0"/>
              </a:rPr>
              <a:t>includes being concise, clear, and sincere in your approach, making sure your tone and delivery engage the audience and convey the message strongly</a:t>
            </a:r>
            <a:r>
              <a:rPr lang="en-US" sz="3200"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4128171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normAutofit/>
          </a:bodyPr>
          <a:lstStyle/>
          <a:p>
            <a:pPr algn="just"/>
            <a:r>
              <a:rPr lang="en-US" sz="3200" dirty="0">
                <a:latin typeface="Times New Roman" pitchFamily="18" charset="0"/>
                <a:cs typeface="Times New Roman" pitchFamily="18" charset="0"/>
              </a:rPr>
              <a:t>On the other hand, the 7 C's emphasize the content and its completeness, ensuring that the message is well-structured and accurate. </a:t>
            </a:r>
            <a:endParaRPr lang="en-US" sz="3200" dirty="0" smtClean="0">
              <a:latin typeface="Times New Roman" pitchFamily="18" charset="0"/>
              <a:cs typeface="Times New Roman" pitchFamily="18" charset="0"/>
            </a:endParaRPr>
          </a:p>
          <a:p>
            <a:pPr algn="just"/>
            <a:r>
              <a:rPr lang="en-US" sz="3200" dirty="0" smtClean="0">
                <a:latin typeface="Times New Roman" pitchFamily="18" charset="0"/>
                <a:cs typeface="Times New Roman" pitchFamily="18" charset="0"/>
              </a:rPr>
              <a:t>This </a:t>
            </a:r>
            <a:r>
              <a:rPr lang="en-US" sz="3200" dirty="0">
                <a:latin typeface="Times New Roman" pitchFamily="18" charset="0"/>
                <a:cs typeface="Times New Roman" pitchFamily="18" charset="0"/>
              </a:rPr>
              <a:t>includes making sure the message is clear, correct, and contains all necessary information. The 7 C’s ensure that the content is thoughtful and meaningful, while the 4 S's enhance how that message is delivered for maximum impact.</a:t>
            </a:r>
          </a:p>
          <a:p>
            <a:pPr algn="just"/>
            <a:endParaRPr lang="en-IN" sz="3200" dirty="0">
              <a:latin typeface="Times New Roman" pitchFamily="18" charset="0"/>
              <a:cs typeface="Times New Roman" pitchFamily="18" charset="0"/>
            </a:endParaRPr>
          </a:p>
        </p:txBody>
      </p:sp>
    </p:spTree>
    <p:extLst>
      <p:ext uri="{BB962C8B-B14F-4D97-AF65-F5344CB8AC3E}">
        <p14:creationId xmlns:p14="http://schemas.microsoft.com/office/powerpoint/2010/main" val="1661766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bcba6baa25_0_896"/>
          <p:cNvSpPr txBox="1">
            <a:spLocks noGrp="1"/>
          </p:cNvSpPr>
          <p:nvPr>
            <p:ph type="title"/>
          </p:nvPr>
        </p:nvSpPr>
        <p:spPr>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Thank </a:t>
            </a:r>
            <a:r>
              <a:rPr lang="en-US" dirty="0" smtClean="0"/>
              <a:t>You !</a:t>
            </a:r>
            <a:endParaRPr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84</TotalTime>
  <Words>1640</Words>
  <Application>Microsoft Office PowerPoint</Application>
  <PresentationFormat>On-screen Show (4:3)</PresentationFormat>
  <Paragraphs>130</Paragraphs>
  <Slides>31</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Georgia</vt:lpstr>
      <vt:lpstr>Wingdings 2</vt:lpstr>
      <vt:lpstr>Wingdings</vt:lpstr>
      <vt:lpstr>Times New Roman</vt:lpstr>
      <vt:lpstr>Comic Sans MS</vt:lpstr>
      <vt:lpstr>Civic</vt:lpstr>
      <vt:lpstr>MODULE-3 SEVEN C’s AND FOUR S’s  OF EFFECTIVE COMMUNICATION  </vt:lpstr>
      <vt:lpstr>Enjoy Reading</vt:lpstr>
      <vt:lpstr>Introduction</vt:lpstr>
      <vt:lpstr>Continue..</vt:lpstr>
      <vt:lpstr>  7C’s of effective communication</vt:lpstr>
      <vt:lpstr>1. Credibility</vt:lpstr>
      <vt:lpstr>Example</vt:lpstr>
      <vt:lpstr>PowerPoint Presentation</vt:lpstr>
      <vt:lpstr>Example</vt:lpstr>
      <vt:lpstr>  3. Clarity</vt:lpstr>
      <vt:lpstr>Example</vt:lpstr>
      <vt:lpstr>4. Correctness </vt:lpstr>
      <vt:lpstr>Example</vt:lpstr>
      <vt:lpstr>5. Consistency</vt:lpstr>
      <vt:lpstr>Example</vt:lpstr>
      <vt:lpstr>6. Concreteness</vt:lpstr>
      <vt:lpstr>Example</vt:lpstr>
      <vt:lpstr>7. Conciseness</vt:lpstr>
      <vt:lpstr>Example</vt:lpstr>
      <vt:lpstr>4 S’s of Communication</vt:lpstr>
      <vt:lpstr>1. Shortness</vt:lpstr>
      <vt:lpstr>Example</vt:lpstr>
      <vt:lpstr>2. Simplicity</vt:lpstr>
      <vt:lpstr>Example</vt:lpstr>
      <vt:lpstr>3. Strength</vt:lpstr>
      <vt:lpstr>Example</vt:lpstr>
      <vt:lpstr>4. Sincerity</vt:lpstr>
      <vt:lpstr>Example</vt:lpstr>
      <vt:lpstr>Key Differences</vt:lpstr>
      <vt:lpstr>Continue..</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SEVEN C’S  OF EFFECTIVE COMMUNICATION </dc:title>
  <dc:creator>saqif</dc:creator>
  <cp:lastModifiedBy>unais kt</cp:lastModifiedBy>
  <cp:revision>20</cp:revision>
  <dcterms:created xsi:type="dcterms:W3CDTF">2013-08-20T07:39:01Z</dcterms:created>
  <dcterms:modified xsi:type="dcterms:W3CDTF">2025-02-20T06:59:31Z</dcterms:modified>
</cp:coreProperties>
</file>