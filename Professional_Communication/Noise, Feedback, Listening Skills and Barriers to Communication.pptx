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 id="280" r:id="rId25"/>
    <p:sldId id="281" r:id="rId26"/>
    <p:sldId id="282" r:id="rId27"/>
    <p:sldId id="278"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66"/>
  </p:normalViewPr>
  <p:slideViewPr>
    <p:cSldViewPr snapToGrid="0">
      <p:cViewPr varScale="1">
        <p:scale>
          <a:sx n="115" d="100"/>
          <a:sy n="115" d="100"/>
        </p:scale>
        <p:origin x="496" y="20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006FE217-CD28-47D7-B569-D3AA0AF25B35}" type="datetimeFigureOut">
              <a:rPr lang="en-IN" smtClean="0"/>
              <a:t>09/02/26</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9EDDD954-96EE-47E9-BDAC-1B400872207A}"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58646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6FE217-CD28-47D7-B569-D3AA0AF25B35}" type="datetimeFigureOut">
              <a:rPr lang="en-IN" smtClean="0"/>
              <a:t>09/02/26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DDD954-96EE-47E9-BDAC-1B400872207A}" type="slidenum">
              <a:rPr lang="en-IN" smtClean="0"/>
              <a:t>‹#›</a:t>
            </a:fld>
            <a:endParaRPr lang="en-IN"/>
          </a:p>
        </p:txBody>
      </p:sp>
    </p:spTree>
    <p:extLst>
      <p:ext uri="{BB962C8B-B14F-4D97-AF65-F5344CB8AC3E}">
        <p14:creationId xmlns:p14="http://schemas.microsoft.com/office/powerpoint/2010/main" val="2757670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6FE217-CD28-47D7-B569-D3AA0AF25B35}" type="datetimeFigureOut">
              <a:rPr lang="en-IN" smtClean="0"/>
              <a:t>09/02/26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DDD954-96EE-47E9-BDAC-1B400872207A}"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746308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06FE217-CD28-47D7-B569-D3AA0AF25B35}" type="datetimeFigureOut">
              <a:rPr lang="en-IN" smtClean="0"/>
              <a:t>09/02/26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EDDD954-96EE-47E9-BDAC-1B400872207A}" type="slidenum">
              <a:rPr lang="en-IN" smtClean="0"/>
              <a:t>‹#›</a:t>
            </a:fld>
            <a:endParaRPr lang="en-IN"/>
          </a:p>
        </p:txBody>
      </p:sp>
    </p:spTree>
    <p:extLst>
      <p:ext uri="{BB962C8B-B14F-4D97-AF65-F5344CB8AC3E}">
        <p14:creationId xmlns:p14="http://schemas.microsoft.com/office/powerpoint/2010/main" val="4223963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06FE217-CD28-47D7-B569-D3AA0AF25B35}" type="datetimeFigureOut">
              <a:rPr lang="en-IN" smtClean="0"/>
              <a:t>09/02/26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EDDD954-96EE-47E9-BDAC-1B400872207A}"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59975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06FE217-CD28-47D7-B569-D3AA0AF25B35}" type="datetimeFigureOut">
              <a:rPr lang="en-IN" smtClean="0"/>
              <a:t>09/02/26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EDDD954-96EE-47E9-BDAC-1B400872207A}"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09710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6FE217-CD28-47D7-B569-D3AA0AF25B35}" type="datetimeFigureOut">
              <a:rPr lang="en-IN" smtClean="0"/>
              <a:t>09/02/26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EDDD954-96EE-47E9-BDAC-1B400872207A}" type="slidenum">
              <a:rPr lang="en-IN" smtClean="0"/>
              <a:t>‹#›</a:t>
            </a:fld>
            <a:endParaRPr lang="en-IN"/>
          </a:p>
        </p:txBody>
      </p:sp>
    </p:spTree>
    <p:extLst>
      <p:ext uri="{BB962C8B-B14F-4D97-AF65-F5344CB8AC3E}">
        <p14:creationId xmlns:p14="http://schemas.microsoft.com/office/powerpoint/2010/main" val="12530240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6FE217-CD28-47D7-B569-D3AA0AF25B35}" type="datetimeFigureOut">
              <a:rPr lang="en-IN" smtClean="0"/>
              <a:t>09/02/26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EDDD954-96EE-47E9-BDAC-1B400872207A}"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02740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6FE217-CD28-47D7-B569-D3AA0AF25B35}" type="datetimeFigureOut">
              <a:rPr lang="en-IN" smtClean="0"/>
              <a:t>09/02/26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EDDD954-96EE-47E9-BDAC-1B400872207A}" type="slidenum">
              <a:rPr lang="en-IN" smtClean="0"/>
              <a:t>‹#›</a:t>
            </a:fld>
            <a:endParaRPr lang="en-IN"/>
          </a:p>
        </p:txBody>
      </p:sp>
    </p:spTree>
    <p:extLst>
      <p:ext uri="{BB962C8B-B14F-4D97-AF65-F5344CB8AC3E}">
        <p14:creationId xmlns:p14="http://schemas.microsoft.com/office/powerpoint/2010/main" val="3436443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6FE217-CD28-47D7-B569-D3AA0AF25B35}" type="datetimeFigureOut">
              <a:rPr lang="en-IN" smtClean="0"/>
              <a:t>09/02/26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EDDD954-96EE-47E9-BDAC-1B400872207A}" type="slidenum">
              <a:rPr lang="en-IN" smtClean="0"/>
              <a:t>‹#›</a:t>
            </a:fld>
            <a:endParaRPr lang="en-IN"/>
          </a:p>
        </p:txBody>
      </p:sp>
    </p:spTree>
    <p:extLst>
      <p:ext uri="{BB962C8B-B14F-4D97-AF65-F5344CB8AC3E}">
        <p14:creationId xmlns:p14="http://schemas.microsoft.com/office/powerpoint/2010/main" val="30843363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6FE217-CD28-47D7-B569-D3AA0AF25B35}" type="datetimeFigureOut">
              <a:rPr lang="en-IN" smtClean="0"/>
              <a:t>09/02/26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DDD954-96EE-47E9-BDAC-1B400872207A}"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954288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6FE217-CD28-47D7-B569-D3AA0AF25B35}" type="datetimeFigureOut">
              <a:rPr lang="en-IN" smtClean="0"/>
              <a:t>09/02/26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DDD954-96EE-47E9-BDAC-1B400872207A}"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862820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6FE217-CD28-47D7-B569-D3AA0AF25B35}" type="datetimeFigureOut">
              <a:rPr lang="en-IN" smtClean="0"/>
              <a:t>09/02/26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DDD954-96EE-47E9-BDAC-1B400872207A}" type="slidenum">
              <a:rPr lang="en-IN" smtClean="0"/>
              <a:t>‹#›</a:t>
            </a:fld>
            <a:endParaRPr lang="en-IN"/>
          </a:p>
        </p:txBody>
      </p:sp>
    </p:spTree>
    <p:extLst>
      <p:ext uri="{BB962C8B-B14F-4D97-AF65-F5344CB8AC3E}">
        <p14:creationId xmlns:p14="http://schemas.microsoft.com/office/powerpoint/2010/main" val="7051665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6FE217-CD28-47D7-B569-D3AA0AF25B35}" type="datetimeFigureOut">
              <a:rPr lang="en-IN" smtClean="0"/>
              <a:t>09/02/26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DDD954-96EE-47E9-BDAC-1B400872207A}"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210665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6FE217-CD28-47D7-B569-D3AA0AF25B35}" type="datetimeFigureOut">
              <a:rPr lang="en-IN" smtClean="0"/>
              <a:t>09/02/26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DDD954-96EE-47E9-BDAC-1B400872207A}"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846142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6FE217-CD28-47D7-B569-D3AA0AF25B35}" type="datetimeFigureOut">
              <a:rPr lang="en-IN" smtClean="0"/>
              <a:t>09/02/26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DDD954-96EE-47E9-BDAC-1B400872207A}"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666385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6FE217-CD28-47D7-B569-D3AA0AF25B35}" type="datetimeFigureOut">
              <a:rPr lang="en-IN" smtClean="0"/>
              <a:t>09/02/26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DDD954-96EE-47E9-BDAC-1B400872207A}"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483341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06FE217-CD28-47D7-B569-D3AA0AF25B35}" type="datetimeFigureOut">
              <a:rPr lang="en-IN" smtClean="0"/>
              <a:t>09/02/26</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EDDD954-96EE-47E9-BDAC-1B400872207A}" type="slidenum">
              <a:rPr lang="en-IN" smtClean="0"/>
              <a:t>‹#›</a:t>
            </a:fld>
            <a:endParaRPr lang="en-IN"/>
          </a:p>
        </p:txBody>
      </p:sp>
    </p:spTree>
    <p:extLst>
      <p:ext uri="{BB962C8B-B14F-4D97-AF65-F5344CB8AC3E}">
        <p14:creationId xmlns:p14="http://schemas.microsoft.com/office/powerpoint/2010/main" val="36039366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FF316-5294-42D6-A536-CB155B598932}"/>
              </a:ext>
            </a:extLst>
          </p:cNvPr>
          <p:cNvSpPr>
            <a:spLocks noGrp="1"/>
          </p:cNvSpPr>
          <p:nvPr>
            <p:ph type="ctrTitle"/>
          </p:nvPr>
        </p:nvSpPr>
        <p:spPr>
          <a:xfrm>
            <a:off x="2692398" y="1616927"/>
            <a:ext cx="6815669" cy="1769737"/>
          </a:xfrm>
        </p:spPr>
        <p:txBody>
          <a:bodyPr/>
          <a:lstStyle/>
          <a:p>
            <a:r>
              <a:rPr lang="en-US" sz="4000" dirty="0"/>
              <a:t>Noise, Barriers, Feedback, Listening Skills and Grapevine Communication</a:t>
            </a:r>
            <a:endParaRPr lang="en-IN" sz="4000" dirty="0"/>
          </a:p>
        </p:txBody>
      </p:sp>
      <p:sp>
        <p:nvSpPr>
          <p:cNvPr id="3" name="Subtitle 2">
            <a:extLst>
              <a:ext uri="{FF2B5EF4-FFF2-40B4-BE49-F238E27FC236}">
                <a16:creationId xmlns:a16="http://schemas.microsoft.com/office/drawing/2014/main" id="{8C2C689D-75D1-43D0-B4DF-CC98EB321460}"/>
              </a:ext>
            </a:extLst>
          </p:cNvPr>
          <p:cNvSpPr>
            <a:spLocks noGrp="1"/>
          </p:cNvSpPr>
          <p:nvPr>
            <p:ph type="subTitle" idx="1"/>
          </p:nvPr>
        </p:nvSpPr>
        <p:spPr/>
        <p:txBody>
          <a:bodyPr/>
          <a:lstStyle/>
          <a:p>
            <a:r>
              <a:rPr lang="en-US" dirty="0" err="1"/>
              <a:t>Dr.Unais</a:t>
            </a:r>
            <a:r>
              <a:rPr lang="en-US" dirty="0"/>
              <a:t> KT</a:t>
            </a:r>
            <a:endParaRPr lang="en-IN" dirty="0"/>
          </a:p>
        </p:txBody>
      </p:sp>
    </p:spTree>
    <p:extLst>
      <p:ext uri="{BB962C8B-B14F-4D97-AF65-F5344CB8AC3E}">
        <p14:creationId xmlns:p14="http://schemas.microsoft.com/office/powerpoint/2010/main" val="622313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6B2F3-FAF3-462B-B3E0-40CE2B30E65F}"/>
              </a:ext>
            </a:extLst>
          </p:cNvPr>
          <p:cNvSpPr>
            <a:spLocks noGrp="1"/>
          </p:cNvSpPr>
          <p:nvPr>
            <p:ph type="title"/>
          </p:nvPr>
        </p:nvSpPr>
        <p:spPr/>
        <p:txBody>
          <a:bodyPr/>
          <a:lstStyle/>
          <a:p>
            <a:r>
              <a:rPr lang="en-US" dirty="0"/>
              <a:t>Noise</a:t>
            </a:r>
            <a:endParaRPr lang="en-IN" dirty="0"/>
          </a:p>
        </p:txBody>
      </p:sp>
      <p:sp>
        <p:nvSpPr>
          <p:cNvPr id="3" name="Content Placeholder 2">
            <a:extLst>
              <a:ext uri="{FF2B5EF4-FFF2-40B4-BE49-F238E27FC236}">
                <a16:creationId xmlns:a16="http://schemas.microsoft.com/office/drawing/2014/main" id="{B6AE70F9-FA69-47B9-A9F2-1B203F4B697A}"/>
              </a:ext>
            </a:extLst>
          </p:cNvPr>
          <p:cNvSpPr>
            <a:spLocks noGrp="1"/>
          </p:cNvSpPr>
          <p:nvPr>
            <p:ph idx="1"/>
          </p:nvPr>
        </p:nvSpPr>
        <p:spPr/>
        <p:txBody>
          <a:bodyPr/>
          <a:lstStyle/>
          <a:p>
            <a:pPr algn="just"/>
            <a:r>
              <a:rPr lang="en-US" dirty="0"/>
              <a:t>Noise can be defined as physical sound or mental disturbances that disrupts the flow of communication as the sender or the receiver gets distracted by it. </a:t>
            </a:r>
          </a:p>
          <a:p>
            <a:pPr algn="just"/>
            <a:r>
              <a:rPr lang="en-US" dirty="0"/>
              <a:t>According to this definition noise can be classified into two Categories:</a:t>
            </a:r>
          </a:p>
          <a:p>
            <a:pPr marL="0" indent="0" algn="just">
              <a:buNone/>
            </a:pPr>
            <a:r>
              <a:rPr lang="en-US" dirty="0"/>
              <a:t>                   1. Physical</a:t>
            </a:r>
          </a:p>
          <a:p>
            <a:pPr marL="0" indent="0" algn="just">
              <a:buNone/>
            </a:pPr>
            <a:r>
              <a:rPr lang="en-US" dirty="0"/>
              <a:t>                   2. Psychological </a:t>
            </a:r>
            <a:endParaRPr lang="en-IN" dirty="0"/>
          </a:p>
        </p:txBody>
      </p:sp>
    </p:spTree>
    <p:extLst>
      <p:ext uri="{BB962C8B-B14F-4D97-AF65-F5344CB8AC3E}">
        <p14:creationId xmlns:p14="http://schemas.microsoft.com/office/powerpoint/2010/main" val="2017188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5801D-3F54-49C5-987D-FF7F2A14EE48}"/>
              </a:ext>
            </a:extLst>
          </p:cNvPr>
          <p:cNvSpPr>
            <a:spLocks noGrp="1"/>
          </p:cNvSpPr>
          <p:nvPr>
            <p:ph type="title"/>
          </p:nvPr>
        </p:nvSpPr>
        <p:spPr/>
        <p:txBody>
          <a:bodyPr/>
          <a:lstStyle/>
          <a:p>
            <a:r>
              <a:rPr lang="en-US" dirty="0"/>
              <a:t>Physical Noise</a:t>
            </a:r>
            <a:endParaRPr lang="en-IN" dirty="0"/>
          </a:p>
        </p:txBody>
      </p:sp>
      <p:sp>
        <p:nvSpPr>
          <p:cNvPr id="3" name="Content Placeholder 2">
            <a:extLst>
              <a:ext uri="{FF2B5EF4-FFF2-40B4-BE49-F238E27FC236}">
                <a16:creationId xmlns:a16="http://schemas.microsoft.com/office/drawing/2014/main" id="{0CAC1002-2E28-46B4-8E84-A4592C3E727E}"/>
              </a:ext>
            </a:extLst>
          </p:cNvPr>
          <p:cNvSpPr>
            <a:spLocks noGrp="1"/>
          </p:cNvSpPr>
          <p:nvPr>
            <p:ph idx="1"/>
          </p:nvPr>
        </p:nvSpPr>
        <p:spPr/>
        <p:txBody>
          <a:bodyPr/>
          <a:lstStyle/>
          <a:p>
            <a:r>
              <a:rPr lang="en-US" dirty="0"/>
              <a:t>Physical Noise is that sound which originates from the surroundings and hampers the listening process.</a:t>
            </a:r>
          </a:p>
          <a:p>
            <a:r>
              <a:rPr lang="en-US" dirty="0"/>
              <a:t>For example, while speaking on the telephone, disturbances from outside or inside the connectivity may hinder the smooth transmission of message. </a:t>
            </a:r>
            <a:endParaRPr lang="en-IN" dirty="0"/>
          </a:p>
        </p:txBody>
      </p:sp>
    </p:spTree>
    <p:extLst>
      <p:ext uri="{BB962C8B-B14F-4D97-AF65-F5344CB8AC3E}">
        <p14:creationId xmlns:p14="http://schemas.microsoft.com/office/powerpoint/2010/main" val="1768862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DEACD-1098-4088-B444-18C3F179841D}"/>
              </a:ext>
            </a:extLst>
          </p:cNvPr>
          <p:cNvSpPr>
            <a:spLocks noGrp="1"/>
          </p:cNvSpPr>
          <p:nvPr>
            <p:ph type="title"/>
          </p:nvPr>
        </p:nvSpPr>
        <p:spPr/>
        <p:txBody>
          <a:bodyPr/>
          <a:lstStyle/>
          <a:p>
            <a:r>
              <a:rPr lang="en-US" dirty="0"/>
              <a:t>Psychological Noise</a:t>
            </a:r>
            <a:endParaRPr lang="en-IN" dirty="0"/>
          </a:p>
        </p:txBody>
      </p:sp>
      <p:sp>
        <p:nvSpPr>
          <p:cNvPr id="3" name="Content Placeholder 2">
            <a:extLst>
              <a:ext uri="{FF2B5EF4-FFF2-40B4-BE49-F238E27FC236}">
                <a16:creationId xmlns:a16="http://schemas.microsoft.com/office/drawing/2014/main" id="{96AE33E9-7DC9-4C9D-86A9-2B1FF57F5389}"/>
              </a:ext>
            </a:extLst>
          </p:cNvPr>
          <p:cNvSpPr>
            <a:spLocks noGrp="1"/>
          </p:cNvSpPr>
          <p:nvPr>
            <p:ph idx="1"/>
          </p:nvPr>
        </p:nvSpPr>
        <p:spPr/>
        <p:txBody>
          <a:bodyPr/>
          <a:lstStyle/>
          <a:p>
            <a:pPr algn="just"/>
            <a:r>
              <a:rPr lang="en-US" dirty="0"/>
              <a:t>It basically takes place due to the unwelcomed ideas or thought in mind</a:t>
            </a:r>
          </a:p>
          <a:p>
            <a:pPr algn="just"/>
            <a:r>
              <a:rPr lang="en-US" dirty="0"/>
              <a:t>Ex: Mental Disturbances, Anxiety, Tiredness and Pre-conceived ideas and Notions</a:t>
            </a:r>
            <a:endParaRPr lang="en-IN" dirty="0"/>
          </a:p>
        </p:txBody>
      </p:sp>
    </p:spTree>
    <p:extLst>
      <p:ext uri="{BB962C8B-B14F-4D97-AF65-F5344CB8AC3E}">
        <p14:creationId xmlns:p14="http://schemas.microsoft.com/office/powerpoint/2010/main" val="2855603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AFEEF-8E9F-467E-9E62-0F972B9C17C0}"/>
              </a:ext>
            </a:extLst>
          </p:cNvPr>
          <p:cNvSpPr>
            <a:spLocks noGrp="1"/>
          </p:cNvSpPr>
          <p:nvPr>
            <p:ph type="title"/>
          </p:nvPr>
        </p:nvSpPr>
        <p:spPr/>
        <p:txBody>
          <a:bodyPr/>
          <a:lstStyle/>
          <a:p>
            <a:r>
              <a:rPr lang="en-US" dirty="0"/>
              <a:t>Remedies</a:t>
            </a:r>
            <a:endParaRPr lang="en-IN" dirty="0"/>
          </a:p>
        </p:txBody>
      </p:sp>
      <p:graphicFrame>
        <p:nvGraphicFramePr>
          <p:cNvPr id="4" name="Table 4">
            <a:extLst>
              <a:ext uri="{FF2B5EF4-FFF2-40B4-BE49-F238E27FC236}">
                <a16:creationId xmlns:a16="http://schemas.microsoft.com/office/drawing/2014/main" id="{68ED30B0-2410-4C4E-9B2B-7FC5D679D2E9}"/>
              </a:ext>
            </a:extLst>
          </p:cNvPr>
          <p:cNvGraphicFramePr>
            <a:graphicFrameLocks noGrp="1"/>
          </p:cNvGraphicFramePr>
          <p:nvPr>
            <p:ph idx="1"/>
            <p:extLst>
              <p:ext uri="{D42A27DB-BD31-4B8C-83A1-F6EECF244321}">
                <p14:modId xmlns:p14="http://schemas.microsoft.com/office/powerpoint/2010/main" val="927922012"/>
              </p:ext>
            </p:extLst>
          </p:nvPr>
        </p:nvGraphicFramePr>
        <p:xfrm>
          <a:off x="1295400" y="2557462"/>
          <a:ext cx="9601197" cy="2568720"/>
        </p:xfrm>
        <a:graphic>
          <a:graphicData uri="http://schemas.openxmlformats.org/drawingml/2006/table">
            <a:tbl>
              <a:tblPr firstRow="1" bandRow="1">
                <a:tableStyleId>{5C22544A-7EE6-4342-B048-85BDC9FD1C3A}</a:tableStyleId>
              </a:tblPr>
              <a:tblGrid>
                <a:gridCol w="3200399">
                  <a:extLst>
                    <a:ext uri="{9D8B030D-6E8A-4147-A177-3AD203B41FA5}">
                      <a16:colId xmlns:a16="http://schemas.microsoft.com/office/drawing/2014/main" val="1111725617"/>
                    </a:ext>
                  </a:extLst>
                </a:gridCol>
                <a:gridCol w="3200399">
                  <a:extLst>
                    <a:ext uri="{9D8B030D-6E8A-4147-A177-3AD203B41FA5}">
                      <a16:colId xmlns:a16="http://schemas.microsoft.com/office/drawing/2014/main" val="3075550091"/>
                    </a:ext>
                  </a:extLst>
                </a:gridCol>
                <a:gridCol w="3200399">
                  <a:extLst>
                    <a:ext uri="{9D8B030D-6E8A-4147-A177-3AD203B41FA5}">
                      <a16:colId xmlns:a16="http://schemas.microsoft.com/office/drawing/2014/main" val="734675085"/>
                    </a:ext>
                  </a:extLst>
                </a:gridCol>
              </a:tblGrid>
              <a:tr h="856240">
                <a:tc>
                  <a:txBody>
                    <a:bodyPr/>
                    <a:lstStyle/>
                    <a:p>
                      <a:r>
                        <a:rPr lang="en-US" dirty="0"/>
                        <a:t>Types</a:t>
                      </a:r>
                      <a:endParaRPr lang="en-IN" dirty="0"/>
                    </a:p>
                  </a:txBody>
                  <a:tcPr/>
                </a:tc>
                <a:tc>
                  <a:txBody>
                    <a:bodyPr/>
                    <a:lstStyle/>
                    <a:p>
                      <a:r>
                        <a:rPr lang="en-US" dirty="0"/>
                        <a:t>Causative Factors</a:t>
                      </a:r>
                      <a:endParaRPr lang="en-IN" dirty="0"/>
                    </a:p>
                  </a:txBody>
                  <a:tcPr/>
                </a:tc>
                <a:tc>
                  <a:txBody>
                    <a:bodyPr/>
                    <a:lstStyle/>
                    <a:p>
                      <a:r>
                        <a:rPr lang="en-US" dirty="0"/>
                        <a:t>Remedies</a:t>
                      </a:r>
                      <a:endParaRPr lang="en-IN" dirty="0"/>
                    </a:p>
                  </a:txBody>
                  <a:tcPr/>
                </a:tc>
                <a:extLst>
                  <a:ext uri="{0D108BD9-81ED-4DB2-BD59-A6C34878D82A}">
                    <a16:rowId xmlns:a16="http://schemas.microsoft.com/office/drawing/2014/main" val="994625897"/>
                  </a:ext>
                </a:extLst>
              </a:tr>
              <a:tr h="856240">
                <a:tc>
                  <a:txBody>
                    <a:bodyPr/>
                    <a:lstStyle/>
                    <a:p>
                      <a:r>
                        <a:rPr lang="en-US" dirty="0"/>
                        <a:t>Physical</a:t>
                      </a:r>
                      <a:endParaRPr lang="en-IN" dirty="0"/>
                    </a:p>
                  </a:txBody>
                  <a:tcPr/>
                </a:tc>
                <a:tc>
                  <a:txBody>
                    <a:bodyPr/>
                    <a:lstStyle/>
                    <a:p>
                      <a:r>
                        <a:rPr lang="en-US" dirty="0"/>
                        <a:t>Disturbances and distractions in the environment</a:t>
                      </a:r>
                      <a:endParaRPr lang="en-IN" dirty="0"/>
                    </a:p>
                  </a:txBody>
                  <a:tcPr/>
                </a:tc>
                <a:tc>
                  <a:txBody>
                    <a:bodyPr/>
                    <a:lstStyle/>
                    <a:p>
                      <a:r>
                        <a:rPr lang="en-US" dirty="0"/>
                        <a:t>Ensuring that all channels are clear and free of noise</a:t>
                      </a:r>
                      <a:endParaRPr lang="en-IN" dirty="0"/>
                    </a:p>
                  </a:txBody>
                  <a:tcPr/>
                </a:tc>
                <a:extLst>
                  <a:ext uri="{0D108BD9-81ED-4DB2-BD59-A6C34878D82A}">
                    <a16:rowId xmlns:a16="http://schemas.microsoft.com/office/drawing/2014/main" val="2279344720"/>
                  </a:ext>
                </a:extLst>
              </a:tr>
              <a:tr h="856240">
                <a:tc>
                  <a:txBody>
                    <a:bodyPr/>
                    <a:lstStyle/>
                    <a:p>
                      <a:r>
                        <a:rPr lang="en-US" dirty="0"/>
                        <a:t>Psychological</a:t>
                      </a:r>
                      <a:endParaRPr lang="en-IN" dirty="0"/>
                    </a:p>
                  </a:txBody>
                  <a:tcPr/>
                </a:tc>
                <a:tc>
                  <a:txBody>
                    <a:bodyPr/>
                    <a:lstStyle/>
                    <a:p>
                      <a:r>
                        <a:rPr lang="en-US" dirty="0"/>
                        <a:t>Mental Disturbances, Anxiety, Ego and Prejudices</a:t>
                      </a:r>
                      <a:endParaRPr lang="en-IN" dirty="0"/>
                    </a:p>
                  </a:txBody>
                  <a:tcPr/>
                </a:tc>
                <a:tc>
                  <a:txBody>
                    <a:bodyPr/>
                    <a:lstStyle/>
                    <a:p>
                      <a:r>
                        <a:rPr lang="en-US" dirty="0"/>
                        <a:t>Entering into Question/Answer Sessions, Securing Advice</a:t>
                      </a:r>
                      <a:endParaRPr lang="en-IN" dirty="0"/>
                    </a:p>
                  </a:txBody>
                  <a:tcPr/>
                </a:tc>
                <a:extLst>
                  <a:ext uri="{0D108BD9-81ED-4DB2-BD59-A6C34878D82A}">
                    <a16:rowId xmlns:a16="http://schemas.microsoft.com/office/drawing/2014/main" val="29291473"/>
                  </a:ext>
                </a:extLst>
              </a:tr>
            </a:tbl>
          </a:graphicData>
        </a:graphic>
      </p:graphicFrame>
    </p:spTree>
    <p:extLst>
      <p:ext uri="{BB962C8B-B14F-4D97-AF65-F5344CB8AC3E}">
        <p14:creationId xmlns:p14="http://schemas.microsoft.com/office/powerpoint/2010/main" val="1797091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F2ABF-B70C-4091-9003-D6255B254424}"/>
              </a:ext>
            </a:extLst>
          </p:cNvPr>
          <p:cNvSpPr>
            <a:spLocks noGrp="1"/>
          </p:cNvSpPr>
          <p:nvPr>
            <p:ph type="title"/>
          </p:nvPr>
        </p:nvSpPr>
        <p:spPr/>
        <p:txBody>
          <a:bodyPr/>
          <a:lstStyle/>
          <a:p>
            <a:r>
              <a:rPr lang="en-US" dirty="0"/>
              <a:t>Barriers to Communication</a:t>
            </a:r>
            <a:endParaRPr lang="en-IN" dirty="0"/>
          </a:p>
        </p:txBody>
      </p:sp>
      <p:sp>
        <p:nvSpPr>
          <p:cNvPr id="3" name="Content Placeholder 2">
            <a:extLst>
              <a:ext uri="{FF2B5EF4-FFF2-40B4-BE49-F238E27FC236}">
                <a16:creationId xmlns:a16="http://schemas.microsoft.com/office/drawing/2014/main" id="{A3A16B2B-4E8E-46C8-8397-17257813DDC2}"/>
              </a:ext>
            </a:extLst>
          </p:cNvPr>
          <p:cNvSpPr>
            <a:spLocks noGrp="1"/>
          </p:cNvSpPr>
          <p:nvPr>
            <p:ph idx="1"/>
          </p:nvPr>
        </p:nvSpPr>
        <p:spPr/>
        <p:txBody>
          <a:bodyPr/>
          <a:lstStyle/>
          <a:p>
            <a:r>
              <a:rPr lang="en-US" dirty="0"/>
              <a:t>Things which are obstacle to the effective communication process is called Barriers. </a:t>
            </a:r>
          </a:p>
          <a:p>
            <a:r>
              <a:rPr lang="en-US" dirty="0"/>
              <a:t>Anything that impedes free flow of ideas</a:t>
            </a:r>
          </a:p>
          <a:p>
            <a:r>
              <a:rPr lang="en-US" dirty="0"/>
              <a:t>It can be classified into two categories: </a:t>
            </a:r>
          </a:p>
          <a:p>
            <a:pPr marL="0" indent="0">
              <a:buNone/>
            </a:pPr>
            <a:r>
              <a:rPr lang="en-US" dirty="0"/>
              <a:t>                 1. Sender-oriented</a:t>
            </a:r>
          </a:p>
          <a:p>
            <a:pPr marL="0" indent="0">
              <a:buNone/>
            </a:pPr>
            <a:r>
              <a:rPr lang="en-US" dirty="0"/>
              <a:t>                 2. Receiver-oriented</a:t>
            </a:r>
          </a:p>
          <a:p>
            <a:pPr marL="0" indent="0">
              <a:buNone/>
            </a:pPr>
            <a:endParaRPr lang="en-IN" dirty="0"/>
          </a:p>
        </p:txBody>
      </p:sp>
    </p:spTree>
    <p:extLst>
      <p:ext uri="{BB962C8B-B14F-4D97-AF65-F5344CB8AC3E}">
        <p14:creationId xmlns:p14="http://schemas.microsoft.com/office/powerpoint/2010/main" val="1225547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CDED4-3C44-40F6-A809-5A1121BB46EF}"/>
              </a:ext>
            </a:extLst>
          </p:cNvPr>
          <p:cNvSpPr>
            <a:spLocks noGrp="1"/>
          </p:cNvSpPr>
          <p:nvPr>
            <p:ph type="title"/>
          </p:nvPr>
        </p:nvSpPr>
        <p:spPr>
          <a:xfrm>
            <a:off x="1295402" y="982133"/>
            <a:ext cx="9601196" cy="694268"/>
          </a:xfrm>
        </p:spPr>
        <p:txBody>
          <a:bodyPr>
            <a:normAutofit fontScale="90000"/>
          </a:bodyPr>
          <a:lstStyle/>
          <a:p>
            <a:r>
              <a:rPr lang="en-US" dirty="0"/>
              <a:t>Sender-Oriented Barriers</a:t>
            </a:r>
            <a:endParaRPr lang="en-IN" dirty="0"/>
          </a:p>
        </p:txBody>
      </p:sp>
      <p:sp>
        <p:nvSpPr>
          <p:cNvPr id="3" name="Content Placeholder 2">
            <a:extLst>
              <a:ext uri="{FF2B5EF4-FFF2-40B4-BE49-F238E27FC236}">
                <a16:creationId xmlns:a16="http://schemas.microsoft.com/office/drawing/2014/main" id="{978B1287-C8CA-4814-A323-7E0750223922}"/>
              </a:ext>
            </a:extLst>
          </p:cNvPr>
          <p:cNvSpPr>
            <a:spLocks noGrp="1"/>
          </p:cNvSpPr>
          <p:nvPr>
            <p:ph idx="1"/>
          </p:nvPr>
        </p:nvSpPr>
        <p:spPr>
          <a:xfrm>
            <a:off x="1295401" y="2509024"/>
            <a:ext cx="9601196" cy="3366844"/>
          </a:xfrm>
        </p:spPr>
        <p:txBody>
          <a:bodyPr>
            <a:normAutofit fontScale="92500"/>
          </a:bodyPr>
          <a:lstStyle/>
          <a:p>
            <a:pPr algn="just"/>
            <a:r>
              <a:rPr lang="en-US" dirty="0"/>
              <a:t>Sender-oriented Barriers can be Voluntary or involuntary. Some of the Sender-Oriented barriers are as follows:</a:t>
            </a:r>
          </a:p>
          <a:p>
            <a:pPr marL="0" indent="0" algn="just">
              <a:buNone/>
            </a:pPr>
            <a:r>
              <a:rPr lang="en-US" dirty="0"/>
              <a:t>         1. </a:t>
            </a:r>
            <a:r>
              <a:rPr lang="en-US" b="1" dirty="0"/>
              <a:t>Badly expressed message</a:t>
            </a:r>
            <a:r>
              <a:rPr lang="en-US" dirty="0"/>
              <a:t>: The sender may not be able to structure ideas accurately and efficiently. </a:t>
            </a:r>
          </a:p>
          <a:p>
            <a:pPr marL="0" indent="0" algn="just">
              <a:buNone/>
            </a:pPr>
            <a:r>
              <a:rPr lang="en-US" dirty="0"/>
              <a:t>         2. </a:t>
            </a:r>
            <a:r>
              <a:rPr lang="en-US" b="1" dirty="0"/>
              <a:t>Loss in transmission</a:t>
            </a:r>
            <a:r>
              <a:rPr lang="en-US" dirty="0"/>
              <a:t>: If the choice of channel or medium is not right, the impact of the message is lost.</a:t>
            </a:r>
          </a:p>
          <a:p>
            <a:pPr marL="0" indent="0" algn="just">
              <a:buNone/>
            </a:pPr>
            <a:r>
              <a:rPr lang="en-US" dirty="0"/>
              <a:t>         3. </a:t>
            </a:r>
            <a:r>
              <a:rPr lang="en-US" b="1" dirty="0"/>
              <a:t>Semantic problem</a:t>
            </a:r>
            <a:r>
              <a:rPr lang="en-US" dirty="0"/>
              <a:t>: High or big sounding words may hinder the communication process. The problem arises when one can’t comprehend the meaning</a:t>
            </a:r>
            <a:endParaRPr lang="en-IN" dirty="0"/>
          </a:p>
        </p:txBody>
      </p:sp>
    </p:spTree>
    <p:extLst>
      <p:ext uri="{BB962C8B-B14F-4D97-AF65-F5344CB8AC3E}">
        <p14:creationId xmlns:p14="http://schemas.microsoft.com/office/powerpoint/2010/main" val="2993519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0B0BD-C73B-4DA6-9C1A-CC269A1A5D96}"/>
              </a:ext>
            </a:extLst>
          </p:cNvPr>
          <p:cNvSpPr>
            <a:spLocks noGrp="1"/>
          </p:cNvSpPr>
          <p:nvPr>
            <p:ph type="title"/>
          </p:nvPr>
        </p:nvSpPr>
        <p:spPr/>
        <p:txBody>
          <a:bodyPr/>
          <a:lstStyle/>
          <a:p>
            <a:r>
              <a:rPr lang="en-US" dirty="0"/>
              <a:t>Continue…</a:t>
            </a:r>
            <a:endParaRPr lang="en-IN" dirty="0"/>
          </a:p>
        </p:txBody>
      </p:sp>
      <p:sp>
        <p:nvSpPr>
          <p:cNvPr id="3" name="Content Placeholder 2">
            <a:extLst>
              <a:ext uri="{FF2B5EF4-FFF2-40B4-BE49-F238E27FC236}">
                <a16:creationId xmlns:a16="http://schemas.microsoft.com/office/drawing/2014/main" id="{9B84FBA0-C4ED-47ED-A722-2097B3C04285}"/>
              </a:ext>
            </a:extLst>
          </p:cNvPr>
          <p:cNvSpPr>
            <a:spLocks noGrp="1"/>
          </p:cNvSpPr>
          <p:nvPr>
            <p:ph idx="1"/>
          </p:nvPr>
        </p:nvSpPr>
        <p:spPr/>
        <p:txBody>
          <a:bodyPr/>
          <a:lstStyle/>
          <a:p>
            <a:pPr marL="0" indent="0">
              <a:buNone/>
            </a:pPr>
            <a:r>
              <a:rPr lang="en-US" dirty="0"/>
              <a:t>             4. </a:t>
            </a:r>
            <a:r>
              <a:rPr lang="en-US" b="1" dirty="0"/>
              <a:t>Over/Under-communication</a:t>
            </a:r>
            <a:r>
              <a:rPr lang="en-US" dirty="0"/>
              <a:t>: Excess/under information may confuse the audience. </a:t>
            </a:r>
          </a:p>
          <a:p>
            <a:pPr marL="0" indent="0">
              <a:buNone/>
            </a:pPr>
            <a:r>
              <a:rPr lang="en-US" dirty="0"/>
              <a:t>             5. </a:t>
            </a:r>
            <a:r>
              <a:rPr lang="en-US" b="1" dirty="0"/>
              <a:t>“I” Attitude</a:t>
            </a:r>
            <a:r>
              <a:rPr lang="en-US" dirty="0"/>
              <a:t>: “I” centric individual will not be receptive. </a:t>
            </a:r>
          </a:p>
          <a:p>
            <a:pPr marL="0" indent="0">
              <a:buNone/>
            </a:pPr>
            <a:r>
              <a:rPr lang="en-US" dirty="0"/>
              <a:t>             6. </a:t>
            </a:r>
            <a:r>
              <a:rPr lang="en-US" b="1" dirty="0"/>
              <a:t>Prejudices</a:t>
            </a:r>
            <a:r>
              <a:rPr lang="en-US" dirty="0"/>
              <a:t>: Starting any piece of communication with a bias or know it all attitude can prove to be quite harmful to the communication process. </a:t>
            </a:r>
            <a:endParaRPr lang="en-IN" dirty="0"/>
          </a:p>
        </p:txBody>
      </p:sp>
    </p:spTree>
    <p:extLst>
      <p:ext uri="{BB962C8B-B14F-4D97-AF65-F5344CB8AC3E}">
        <p14:creationId xmlns:p14="http://schemas.microsoft.com/office/powerpoint/2010/main" val="11528759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EC119-8633-4B54-B970-DCAABBD6D878}"/>
              </a:ext>
            </a:extLst>
          </p:cNvPr>
          <p:cNvSpPr>
            <a:spLocks noGrp="1"/>
          </p:cNvSpPr>
          <p:nvPr>
            <p:ph type="title"/>
          </p:nvPr>
        </p:nvSpPr>
        <p:spPr/>
        <p:txBody>
          <a:bodyPr/>
          <a:lstStyle/>
          <a:p>
            <a:r>
              <a:rPr lang="en-US" dirty="0"/>
              <a:t>How to get rid of it (Remedies)</a:t>
            </a:r>
            <a:endParaRPr lang="en-IN" dirty="0"/>
          </a:p>
        </p:txBody>
      </p:sp>
      <p:sp>
        <p:nvSpPr>
          <p:cNvPr id="3" name="Content Placeholder 2">
            <a:extLst>
              <a:ext uri="{FF2B5EF4-FFF2-40B4-BE49-F238E27FC236}">
                <a16:creationId xmlns:a16="http://schemas.microsoft.com/office/drawing/2014/main" id="{4C53AE50-ABC1-439C-963D-54E8F921B998}"/>
              </a:ext>
            </a:extLst>
          </p:cNvPr>
          <p:cNvSpPr>
            <a:spLocks noGrp="1"/>
          </p:cNvSpPr>
          <p:nvPr>
            <p:ph idx="1"/>
          </p:nvPr>
        </p:nvSpPr>
        <p:spPr/>
        <p:txBody>
          <a:bodyPr/>
          <a:lstStyle/>
          <a:p>
            <a:r>
              <a:rPr lang="en-US" dirty="0"/>
              <a:t>Think prior to speaking</a:t>
            </a:r>
          </a:p>
          <a:p>
            <a:r>
              <a:rPr lang="en-US" dirty="0"/>
              <a:t>Remove physical noise</a:t>
            </a:r>
          </a:p>
          <a:p>
            <a:r>
              <a:rPr lang="en-US" dirty="0"/>
              <a:t>Use simple language</a:t>
            </a:r>
          </a:p>
          <a:p>
            <a:r>
              <a:rPr lang="en-US" dirty="0"/>
              <a:t>Minimize usage of “I”</a:t>
            </a:r>
          </a:p>
          <a:p>
            <a:r>
              <a:rPr lang="en-US" dirty="0"/>
              <a:t>Formulate messages with open mind.</a:t>
            </a:r>
            <a:endParaRPr lang="en-IN" dirty="0"/>
          </a:p>
        </p:txBody>
      </p:sp>
    </p:spTree>
    <p:extLst>
      <p:ext uri="{BB962C8B-B14F-4D97-AF65-F5344CB8AC3E}">
        <p14:creationId xmlns:p14="http://schemas.microsoft.com/office/powerpoint/2010/main" val="2851689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FDABF-9A6A-4627-B468-B7C1A3EFB2AC}"/>
              </a:ext>
            </a:extLst>
          </p:cNvPr>
          <p:cNvSpPr>
            <a:spLocks noGrp="1"/>
          </p:cNvSpPr>
          <p:nvPr>
            <p:ph type="title"/>
          </p:nvPr>
        </p:nvSpPr>
        <p:spPr/>
        <p:txBody>
          <a:bodyPr/>
          <a:lstStyle/>
          <a:p>
            <a:r>
              <a:rPr lang="en-US" dirty="0"/>
              <a:t>Receiver-Oriented Barriers</a:t>
            </a:r>
            <a:endParaRPr lang="en-IN" dirty="0"/>
          </a:p>
        </p:txBody>
      </p:sp>
      <p:sp>
        <p:nvSpPr>
          <p:cNvPr id="3" name="Content Placeholder 2">
            <a:extLst>
              <a:ext uri="{FF2B5EF4-FFF2-40B4-BE49-F238E27FC236}">
                <a16:creationId xmlns:a16="http://schemas.microsoft.com/office/drawing/2014/main" id="{C97FC46B-B0C1-424B-A251-06D7CB3AFA49}"/>
              </a:ext>
            </a:extLst>
          </p:cNvPr>
          <p:cNvSpPr>
            <a:spLocks noGrp="1"/>
          </p:cNvSpPr>
          <p:nvPr>
            <p:ph idx="1"/>
          </p:nvPr>
        </p:nvSpPr>
        <p:spPr/>
        <p:txBody>
          <a:bodyPr/>
          <a:lstStyle/>
          <a:p>
            <a:pPr algn="just"/>
            <a:r>
              <a:rPr lang="en-US" dirty="0"/>
              <a:t>The receiver too can be guilty of erecting barriers in the course of the interaction. </a:t>
            </a:r>
          </a:p>
          <a:p>
            <a:pPr marL="0" indent="0" algn="just">
              <a:buNone/>
            </a:pPr>
            <a:r>
              <a:rPr lang="en-US" dirty="0"/>
              <a:t>            1. </a:t>
            </a:r>
            <a:r>
              <a:rPr lang="en-US" b="1" dirty="0"/>
              <a:t>Poor retention</a:t>
            </a:r>
            <a:r>
              <a:rPr lang="en-US" dirty="0"/>
              <a:t>: If the receiver has poor retention capability, the message will probably get lost in the course of the proceeds. There will be no connection between what was said initially and what is being said now.</a:t>
            </a:r>
          </a:p>
          <a:p>
            <a:pPr marL="0" indent="0" algn="just">
              <a:buNone/>
            </a:pPr>
            <a:r>
              <a:rPr lang="en-US" dirty="0"/>
              <a:t>           2. </a:t>
            </a:r>
            <a:r>
              <a:rPr lang="en-US" b="1" dirty="0"/>
              <a:t>Inattentive Listening</a:t>
            </a:r>
            <a:r>
              <a:rPr lang="en-US" dirty="0"/>
              <a:t>: The mind has its own way of functioning. The errors in listening arise because the receiver is either not interested in what is being said or has other things to concentrate on.  </a:t>
            </a:r>
            <a:endParaRPr lang="en-IN" dirty="0"/>
          </a:p>
        </p:txBody>
      </p:sp>
    </p:spTree>
    <p:extLst>
      <p:ext uri="{BB962C8B-B14F-4D97-AF65-F5344CB8AC3E}">
        <p14:creationId xmlns:p14="http://schemas.microsoft.com/office/powerpoint/2010/main" val="16401852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02B41-5F10-488B-8B94-86F422B422BE}"/>
              </a:ext>
            </a:extLst>
          </p:cNvPr>
          <p:cNvSpPr>
            <a:spLocks noGrp="1"/>
          </p:cNvSpPr>
          <p:nvPr>
            <p:ph type="title"/>
          </p:nvPr>
        </p:nvSpPr>
        <p:spPr/>
        <p:txBody>
          <a:bodyPr/>
          <a:lstStyle/>
          <a:p>
            <a:r>
              <a:rPr lang="en-US" dirty="0"/>
              <a:t>Continue…</a:t>
            </a:r>
            <a:endParaRPr lang="en-IN" dirty="0"/>
          </a:p>
        </p:txBody>
      </p:sp>
      <p:sp>
        <p:nvSpPr>
          <p:cNvPr id="3" name="Content Placeholder 2">
            <a:extLst>
              <a:ext uri="{FF2B5EF4-FFF2-40B4-BE49-F238E27FC236}">
                <a16:creationId xmlns:a16="http://schemas.microsoft.com/office/drawing/2014/main" id="{92144E38-74D6-45DD-95F9-105233871F23}"/>
              </a:ext>
            </a:extLst>
          </p:cNvPr>
          <p:cNvSpPr>
            <a:spLocks noGrp="1"/>
          </p:cNvSpPr>
          <p:nvPr>
            <p:ph idx="1"/>
          </p:nvPr>
        </p:nvSpPr>
        <p:spPr/>
        <p:txBody>
          <a:bodyPr/>
          <a:lstStyle/>
          <a:p>
            <a:pPr marL="0" indent="0">
              <a:buNone/>
            </a:pPr>
            <a:r>
              <a:rPr lang="en-US" dirty="0"/>
              <a:t>             3. </a:t>
            </a:r>
            <a:r>
              <a:rPr lang="en-US" b="1" dirty="0"/>
              <a:t>Tendency to evaluate</a:t>
            </a:r>
            <a:r>
              <a:rPr lang="en-US" dirty="0"/>
              <a:t>: Being Judgmental and evaluative can both lead to miscommunication.</a:t>
            </a:r>
          </a:p>
          <a:p>
            <a:pPr marL="0" indent="0">
              <a:buNone/>
            </a:pPr>
            <a:r>
              <a:rPr lang="en-US" dirty="0"/>
              <a:t>             4. </a:t>
            </a:r>
            <a:r>
              <a:rPr lang="en-US" b="1" dirty="0"/>
              <a:t>Interests and Attitudes</a:t>
            </a:r>
            <a:r>
              <a:rPr lang="en-US" dirty="0"/>
              <a:t>: “I am not interested in what you are saying  or my interests lie in other areas”. Starting any piece of communication with this kind of indifferences can prevent any attempts at communication.  </a:t>
            </a:r>
            <a:endParaRPr lang="en-IN" dirty="0"/>
          </a:p>
        </p:txBody>
      </p:sp>
    </p:spTree>
    <p:extLst>
      <p:ext uri="{BB962C8B-B14F-4D97-AF65-F5344CB8AC3E}">
        <p14:creationId xmlns:p14="http://schemas.microsoft.com/office/powerpoint/2010/main" val="1389216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274E9-CA9E-4ED3-BA33-01C864C3F3F1}"/>
              </a:ext>
            </a:extLst>
          </p:cNvPr>
          <p:cNvSpPr>
            <a:spLocks noGrp="1"/>
          </p:cNvSpPr>
          <p:nvPr>
            <p:ph type="title"/>
          </p:nvPr>
        </p:nvSpPr>
        <p:spPr/>
        <p:txBody>
          <a:bodyPr/>
          <a:lstStyle/>
          <a:p>
            <a:r>
              <a:rPr lang="en-US" dirty="0"/>
              <a:t>How to get rid of it (Remedies)</a:t>
            </a:r>
            <a:endParaRPr lang="en-IN" dirty="0"/>
          </a:p>
        </p:txBody>
      </p:sp>
      <p:sp>
        <p:nvSpPr>
          <p:cNvPr id="3" name="Content Placeholder 2">
            <a:extLst>
              <a:ext uri="{FF2B5EF4-FFF2-40B4-BE49-F238E27FC236}">
                <a16:creationId xmlns:a16="http://schemas.microsoft.com/office/drawing/2014/main" id="{6CEAD92E-85C5-458B-A48D-C933D492F99A}"/>
              </a:ext>
            </a:extLst>
          </p:cNvPr>
          <p:cNvSpPr>
            <a:spLocks noGrp="1"/>
          </p:cNvSpPr>
          <p:nvPr>
            <p:ph idx="1"/>
          </p:nvPr>
        </p:nvSpPr>
        <p:spPr/>
        <p:txBody>
          <a:bodyPr/>
          <a:lstStyle/>
          <a:p>
            <a:r>
              <a:rPr lang="en-US" dirty="0"/>
              <a:t>Jot down points</a:t>
            </a:r>
          </a:p>
          <a:p>
            <a:r>
              <a:rPr lang="en-US" dirty="0"/>
              <a:t>Keep the mind open</a:t>
            </a:r>
          </a:p>
          <a:p>
            <a:r>
              <a:rPr lang="en-US" dirty="0"/>
              <a:t>Listen to ideas</a:t>
            </a:r>
          </a:p>
          <a:p>
            <a:r>
              <a:rPr lang="en-US" dirty="0"/>
              <a:t>Enter into healthy discussions</a:t>
            </a:r>
            <a:endParaRPr lang="en-IN" dirty="0"/>
          </a:p>
        </p:txBody>
      </p:sp>
    </p:spTree>
    <p:extLst>
      <p:ext uri="{BB962C8B-B14F-4D97-AF65-F5344CB8AC3E}">
        <p14:creationId xmlns:p14="http://schemas.microsoft.com/office/powerpoint/2010/main" val="932389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75C59-486D-4F4A-A882-CD283B405DB2}"/>
              </a:ext>
            </a:extLst>
          </p:cNvPr>
          <p:cNvSpPr>
            <a:spLocks noGrp="1"/>
          </p:cNvSpPr>
          <p:nvPr>
            <p:ph type="title"/>
          </p:nvPr>
        </p:nvSpPr>
        <p:spPr/>
        <p:txBody>
          <a:bodyPr>
            <a:normAutofit/>
          </a:bodyPr>
          <a:lstStyle/>
          <a:p>
            <a:r>
              <a:rPr lang="en-US" sz="6600" dirty="0"/>
              <a:t>Feedback</a:t>
            </a:r>
            <a:endParaRPr lang="en-IN" sz="6600" dirty="0"/>
          </a:p>
        </p:txBody>
      </p:sp>
      <p:sp>
        <p:nvSpPr>
          <p:cNvPr id="3" name="Content Placeholder 2">
            <a:extLst>
              <a:ext uri="{FF2B5EF4-FFF2-40B4-BE49-F238E27FC236}">
                <a16:creationId xmlns:a16="http://schemas.microsoft.com/office/drawing/2014/main" id="{9757B9F2-3E71-415D-8DA8-B0E5C89C9E51}"/>
              </a:ext>
            </a:extLst>
          </p:cNvPr>
          <p:cNvSpPr>
            <a:spLocks noGrp="1"/>
          </p:cNvSpPr>
          <p:nvPr>
            <p:ph idx="1"/>
          </p:nvPr>
        </p:nvSpPr>
        <p:spPr/>
        <p:txBody>
          <a:bodyPr/>
          <a:lstStyle/>
          <a:p>
            <a:pPr algn="just"/>
            <a:r>
              <a:rPr lang="en-US" dirty="0"/>
              <a:t>Response from the receiver is known as feedback.</a:t>
            </a:r>
          </a:p>
          <a:p>
            <a:pPr algn="just"/>
            <a:r>
              <a:rPr lang="en-US" dirty="0"/>
              <a:t>This is the most important part of communication that completes the entire process.</a:t>
            </a:r>
          </a:p>
          <a:p>
            <a:pPr algn="just"/>
            <a:r>
              <a:rPr lang="en-US" dirty="0"/>
              <a:t>Feedback can be Two types:</a:t>
            </a:r>
          </a:p>
          <a:p>
            <a:pPr marL="0" indent="0" algn="just">
              <a:buNone/>
            </a:pPr>
            <a:r>
              <a:rPr lang="en-US" dirty="0"/>
              <a:t>                  1. Confirmatory</a:t>
            </a:r>
          </a:p>
          <a:p>
            <a:pPr marL="0" indent="0" algn="just">
              <a:buNone/>
            </a:pPr>
            <a:r>
              <a:rPr lang="en-US" dirty="0"/>
              <a:t>                  2. Corrective</a:t>
            </a:r>
          </a:p>
          <a:p>
            <a:pPr marL="0" indent="0" algn="just">
              <a:buNone/>
            </a:pPr>
            <a:endParaRPr lang="en-IN" dirty="0"/>
          </a:p>
        </p:txBody>
      </p:sp>
    </p:spTree>
    <p:extLst>
      <p:ext uri="{BB962C8B-B14F-4D97-AF65-F5344CB8AC3E}">
        <p14:creationId xmlns:p14="http://schemas.microsoft.com/office/powerpoint/2010/main" val="38201391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58411-E1EB-416C-8952-E846055B951F}"/>
              </a:ext>
            </a:extLst>
          </p:cNvPr>
          <p:cNvSpPr>
            <a:spLocks noGrp="1"/>
          </p:cNvSpPr>
          <p:nvPr>
            <p:ph type="title"/>
          </p:nvPr>
        </p:nvSpPr>
        <p:spPr/>
        <p:txBody>
          <a:bodyPr/>
          <a:lstStyle/>
          <a:p>
            <a:r>
              <a:rPr lang="en-US" dirty="0"/>
              <a:t>Confirmatory Feedback</a:t>
            </a:r>
            <a:endParaRPr lang="en-IN" dirty="0"/>
          </a:p>
        </p:txBody>
      </p:sp>
      <p:sp>
        <p:nvSpPr>
          <p:cNvPr id="3" name="Content Placeholder 2">
            <a:extLst>
              <a:ext uri="{FF2B5EF4-FFF2-40B4-BE49-F238E27FC236}">
                <a16:creationId xmlns:a16="http://schemas.microsoft.com/office/drawing/2014/main" id="{6FA015C7-3F47-44F8-A28F-9142B5D0303B}"/>
              </a:ext>
            </a:extLst>
          </p:cNvPr>
          <p:cNvSpPr>
            <a:spLocks noGrp="1"/>
          </p:cNvSpPr>
          <p:nvPr>
            <p:ph idx="1"/>
          </p:nvPr>
        </p:nvSpPr>
        <p:spPr/>
        <p:txBody>
          <a:bodyPr/>
          <a:lstStyle/>
          <a:p>
            <a:pPr algn="just"/>
            <a:r>
              <a:rPr lang="en-US" dirty="0"/>
              <a:t>Confirmatory feedback determines the moves and actions of the sender. Whatever is being said is accepted and the receiver agrees to the statement. </a:t>
            </a:r>
          </a:p>
          <a:p>
            <a:pPr algn="just"/>
            <a:r>
              <a:rPr lang="en-US" dirty="0"/>
              <a:t>The situation is happy in this context and there is no scope for disagreements. </a:t>
            </a:r>
            <a:endParaRPr lang="en-IN" dirty="0"/>
          </a:p>
        </p:txBody>
      </p:sp>
    </p:spTree>
    <p:extLst>
      <p:ext uri="{BB962C8B-B14F-4D97-AF65-F5344CB8AC3E}">
        <p14:creationId xmlns:p14="http://schemas.microsoft.com/office/powerpoint/2010/main" val="16730321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76036-9A0C-4D0D-AB09-DC3B2FEDED20}"/>
              </a:ext>
            </a:extLst>
          </p:cNvPr>
          <p:cNvSpPr>
            <a:spLocks noGrp="1"/>
          </p:cNvSpPr>
          <p:nvPr>
            <p:ph type="title"/>
          </p:nvPr>
        </p:nvSpPr>
        <p:spPr/>
        <p:txBody>
          <a:bodyPr/>
          <a:lstStyle/>
          <a:p>
            <a:r>
              <a:rPr lang="en-US" dirty="0"/>
              <a:t>Corrective Feedback</a:t>
            </a:r>
            <a:endParaRPr lang="en-IN" dirty="0"/>
          </a:p>
        </p:txBody>
      </p:sp>
      <p:sp>
        <p:nvSpPr>
          <p:cNvPr id="3" name="Content Placeholder 2">
            <a:extLst>
              <a:ext uri="{FF2B5EF4-FFF2-40B4-BE49-F238E27FC236}">
                <a16:creationId xmlns:a16="http://schemas.microsoft.com/office/drawing/2014/main" id="{FF073CC4-851B-493B-8079-8C4DC417617B}"/>
              </a:ext>
            </a:extLst>
          </p:cNvPr>
          <p:cNvSpPr>
            <a:spLocks noGrp="1"/>
          </p:cNvSpPr>
          <p:nvPr>
            <p:ph idx="1"/>
          </p:nvPr>
        </p:nvSpPr>
        <p:spPr/>
        <p:txBody>
          <a:bodyPr>
            <a:normAutofit/>
          </a:bodyPr>
          <a:lstStyle/>
          <a:p>
            <a:pPr algn="just"/>
            <a:r>
              <a:rPr lang="en-US" sz="4400" dirty="0"/>
              <a:t>It is a frequent practice in the field of learning and achievement. It helps to understand one’s level of performances. </a:t>
            </a:r>
            <a:endParaRPr lang="en-IN" sz="4400" dirty="0"/>
          </a:p>
        </p:txBody>
      </p:sp>
    </p:spTree>
    <p:extLst>
      <p:ext uri="{BB962C8B-B14F-4D97-AF65-F5344CB8AC3E}">
        <p14:creationId xmlns:p14="http://schemas.microsoft.com/office/powerpoint/2010/main" val="39195148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51F93-F5DF-4F0A-B630-5F5FDB8CE4CD}"/>
              </a:ext>
            </a:extLst>
          </p:cNvPr>
          <p:cNvSpPr>
            <a:spLocks noGrp="1"/>
          </p:cNvSpPr>
          <p:nvPr>
            <p:ph type="title"/>
          </p:nvPr>
        </p:nvSpPr>
        <p:spPr>
          <a:xfrm>
            <a:off x="1295402" y="982132"/>
            <a:ext cx="9601196" cy="666559"/>
          </a:xfrm>
        </p:spPr>
        <p:txBody>
          <a:bodyPr>
            <a:normAutofit fontScale="90000"/>
          </a:bodyPr>
          <a:lstStyle/>
          <a:p>
            <a:r>
              <a:rPr lang="en-US" dirty="0"/>
              <a:t>Listening Skills</a:t>
            </a:r>
            <a:endParaRPr lang="en-IN" dirty="0"/>
          </a:p>
        </p:txBody>
      </p:sp>
      <p:sp>
        <p:nvSpPr>
          <p:cNvPr id="3" name="Content Placeholder 2">
            <a:extLst>
              <a:ext uri="{FF2B5EF4-FFF2-40B4-BE49-F238E27FC236}">
                <a16:creationId xmlns:a16="http://schemas.microsoft.com/office/drawing/2014/main" id="{27BE6A15-2960-4E96-8B57-9D0C132363E2}"/>
              </a:ext>
            </a:extLst>
          </p:cNvPr>
          <p:cNvSpPr>
            <a:spLocks noGrp="1"/>
          </p:cNvSpPr>
          <p:nvPr>
            <p:ph idx="1"/>
          </p:nvPr>
        </p:nvSpPr>
        <p:spPr>
          <a:xfrm>
            <a:off x="1295401" y="1911927"/>
            <a:ext cx="9601196" cy="3963941"/>
          </a:xfrm>
        </p:spPr>
        <p:txBody>
          <a:bodyPr>
            <a:normAutofit fontScale="92500"/>
          </a:bodyPr>
          <a:lstStyle/>
          <a:p>
            <a:pPr algn="just"/>
            <a:r>
              <a:rPr lang="en-US" dirty="0"/>
              <a:t>Listening is a process of receiving and interpreting the spoken word. </a:t>
            </a:r>
          </a:p>
          <a:p>
            <a:pPr algn="just"/>
            <a:r>
              <a:rPr lang="en-US" dirty="0"/>
              <a:t>It involves </a:t>
            </a:r>
            <a:r>
              <a:rPr lang="en-US" dirty="0" err="1"/>
              <a:t>recognising</a:t>
            </a:r>
            <a:r>
              <a:rPr lang="en-US" dirty="0"/>
              <a:t> what is said and comprehending the matter, i.e., understanding the main and subsidiary points as well as the links between the different parts of speech. </a:t>
            </a:r>
          </a:p>
          <a:p>
            <a:pPr algn="just"/>
            <a:r>
              <a:rPr lang="en-US" dirty="0"/>
              <a:t>Effective listening involves not only </a:t>
            </a:r>
            <a:r>
              <a:rPr lang="en-US" dirty="0" err="1"/>
              <a:t>recognising</a:t>
            </a:r>
            <a:r>
              <a:rPr lang="en-US" dirty="0"/>
              <a:t> unit boundaries phonologically, but also the recognition of false starts, pauses, stress, intonation, and rhythm patterns. </a:t>
            </a:r>
          </a:p>
          <a:p>
            <a:pPr algn="just"/>
            <a:endParaRPr lang="en-US" dirty="0"/>
          </a:p>
          <a:p>
            <a:pPr algn="just"/>
            <a:r>
              <a:rPr lang="en-US" dirty="0"/>
              <a:t>Listening is a process of receiving, interpreting, and reacting to a message received from the speaker.</a:t>
            </a:r>
          </a:p>
          <a:p>
            <a:endParaRPr lang="en-IN" dirty="0"/>
          </a:p>
        </p:txBody>
      </p:sp>
    </p:spTree>
    <p:extLst>
      <p:ext uri="{BB962C8B-B14F-4D97-AF65-F5344CB8AC3E}">
        <p14:creationId xmlns:p14="http://schemas.microsoft.com/office/powerpoint/2010/main" val="5386022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95C9E-4F8D-4ECD-98ED-96F1D47FEA5D}"/>
              </a:ext>
            </a:extLst>
          </p:cNvPr>
          <p:cNvSpPr>
            <a:spLocks noGrp="1"/>
          </p:cNvSpPr>
          <p:nvPr>
            <p:ph type="title"/>
          </p:nvPr>
        </p:nvSpPr>
        <p:spPr/>
        <p:txBody>
          <a:bodyPr/>
          <a:lstStyle/>
          <a:p>
            <a:r>
              <a:rPr lang="en-IN" dirty="0"/>
              <a:t>The Listening Process</a:t>
            </a:r>
          </a:p>
        </p:txBody>
      </p:sp>
      <p:sp>
        <p:nvSpPr>
          <p:cNvPr id="3" name="Content Placeholder 2">
            <a:extLst>
              <a:ext uri="{FF2B5EF4-FFF2-40B4-BE49-F238E27FC236}">
                <a16:creationId xmlns:a16="http://schemas.microsoft.com/office/drawing/2014/main" id="{88E2610E-794F-462D-870A-14F899ABD21E}"/>
              </a:ext>
            </a:extLst>
          </p:cNvPr>
          <p:cNvSpPr>
            <a:spLocks noGrp="1"/>
          </p:cNvSpPr>
          <p:nvPr>
            <p:ph idx="1"/>
          </p:nvPr>
        </p:nvSpPr>
        <p:spPr/>
        <p:txBody>
          <a:bodyPr>
            <a:normAutofit lnSpcReduction="10000"/>
          </a:bodyPr>
          <a:lstStyle/>
          <a:p>
            <a:pPr algn="just"/>
            <a:r>
              <a:rPr lang="en-US" dirty="0"/>
              <a:t>While receiving and interpreting the spoken word, the listener is concerned with four factors.</a:t>
            </a:r>
          </a:p>
          <a:p>
            <a:pPr algn="just"/>
            <a:endParaRPr lang="en-US" dirty="0"/>
          </a:p>
          <a:p>
            <a:pPr algn="just"/>
            <a:r>
              <a:rPr lang="en-US" dirty="0"/>
              <a:t> Sensing, </a:t>
            </a:r>
          </a:p>
          <a:p>
            <a:pPr algn="just"/>
            <a:r>
              <a:rPr lang="en-US" dirty="0"/>
              <a:t> Message decoding or interpreting,</a:t>
            </a:r>
          </a:p>
          <a:p>
            <a:pPr algn="just"/>
            <a:r>
              <a:rPr lang="en-US" dirty="0"/>
              <a:t> Evaluating </a:t>
            </a:r>
          </a:p>
          <a:p>
            <a:pPr algn="just"/>
            <a:r>
              <a:rPr lang="en-US" dirty="0"/>
              <a:t> Feedback, as illustrated.</a:t>
            </a:r>
          </a:p>
          <a:p>
            <a:pPr algn="just"/>
            <a:endParaRPr lang="en-IN" dirty="0"/>
          </a:p>
        </p:txBody>
      </p:sp>
    </p:spTree>
    <p:extLst>
      <p:ext uri="{BB962C8B-B14F-4D97-AF65-F5344CB8AC3E}">
        <p14:creationId xmlns:p14="http://schemas.microsoft.com/office/powerpoint/2010/main" val="11399745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AB5E2-500C-4AFE-A807-A75183043CE7}"/>
              </a:ext>
            </a:extLst>
          </p:cNvPr>
          <p:cNvSpPr>
            <a:spLocks noGrp="1"/>
          </p:cNvSpPr>
          <p:nvPr>
            <p:ph type="title"/>
          </p:nvPr>
        </p:nvSpPr>
        <p:spPr>
          <a:xfrm>
            <a:off x="1295402" y="982132"/>
            <a:ext cx="9601196" cy="666559"/>
          </a:xfrm>
        </p:spPr>
        <p:txBody>
          <a:bodyPr>
            <a:normAutofit fontScale="90000"/>
          </a:bodyPr>
          <a:lstStyle/>
          <a:p>
            <a:r>
              <a:rPr lang="en-IN" dirty="0"/>
              <a:t>Types of Listening</a:t>
            </a:r>
          </a:p>
        </p:txBody>
      </p:sp>
      <p:sp>
        <p:nvSpPr>
          <p:cNvPr id="3" name="Content Placeholder 2">
            <a:extLst>
              <a:ext uri="{FF2B5EF4-FFF2-40B4-BE49-F238E27FC236}">
                <a16:creationId xmlns:a16="http://schemas.microsoft.com/office/drawing/2014/main" id="{D34BFF3C-9E0F-4C9D-A943-475FF50B1A14}"/>
              </a:ext>
            </a:extLst>
          </p:cNvPr>
          <p:cNvSpPr>
            <a:spLocks noGrp="1"/>
          </p:cNvSpPr>
          <p:nvPr>
            <p:ph idx="1"/>
          </p:nvPr>
        </p:nvSpPr>
        <p:spPr>
          <a:xfrm>
            <a:off x="1295401" y="1761893"/>
            <a:ext cx="9601196" cy="4113975"/>
          </a:xfrm>
        </p:spPr>
        <p:txBody>
          <a:bodyPr>
            <a:normAutofit fontScale="92500" lnSpcReduction="10000"/>
          </a:bodyPr>
          <a:lstStyle/>
          <a:p>
            <a:r>
              <a:rPr lang="en-US" dirty="0"/>
              <a:t>Listening may be classified into the following six types on the basis of purpose and output:</a:t>
            </a:r>
          </a:p>
          <a:p>
            <a:pPr marL="0" indent="0">
              <a:buNone/>
            </a:pPr>
            <a:endParaRPr lang="en-US" dirty="0"/>
          </a:p>
          <a:p>
            <a:r>
              <a:rPr lang="en-US" dirty="0"/>
              <a:t>Superficial listening</a:t>
            </a:r>
          </a:p>
          <a:p>
            <a:r>
              <a:rPr lang="en-US" dirty="0"/>
              <a:t>Appreciative listening</a:t>
            </a:r>
          </a:p>
          <a:p>
            <a:r>
              <a:rPr lang="en-US" dirty="0"/>
              <a:t>Focused listening</a:t>
            </a:r>
          </a:p>
          <a:p>
            <a:r>
              <a:rPr lang="en-US" dirty="0"/>
              <a:t>Evaluative listening</a:t>
            </a:r>
          </a:p>
          <a:p>
            <a:r>
              <a:rPr lang="en-US" dirty="0"/>
              <a:t>Attentive listening</a:t>
            </a:r>
          </a:p>
          <a:p>
            <a:r>
              <a:rPr lang="en-US" dirty="0"/>
              <a:t>Empathetic listening</a:t>
            </a:r>
          </a:p>
          <a:p>
            <a:endParaRPr lang="en-IN" dirty="0"/>
          </a:p>
        </p:txBody>
      </p:sp>
    </p:spTree>
    <p:extLst>
      <p:ext uri="{BB962C8B-B14F-4D97-AF65-F5344CB8AC3E}">
        <p14:creationId xmlns:p14="http://schemas.microsoft.com/office/powerpoint/2010/main" val="39777621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0939D-DEB5-454A-B7C8-BC45FEC5B723}"/>
              </a:ext>
            </a:extLst>
          </p:cNvPr>
          <p:cNvSpPr>
            <a:spLocks noGrp="1"/>
          </p:cNvSpPr>
          <p:nvPr>
            <p:ph type="title"/>
          </p:nvPr>
        </p:nvSpPr>
        <p:spPr>
          <a:xfrm>
            <a:off x="1295401" y="982133"/>
            <a:ext cx="9601197" cy="1137612"/>
          </a:xfrm>
        </p:spPr>
        <p:txBody>
          <a:bodyPr>
            <a:normAutofit/>
          </a:bodyPr>
          <a:lstStyle/>
          <a:p>
            <a:r>
              <a:rPr lang="en-US" dirty="0"/>
              <a:t>Continue….</a:t>
            </a:r>
            <a:endParaRPr lang="en-IN" dirty="0"/>
          </a:p>
        </p:txBody>
      </p:sp>
      <p:sp>
        <p:nvSpPr>
          <p:cNvPr id="3" name="Content Placeholder 2">
            <a:extLst>
              <a:ext uri="{FF2B5EF4-FFF2-40B4-BE49-F238E27FC236}">
                <a16:creationId xmlns:a16="http://schemas.microsoft.com/office/drawing/2014/main" id="{8FBCA153-52DD-49AA-81F4-64E984CA9E33}"/>
              </a:ext>
            </a:extLst>
          </p:cNvPr>
          <p:cNvSpPr>
            <a:spLocks noGrp="1"/>
          </p:cNvSpPr>
          <p:nvPr>
            <p:ph idx="1"/>
          </p:nvPr>
        </p:nvSpPr>
        <p:spPr>
          <a:xfrm>
            <a:off x="1295401" y="2895600"/>
            <a:ext cx="9601196" cy="2980268"/>
          </a:xfrm>
        </p:spPr>
        <p:txBody>
          <a:bodyPr>
            <a:normAutofit/>
          </a:bodyPr>
          <a:lstStyle/>
          <a:p>
            <a:pPr algn="just"/>
            <a:r>
              <a:rPr lang="en-US" b="1" dirty="0"/>
              <a:t>Superficial listening</a:t>
            </a:r>
            <a:r>
              <a:rPr lang="en-US" dirty="0"/>
              <a:t>: Listening without paying attention. You can hear what the other person is saying, but your attention is somewhere else.</a:t>
            </a:r>
          </a:p>
          <a:p>
            <a:pPr algn="just"/>
            <a:r>
              <a:rPr lang="en-US" b="1" dirty="0"/>
              <a:t>Appreciative listening</a:t>
            </a:r>
            <a:r>
              <a:rPr lang="en-US" dirty="0"/>
              <a:t>: The purpose of listening is to derive pleasure. (Rewatching a movie or show only to enjoy)</a:t>
            </a:r>
          </a:p>
          <a:p>
            <a:pPr algn="just"/>
            <a:r>
              <a:rPr lang="en-US" b="1" dirty="0"/>
              <a:t>Focused listening</a:t>
            </a:r>
            <a:r>
              <a:rPr lang="en-US" dirty="0"/>
              <a:t>: The purpose is to get some specific information.</a:t>
            </a:r>
          </a:p>
          <a:p>
            <a:endParaRPr lang="en-IN" dirty="0"/>
          </a:p>
        </p:txBody>
      </p:sp>
    </p:spTree>
    <p:extLst>
      <p:ext uri="{BB962C8B-B14F-4D97-AF65-F5344CB8AC3E}">
        <p14:creationId xmlns:p14="http://schemas.microsoft.com/office/powerpoint/2010/main" val="6241737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4B53D-10DB-4068-AC89-F1B260CFF2D7}"/>
              </a:ext>
            </a:extLst>
          </p:cNvPr>
          <p:cNvSpPr>
            <a:spLocks noGrp="1"/>
          </p:cNvSpPr>
          <p:nvPr>
            <p:ph type="title"/>
          </p:nvPr>
        </p:nvSpPr>
        <p:spPr/>
        <p:txBody>
          <a:bodyPr/>
          <a:lstStyle/>
          <a:p>
            <a:r>
              <a:rPr lang="en-US" dirty="0"/>
              <a:t>Continue…</a:t>
            </a:r>
            <a:endParaRPr lang="en-IN" dirty="0"/>
          </a:p>
        </p:txBody>
      </p:sp>
      <p:sp>
        <p:nvSpPr>
          <p:cNvPr id="3" name="Content Placeholder 2">
            <a:extLst>
              <a:ext uri="{FF2B5EF4-FFF2-40B4-BE49-F238E27FC236}">
                <a16:creationId xmlns:a16="http://schemas.microsoft.com/office/drawing/2014/main" id="{EF0EC2A2-C8BC-4874-85AE-AFA524FA9DFC}"/>
              </a:ext>
            </a:extLst>
          </p:cNvPr>
          <p:cNvSpPr>
            <a:spLocks noGrp="1"/>
          </p:cNvSpPr>
          <p:nvPr>
            <p:ph idx="1"/>
          </p:nvPr>
        </p:nvSpPr>
        <p:spPr/>
        <p:txBody>
          <a:bodyPr/>
          <a:lstStyle/>
          <a:p>
            <a:pPr algn="just"/>
            <a:r>
              <a:rPr lang="en-US" b="1" dirty="0"/>
              <a:t>Evaluative listening</a:t>
            </a:r>
            <a:r>
              <a:rPr lang="en-US" dirty="0"/>
              <a:t>: The purpose is to evaluate the oral message, commentary and develop a line of thought.</a:t>
            </a:r>
          </a:p>
          <a:p>
            <a:pPr algn="just"/>
            <a:r>
              <a:rPr lang="en-US" b="1" dirty="0"/>
              <a:t>Attentive listening</a:t>
            </a:r>
            <a:r>
              <a:rPr lang="en-US" dirty="0"/>
              <a:t>: It is interactive and productive, facilitating proper interaction and more effective listener-speaker relationships.</a:t>
            </a:r>
          </a:p>
          <a:p>
            <a:pPr algn="just"/>
            <a:r>
              <a:rPr lang="en-US" b="1" dirty="0"/>
              <a:t>Empathetic listening</a:t>
            </a:r>
            <a:r>
              <a:rPr lang="en-US" dirty="0"/>
              <a:t>: It involves listening to the speaker’s feelings, emotions, and state of mind.</a:t>
            </a:r>
          </a:p>
          <a:p>
            <a:endParaRPr lang="en-IN" dirty="0"/>
          </a:p>
        </p:txBody>
      </p:sp>
    </p:spTree>
    <p:extLst>
      <p:ext uri="{BB962C8B-B14F-4D97-AF65-F5344CB8AC3E}">
        <p14:creationId xmlns:p14="http://schemas.microsoft.com/office/powerpoint/2010/main" val="36848262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3B32F-BAE2-4DE1-BF38-A73C2A6FFAAE}"/>
              </a:ext>
            </a:extLst>
          </p:cNvPr>
          <p:cNvSpPr>
            <a:spLocks noGrp="1"/>
          </p:cNvSpPr>
          <p:nvPr>
            <p:ph type="title"/>
          </p:nvPr>
        </p:nvSpPr>
        <p:spPr/>
        <p:txBody>
          <a:bodyPr/>
          <a:lstStyle/>
          <a:p>
            <a:r>
              <a:rPr lang="en-US" dirty="0"/>
              <a:t>Essentials for Good Listening</a:t>
            </a:r>
            <a:endParaRPr lang="en-IN" dirty="0"/>
          </a:p>
        </p:txBody>
      </p:sp>
      <p:sp>
        <p:nvSpPr>
          <p:cNvPr id="3" name="Content Placeholder 2">
            <a:extLst>
              <a:ext uri="{FF2B5EF4-FFF2-40B4-BE49-F238E27FC236}">
                <a16:creationId xmlns:a16="http://schemas.microsoft.com/office/drawing/2014/main" id="{81374C3F-78F5-4C7D-BE5D-56FCDFA3B53A}"/>
              </a:ext>
            </a:extLst>
          </p:cNvPr>
          <p:cNvSpPr>
            <a:spLocks noGrp="1"/>
          </p:cNvSpPr>
          <p:nvPr>
            <p:ph idx="1"/>
          </p:nvPr>
        </p:nvSpPr>
        <p:spPr/>
        <p:txBody>
          <a:bodyPr>
            <a:normAutofit/>
          </a:bodyPr>
          <a:lstStyle/>
          <a:p>
            <a:r>
              <a:rPr lang="en-US" dirty="0"/>
              <a:t>Have a receptive mind</a:t>
            </a:r>
          </a:p>
          <a:p>
            <a:r>
              <a:rPr lang="en-US" dirty="0" err="1"/>
              <a:t>Minimise</a:t>
            </a:r>
            <a:r>
              <a:rPr lang="en-US" dirty="0"/>
              <a:t> the distracting factor</a:t>
            </a:r>
          </a:p>
          <a:p>
            <a:r>
              <a:rPr lang="en-US" dirty="0"/>
              <a:t>Listen with interest, enthusiasm and maturity</a:t>
            </a:r>
          </a:p>
          <a:p>
            <a:r>
              <a:rPr lang="en-US" dirty="0"/>
              <a:t>Control your emotions and listen patiently</a:t>
            </a:r>
          </a:p>
          <a:p>
            <a:r>
              <a:rPr lang="en-US" dirty="0"/>
              <a:t>Do not argue or </a:t>
            </a:r>
            <a:r>
              <a:rPr lang="en-US" dirty="0" err="1"/>
              <a:t>criticise</a:t>
            </a:r>
            <a:r>
              <a:rPr lang="en-US" dirty="0"/>
              <a:t> unnecessarily</a:t>
            </a:r>
          </a:p>
          <a:p>
            <a:r>
              <a:rPr lang="en-US" dirty="0"/>
              <a:t>Put the speaker at ease by your positive body language</a:t>
            </a:r>
          </a:p>
          <a:p>
            <a:endParaRPr lang="en-IN" dirty="0"/>
          </a:p>
        </p:txBody>
      </p:sp>
    </p:spTree>
    <p:extLst>
      <p:ext uri="{BB962C8B-B14F-4D97-AF65-F5344CB8AC3E}">
        <p14:creationId xmlns:p14="http://schemas.microsoft.com/office/powerpoint/2010/main" val="6365941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7BB6E-7F24-4AB1-A651-9719AD04609A}"/>
              </a:ext>
            </a:extLst>
          </p:cNvPr>
          <p:cNvSpPr>
            <a:spLocks noGrp="1"/>
          </p:cNvSpPr>
          <p:nvPr>
            <p:ph type="title"/>
          </p:nvPr>
        </p:nvSpPr>
        <p:spPr/>
        <p:txBody>
          <a:bodyPr/>
          <a:lstStyle/>
          <a:p>
            <a:r>
              <a:rPr lang="en-US" dirty="0"/>
              <a:t>Grapevine Communication</a:t>
            </a:r>
            <a:endParaRPr lang="en-IN" dirty="0"/>
          </a:p>
        </p:txBody>
      </p:sp>
      <p:sp>
        <p:nvSpPr>
          <p:cNvPr id="3" name="Content Placeholder 2">
            <a:extLst>
              <a:ext uri="{FF2B5EF4-FFF2-40B4-BE49-F238E27FC236}">
                <a16:creationId xmlns:a16="http://schemas.microsoft.com/office/drawing/2014/main" id="{9AEEBAC8-28A8-4BC2-96E5-74D1F9734035}"/>
              </a:ext>
            </a:extLst>
          </p:cNvPr>
          <p:cNvSpPr>
            <a:spLocks noGrp="1"/>
          </p:cNvSpPr>
          <p:nvPr>
            <p:ph idx="1"/>
          </p:nvPr>
        </p:nvSpPr>
        <p:spPr/>
        <p:txBody>
          <a:bodyPr/>
          <a:lstStyle/>
          <a:p>
            <a:pPr algn="just"/>
            <a:r>
              <a:rPr lang="en-US" dirty="0"/>
              <a:t>It is an informal channel of (Internal) communication and it stretches throughout the organization in all directions. </a:t>
            </a:r>
          </a:p>
          <a:p>
            <a:pPr algn="just"/>
            <a:r>
              <a:rPr lang="en-US" dirty="0"/>
              <a:t>In spite of the formal (internal)channels of communication in the organization, the informal channel tends to develop because human beings are social animals and they love to interact and therefore it develops.</a:t>
            </a:r>
          </a:p>
        </p:txBody>
      </p:sp>
    </p:spTree>
    <p:extLst>
      <p:ext uri="{BB962C8B-B14F-4D97-AF65-F5344CB8AC3E}">
        <p14:creationId xmlns:p14="http://schemas.microsoft.com/office/powerpoint/2010/main" val="22351075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982132"/>
            <a:ext cx="9601196" cy="996793"/>
          </a:xfrm>
        </p:spPr>
        <p:txBody>
          <a:bodyPr/>
          <a:lstStyle/>
          <a:p>
            <a:r>
              <a:rPr lang="en-IN" dirty="0"/>
              <a:t>Characteristics</a:t>
            </a:r>
          </a:p>
        </p:txBody>
      </p:sp>
      <p:sp>
        <p:nvSpPr>
          <p:cNvPr id="3" name="Content Placeholder 2"/>
          <p:cNvSpPr>
            <a:spLocks noGrp="1"/>
          </p:cNvSpPr>
          <p:nvPr>
            <p:ph idx="1"/>
          </p:nvPr>
        </p:nvSpPr>
        <p:spPr>
          <a:xfrm>
            <a:off x="1295401" y="2415653"/>
            <a:ext cx="9601196" cy="3725839"/>
          </a:xfrm>
        </p:spPr>
        <p:txBody>
          <a:bodyPr>
            <a:normAutofit/>
          </a:bodyPr>
          <a:lstStyle/>
          <a:p>
            <a:pPr algn="just"/>
            <a:r>
              <a:rPr lang="en-US" dirty="0"/>
              <a:t>It is not controlled by the management</a:t>
            </a:r>
          </a:p>
          <a:p>
            <a:pPr algn="just"/>
            <a:r>
              <a:rPr lang="en-US" dirty="0"/>
              <a:t>It emerges from social and personal interactions of the employees</a:t>
            </a:r>
          </a:p>
          <a:p>
            <a:pPr algn="just"/>
            <a:r>
              <a:rPr lang="en-US" dirty="0"/>
              <a:t>It follows oral communication</a:t>
            </a:r>
          </a:p>
          <a:p>
            <a:pPr algn="just"/>
            <a:r>
              <a:rPr lang="en-US" dirty="0"/>
              <a:t>It begins and ends anywhere in the org</a:t>
            </a:r>
          </a:p>
          <a:p>
            <a:pPr algn="just"/>
            <a:r>
              <a:rPr lang="en-US" dirty="0"/>
              <a:t>It is largely used to serve self-interests of those within the organization</a:t>
            </a:r>
          </a:p>
          <a:p>
            <a:pPr algn="just"/>
            <a:r>
              <a:rPr lang="en-US" dirty="0"/>
              <a:t>Most of the employees find it believable and reliable</a:t>
            </a:r>
          </a:p>
          <a:p>
            <a:pPr algn="just"/>
            <a:r>
              <a:rPr lang="en-US" dirty="0"/>
              <a:t>There’s no definite route of it for sharing information.</a:t>
            </a:r>
          </a:p>
          <a:p>
            <a:pPr algn="just"/>
            <a:endParaRPr lang="en-IN" dirty="0"/>
          </a:p>
        </p:txBody>
      </p:sp>
    </p:spTree>
    <p:extLst>
      <p:ext uri="{BB962C8B-B14F-4D97-AF65-F5344CB8AC3E}">
        <p14:creationId xmlns:p14="http://schemas.microsoft.com/office/powerpoint/2010/main" val="34075402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Transmission</a:t>
            </a:r>
            <a:endParaRPr lang="en-IN"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16501" y="2557463"/>
            <a:ext cx="5358998" cy="331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128034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Grapevine </a:t>
            </a:r>
            <a:endParaRPr lang="en-IN" dirty="0"/>
          </a:p>
        </p:txBody>
      </p:sp>
      <p:sp>
        <p:nvSpPr>
          <p:cNvPr id="3" name="Content Placeholder 2"/>
          <p:cNvSpPr>
            <a:spLocks noGrp="1"/>
          </p:cNvSpPr>
          <p:nvPr>
            <p:ph idx="1"/>
          </p:nvPr>
        </p:nvSpPr>
        <p:spPr>
          <a:xfrm>
            <a:off x="1295401" y="2556931"/>
            <a:ext cx="9601196" cy="3557265"/>
          </a:xfrm>
        </p:spPr>
        <p:txBody>
          <a:bodyPr>
            <a:normAutofit lnSpcReduction="10000"/>
          </a:bodyPr>
          <a:lstStyle/>
          <a:p>
            <a:pPr algn="just"/>
            <a:r>
              <a:rPr lang="en-US" dirty="0"/>
              <a:t>It carries information rapidly. When an employee gets a confidential information, he/she passes the details to his/her close friends and then it starts spreading automatically.</a:t>
            </a:r>
          </a:p>
          <a:p>
            <a:pPr algn="just"/>
            <a:r>
              <a:rPr lang="en-US" dirty="0"/>
              <a:t>The managers get the reaction of the subordinates on the company policies. The feedback is quick compared to formal channels of communication.</a:t>
            </a:r>
          </a:p>
          <a:p>
            <a:pPr algn="just"/>
            <a:r>
              <a:rPr lang="en-US" dirty="0"/>
              <a:t>It creates a sense of unity among the peers</a:t>
            </a:r>
          </a:p>
          <a:p>
            <a:pPr algn="just"/>
            <a:r>
              <a:rPr lang="en-US" dirty="0"/>
              <a:t>It builds up group cohesiveness.</a:t>
            </a:r>
          </a:p>
          <a:p>
            <a:pPr algn="just"/>
            <a:r>
              <a:rPr lang="en-US" dirty="0"/>
              <a:t>It serves as an emotional supportive value</a:t>
            </a:r>
          </a:p>
          <a:p>
            <a:pPr algn="just"/>
            <a:endParaRPr lang="en-IN" dirty="0"/>
          </a:p>
        </p:txBody>
      </p:sp>
    </p:spTree>
    <p:extLst>
      <p:ext uri="{BB962C8B-B14F-4D97-AF65-F5344CB8AC3E}">
        <p14:creationId xmlns:p14="http://schemas.microsoft.com/office/powerpoint/2010/main" val="29440313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Disadvantages of Grapevine</a:t>
            </a:r>
            <a:endParaRPr lang="en-IN" dirty="0"/>
          </a:p>
        </p:txBody>
      </p:sp>
      <p:sp>
        <p:nvSpPr>
          <p:cNvPr id="3" name="Content Placeholder 2"/>
          <p:cNvSpPr>
            <a:spLocks noGrp="1"/>
          </p:cNvSpPr>
          <p:nvPr>
            <p:ph idx="1"/>
          </p:nvPr>
        </p:nvSpPr>
        <p:spPr/>
        <p:txBody>
          <a:bodyPr/>
          <a:lstStyle/>
          <a:p>
            <a:pPr algn="just"/>
            <a:r>
              <a:rPr lang="en-US" dirty="0"/>
              <a:t>Carries partial information</a:t>
            </a:r>
          </a:p>
          <a:p>
            <a:pPr algn="just"/>
            <a:r>
              <a:rPr lang="en-US" dirty="0"/>
              <a:t>Not at all a reliable/ credible  source of communication as it does not follow any official channel of communication</a:t>
            </a:r>
          </a:p>
          <a:p>
            <a:pPr algn="just"/>
            <a:r>
              <a:rPr lang="en-US" dirty="0"/>
              <a:t>The productivity of the employees may be hampered as they spend more time in gossip</a:t>
            </a:r>
          </a:p>
          <a:p>
            <a:pPr algn="just"/>
            <a:r>
              <a:rPr lang="en-US" dirty="0"/>
              <a:t>Sometimes it creates a hostile environment in the organization</a:t>
            </a:r>
          </a:p>
          <a:p>
            <a:pPr marL="0" indent="0" algn="just">
              <a:buNone/>
            </a:pPr>
            <a:endParaRPr lang="en-IN" dirty="0"/>
          </a:p>
        </p:txBody>
      </p:sp>
    </p:spTree>
    <p:extLst>
      <p:ext uri="{BB962C8B-B14F-4D97-AF65-F5344CB8AC3E}">
        <p14:creationId xmlns:p14="http://schemas.microsoft.com/office/powerpoint/2010/main" val="19492720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60EB6-DDB7-4548-9ED2-B6E6B4FB677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0A34ADE-825C-4331-80B7-BF3121FDEA6B}"/>
              </a:ext>
            </a:extLst>
          </p:cNvPr>
          <p:cNvSpPr>
            <a:spLocks noGrp="1"/>
          </p:cNvSpPr>
          <p:nvPr>
            <p:ph idx="1"/>
          </p:nvPr>
        </p:nvSpPr>
        <p:spPr/>
        <p:txBody>
          <a:bodyPr>
            <a:normAutofit/>
          </a:bodyPr>
          <a:lstStyle/>
          <a:p>
            <a:pPr marL="0" indent="0" algn="ctr">
              <a:buNone/>
            </a:pPr>
            <a:r>
              <a:rPr lang="en-US" sz="6600" dirty="0"/>
              <a:t>Thank You</a:t>
            </a:r>
            <a:endParaRPr lang="en-IN" sz="6600" dirty="0"/>
          </a:p>
        </p:txBody>
      </p:sp>
    </p:spTree>
    <p:extLst>
      <p:ext uri="{BB962C8B-B14F-4D97-AF65-F5344CB8AC3E}">
        <p14:creationId xmlns:p14="http://schemas.microsoft.com/office/powerpoint/2010/main" val="236489939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132</TotalTime>
  <Words>1265</Words>
  <Application>Microsoft Macintosh PowerPoint</Application>
  <PresentationFormat>Widescreen</PresentationFormat>
  <Paragraphs>128</Paragraphs>
  <Slides>27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Garamond</vt:lpstr>
      <vt:lpstr>Organic</vt:lpstr>
      <vt:lpstr>Noise, Barriers, Feedback, Listening Skills and Grapevine Communication</vt:lpstr>
      <vt:lpstr>Noise</vt:lpstr>
      <vt:lpstr>Physical Noise</vt:lpstr>
      <vt:lpstr>Psychological Noise</vt:lpstr>
      <vt:lpstr>Remedies</vt:lpstr>
      <vt:lpstr>Barriers to Communication</vt:lpstr>
      <vt:lpstr>Sender-Oriented Barriers</vt:lpstr>
      <vt:lpstr>Continue…</vt:lpstr>
      <vt:lpstr>How to get rid of it (Remedies)</vt:lpstr>
      <vt:lpstr>Receiver-Oriented Barriers</vt:lpstr>
      <vt:lpstr>Continue…</vt:lpstr>
      <vt:lpstr>How to get rid of it (Remedies)</vt:lpstr>
      <vt:lpstr>Feedback</vt:lpstr>
      <vt:lpstr>Confirmatory Feedback</vt:lpstr>
      <vt:lpstr>Corrective Feedback</vt:lpstr>
      <vt:lpstr>Listening Skills</vt:lpstr>
      <vt:lpstr>The Listening Process</vt:lpstr>
      <vt:lpstr>Types of Listening</vt:lpstr>
      <vt:lpstr>Continue….</vt:lpstr>
      <vt:lpstr>Continue…</vt:lpstr>
      <vt:lpstr>Essentials for Good Listening</vt:lpstr>
      <vt:lpstr>Grapevine Communication</vt:lpstr>
      <vt:lpstr>Characteristics</vt:lpstr>
      <vt:lpstr>Transmission</vt:lpstr>
      <vt:lpstr>Advantages of Grapevine </vt:lpstr>
      <vt:lpstr>Disadvantages of Grapevine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Noise,</dc:title>
  <dc:creator>unais kt</dc:creator>
  <cp:lastModifiedBy>Microsoft Office User</cp:lastModifiedBy>
  <cp:revision>23</cp:revision>
  <dcterms:created xsi:type="dcterms:W3CDTF">2024-02-05T05:11:36Z</dcterms:created>
  <dcterms:modified xsi:type="dcterms:W3CDTF">2026-02-09T04:01:51Z</dcterms:modified>
</cp:coreProperties>
</file>